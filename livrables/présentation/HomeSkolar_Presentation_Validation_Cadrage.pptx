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140249767a494d" /><Relationship Type="http://schemas.openxmlformats.org/officeDocument/2006/relationships/extended-properties" Target="/docProps/app.xml" Id="R1d0533a325954c17" /><Relationship Type="http://schemas.openxmlformats.org/officeDocument/2006/relationships/officeDocument" Target="/ppt/presentation.xml" Id="Rb0abce1e3d944d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08b3db6c5344a6"/>
  </p:sldMasterIdLst>
  <p:notesMasterIdLst>
    <p:notesMasterId xmlns:r="http://schemas.openxmlformats.org/officeDocument/2006/relationships" r:id="Reba0fb51220a410f"/>
  </p:notesMasterIdLst>
  <p:sldIdLst>
    <p:sldId xmlns:r="http://schemas.openxmlformats.org/officeDocument/2006/relationships" id="256" r:id="R6e198194c1f14e6d"/>
    <p:sldId xmlns:r="http://schemas.openxmlformats.org/officeDocument/2006/relationships" id="257" r:id="R59e2780799a9454b"/>
    <p:sldId xmlns:r="http://schemas.openxmlformats.org/officeDocument/2006/relationships" id="258" r:id="R0a950a1aa1ef48c5"/>
    <p:sldId xmlns:r="http://schemas.openxmlformats.org/officeDocument/2006/relationships" id="259" r:id="R9542be77c5904983"/>
    <p:sldId xmlns:r="http://schemas.openxmlformats.org/officeDocument/2006/relationships" id="260" r:id="Rc42ab0f684d64b4d"/>
    <p:sldId xmlns:r="http://schemas.openxmlformats.org/officeDocument/2006/relationships" id="261" r:id="R41e749b16d884bcb"/>
    <p:sldId xmlns:r="http://schemas.openxmlformats.org/officeDocument/2006/relationships" id="262" r:id="R463f1f5a312041bc"/>
    <p:sldId xmlns:r="http://schemas.openxmlformats.org/officeDocument/2006/relationships" id="263" r:id="Rb87c25c543c34c2d"/>
    <p:sldId xmlns:r="http://schemas.openxmlformats.org/officeDocument/2006/relationships" id="264" r:id="R78cd1a9aa663414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9bdaee72f894688" /><Relationship Type="http://schemas.openxmlformats.org/officeDocument/2006/relationships/slideMaster" Target="/ppt/slideMasters/slideMaster1.xml" Id="Rc908b3db6c5344a6" /><Relationship Type="http://schemas.openxmlformats.org/officeDocument/2006/relationships/notesMaster" Target="/ppt/notesMasters/notesMaster1.xml" Id="Reba0fb51220a410f" /><Relationship Type="http://schemas.openxmlformats.org/officeDocument/2006/relationships/presProps" Target="/ppt/presProps.xml" Id="R859ab6a0b2f64fcf" /><Relationship Type="http://schemas.openxmlformats.org/officeDocument/2006/relationships/tableStyles" Target="/ppt/tableStyles.xml" Id="Ree53faa46f554c66" /><Relationship Type="http://schemas.openxmlformats.org/officeDocument/2006/relationships/slide" Target="/ppt/slides/slide1.xml" Id="R6e198194c1f14e6d" /><Relationship Type="http://schemas.openxmlformats.org/officeDocument/2006/relationships/slide" Target="/ppt/slides/slide2.xml" Id="R59e2780799a9454b" /><Relationship Type="http://schemas.openxmlformats.org/officeDocument/2006/relationships/slide" Target="/ppt/slides/slide3.xml" Id="R0a950a1aa1ef48c5" /><Relationship Type="http://schemas.openxmlformats.org/officeDocument/2006/relationships/slide" Target="/ppt/slides/slide4.xml" Id="R9542be77c5904983" /><Relationship Type="http://schemas.openxmlformats.org/officeDocument/2006/relationships/slide" Target="/ppt/slides/slide5.xml" Id="Rc42ab0f684d64b4d" /><Relationship Type="http://schemas.openxmlformats.org/officeDocument/2006/relationships/slide" Target="/ppt/slides/slide6.xml" Id="R41e749b16d884bcb" /><Relationship Type="http://schemas.openxmlformats.org/officeDocument/2006/relationships/slide" Target="/ppt/slides/slide7.xml" Id="R463f1f5a312041bc" /><Relationship Type="http://schemas.openxmlformats.org/officeDocument/2006/relationships/slide" Target="/ppt/slides/slide8.xml" Id="Rb87c25c543c34c2d" /><Relationship Type="http://schemas.openxmlformats.org/officeDocument/2006/relationships/slide" Target="/ppt/slides/slide9.xml" Id="R78cd1a9aa66341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abfa04235d48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5996c6ea9845a9" /><Relationship Type="http://schemas.openxmlformats.org/officeDocument/2006/relationships/notesMaster" Target="/ppt/notesMasters/notesMaster1.xml" Id="R5dbfb7521c2446e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c5aa0e2d5d9408f" /><Relationship Type="http://schemas.openxmlformats.org/officeDocument/2006/relationships/notesMaster" Target="/ppt/notesMasters/notesMaster1.xml" Id="Rcb3a99ac540544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ff64f4359834748" /><Relationship Type="http://schemas.openxmlformats.org/officeDocument/2006/relationships/notesMaster" Target="/ppt/notesMasters/notesMaster1.xml" Id="Rf63b87306b2645b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068600fd7f149eb" /><Relationship Type="http://schemas.openxmlformats.org/officeDocument/2006/relationships/notesMaster" Target="/ppt/notesMasters/notesMaster1.xml" Id="R81100a579dee49a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022d7cb96ff4618" /><Relationship Type="http://schemas.openxmlformats.org/officeDocument/2006/relationships/notesMaster" Target="/ppt/notesMasters/notesMaster1.xml" Id="R0702fdf5c652422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21013b6389f4672" /><Relationship Type="http://schemas.openxmlformats.org/officeDocument/2006/relationships/notesMaster" Target="/ppt/notesMasters/notesMaster1.xml" Id="R9b13a5eab7374e6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b5c4c9d54ad404c" /><Relationship Type="http://schemas.openxmlformats.org/officeDocument/2006/relationships/notesMaster" Target="/ppt/notesMasters/notesMaster1.xml" Id="R4bccc3d1d42a453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081c46645fe446b" /><Relationship Type="http://schemas.openxmlformats.org/officeDocument/2006/relationships/notesMaster" Target="/ppt/notesMasters/notesMaster1.xml" Id="Ra76fe596010b458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966b54585204c8f" /><Relationship Type="http://schemas.openxmlformats.org/officeDocument/2006/relationships/notesMaster" Target="/ppt/notesMasters/notesMaster1.xml" Id="R8fcc4dd8d15c4b2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Bonjour Thomas. L’objectif de cette réunion est de valider le cadrage de HomeSkolar avant que l’équipe ne commence le développement.</a:t>
            </a:r>
          </a:p>
          <a:p xmlns:a="http://schemas.openxmlformats.org/drawingml/2006/main">
            <a:r>
              <a:t>Je vais rester centré sur les éléments essentiels : contexte, fonctionnalités, choix techniques et planification.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Je propose de structurer la validation autour de trois points.</a:t>
            </a:r>
          </a:p>
          <a:p xmlns:a="http://schemas.openxmlformats.org/drawingml/2006/main">
            <a:r>
              <a:t>D’abord le périmètre fonctionnel, ensuite l’orientation technique, enfin l’ordre et l’effort de réalisation.</a:t>
            </a:r>
          </a:p>
          <a:p xmlns:a="http://schemas.openxmlformats.org/drawingml/2006/main">
            <a:r>
              <a:t>La décision attendue à la fin est l’autorisation de lancer le développement fonctionnel.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HomeSkolar est une association qui rapproche des enfants en difficulté scolaire et des tuteurs bénévoles.</a:t>
            </a:r>
          </a:p>
          <a:p xmlns:a="http://schemas.openxmlformats.org/drawingml/2006/main">
            <a:r>
              <a:t>Le produit ne cherche pas à gérer toute l’activité de l’association. Il doit soutenir la relation d’accompagnement entre un élève et son tuteur.</a:t>
            </a:r>
          </a:p>
          <a:p xmlns:a="http://schemas.openxmlformats.org/drawingml/2006/main">
            <a:r>
              <a:t>Le cadrage retient donc seulement deux rôles. Il n’ajoute ni administrateur métier, ni parent, ni responsable pédagogique.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 périmètre est organisé autour de quatre usages.</a:t>
            </a:r>
          </a:p>
          <a:p xmlns:a="http://schemas.openxmlformats.org/drawingml/2006/main">
            <a:r>
              <a:t>Le compte et l’affectation forment le socle. La communication permet le suivi courant. Les rendez-vous structurent les rencontres. Les tâches et notes formalisent les actions entre deux échanges.</a:t>
            </a:r>
          </a:p>
          <a:p xmlns:a="http://schemas.openxmlformats.org/drawingml/2006/main">
            <a:r>
              <a:t>Les choix restent volontairement simples : messages texte sans pièce jointe, rendez-vous sans récurrence, tâches sans échéance ni priorité.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 parcours commence par le compte, puis l’affectation du tuteur. Ces deux étapes rendent possibles les trois domaines de suivi.</a:t>
            </a:r>
          </a:p>
          <a:p xmlns:a="http://schemas.openxmlformats.org/drawingml/2006/main">
            <a:r>
              <a:t>Le périmètre exclut explicitement les fonctions qui ajouteraient de la complexité sans être demandées : recherche, pièces jointes, visioconférence, rappels, récurrence et historique d’affectation.</a:t>
            </a:r>
          </a:p>
          <a:p xmlns:a="http://schemas.openxmlformats.org/drawingml/2006/main">
            <a:r>
              <a:t>Ces exclusions sont importantes : elles évitent d’engager l’équipe sur des besoins non validés.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L’architecture retenue est un monolithe Django.</a:t>
            </a:r>
          </a:p>
          <a:p xmlns:a="http://schemas.openxmlformats.org/drawingml/2006/main">
            <a:r>
              <a:t>Le navigateur reçoit des pages rendues par les gabarits Django et mises en forme avec Bootstrap. Django porte les règles métier, l’authentification et les autorisations. PostgreSQL assure la persistance.</a:t>
            </a:r>
          </a:p>
          <a:p xmlns:a="http://schemas.openxmlformats.org/drawingml/2006/main">
            <a:r>
              <a:t>Le JavaScript reste limité aux interactions réellement asynchrones, en particulier la messagerie. Nous évitons une API publique et un front-end séparé qui n’apporteraient pas de valeur au périmètre actuel.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Cette pile est retenue pour trois raisons.</a:t>
            </a:r>
          </a:p>
          <a:p xmlns:a="http://schemas.openxmlformats.org/drawingml/2006/main">
            <a:r>
              <a:t>Elle simplifie la coordination de l’équipe, elle s’appuie sur les mécanismes de sécurité éprouvés de Django et elle reste maintenable grâce aux versions LTS, au découpage modulaire et aux tests.</a:t>
            </a:r>
          </a:p>
          <a:p xmlns:a="http://schemas.openxmlformats.org/drawingml/2006/main">
            <a:r>
              <a:t>Le point essentiel est l’adéquation au besoin : nous choisissons une solution suffisante et évolutive, sans surarchitecture.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 Backlog Produit comporte 17 User Stories, toutes assorties de critères d’acceptation, d’une priorité et d’une estimation.</a:t>
            </a:r>
          </a:p>
          <a:p xmlns:a="http://schemas.openxmlformats.org/drawingml/2006/main">
            <a:r>
              <a:t>La charge de base est de 23,5 jours idéaux. Avec la marge de 20 %, l’enveloppe atteint 28 jours idéaux. Il ne s’agit pas encore d’un calendrier, car celui-ci dépendra de la capacité réelle de l’équipe.</a:t>
            </a:r>
          </a:p>
          <a:p xmlns:a="http://schemas.openxmlformats.org/drawingml/2006/main">
            <a:r>
              <a:t>L’ordre commence par les comptes et l’affectation. Une fois le socle d’accès disponible, messagerie, rendez-vous et tâches peuvent avancer en parallèle. L’équipe prévue compte deux développeurs back-end et deux front-end.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Pour conclure, les besoins du client sont traduits dans un périmètre fonctionnel précis, la solution technique est proportionnée et le Backlog Produit donne un ordre de réalisation exploitable.</a:t>
            </a:r>
          </a:p>
          <a:p xmlns:a="http://schemas.openxmlformats.org/drawingml/2006/main">
            <a:r>
              <a:t>Je te propose donc de valider ces trois éléments et d’autoriser le démarrage du développement fonctionnel.</a:t>
            </a:r>
          </a:p>
          <a:p xmlns:a="http://schemas.openxmlformats.org/drawingml/2006/main">
            <a:r>
              <a:t>Je termine par la question de validation : confirmes-tu le périmètre et l’orientation proposés 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76f8a682174fb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588613b5ba447d" /><Relationship Type="http://schemas.openxmlformats.org/officeDocument/2006/relationships/slideLayout" Target="/ppt/slideLayouts/slideLayout1.xml" Id="R5f652063aa17405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652063aa17405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5f6ced4131449c" /><Relationship Type="http://schemas.openxmlformats.org/officeDocument/2006/relationships/notesSlide" Target="/ppt/notesSlides/notesSlide1.xml" Id="Rcc4e655372bb4a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263765b84845a8" /><Relationship Type="http://schemas.openxmlformats.org/officeDocument/2006/relationships/notesSlide" Target="/ppt/notesSlides/notesSlide2.xml" Id="R551c70e371f4494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cc14f71b77448b" /><Relationship Type="http://schemas.openxmlformats.org/officeDocument/2006/relationships/notesSlide" Target="/ppt/notesSlides/notesSlide3.xml" Id="Rcb3632c353bf470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81bfe628e649a1" /><Relationship Type="http://schemas.openxmlformats.org/officeDocument/2006/relationships/notesSlide" Target="/ppt/notesSlides/notesSlide4.xml" Id="R06abf099d99741e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91b25aef664b94" /><Relationship Type="http://schemas.openxmlformats.org/officeDocument/2006/relationships/notesSlide" Target="/ppt/notesSlides/notesSlide5.xml" Id="Rdc5c9a9e8b39403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ea22e72982425c" /><Relationship Type="http://schemas.openxmlformats.org/officeDocument/2006/relationships/notesSlide" Target="/ppt/notesSlides/notesSlide6.xml" Id="R9f01df08d7a24fb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8033f4d91545a1" /><Relationship Type="http://schemas.openxmlformats.org/officeDocument/2006/relationships/notesSlide" Target="/ppt/notesSlides/notesSlide7.xml" Id="R848ad68e9fc642c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f9146b1ae8489a" /><Relationship Type="http://schemas.openxmlformats.org/officeDocument/2006/relationships/notesSlide" Target="/ppt/notesSlides/notesSlide8.xml" Id="R5fc9cad32e7b460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53bddc751a4230" /><Relationship Type="http://schemas.openxmlformats.org/officeDocument/2006/relationships/notesSlide" Target="/ppt/notesSlides/notesSlide9.xml" Id="Re3dc6b9c69144c6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4E8FF136-79B1-4A61-8F0A-2CEA78828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panel">
            <a:extLst xmlns:a="http://schemas.openxmlformats.org/drawingml/2006/main">
              <a:ext uri="{FF2B5EF4-FFF2-40B4-BE49-F238E27FC236}">
                <a16:creationId xmlns:a16="http://schemas.microsoft.com/office/drawing/2014/main" id="{EBB5DDC8-C6FF-4853-8095-CC90D1148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0"/>
            <a:ext cx="41433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mark">
            <a:extLst xmlns:a="http://schemas.openxmlformats.org/drawingml/2006/main">
              <a:ext uri="{FF2B5EF4-FFF2-40B4-BE49-F238E27FC236}">
                <a16:creationId xmlns:a16="http://schemas.microsoft.com/office/drawing/2014/main" id="{B62978F2-8224-4464-9DF3-506B6A23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762125"/>
            <a:ext cx="2209800" cy="2209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ver-mark-text">
            <a:extLst xmlns:a="http://schemas.openxmlformats.org/drawingml/2006/main">
              <a:ext uri="{FF2B5EF4-FFF2-40B4-BE49-F238E27FC236}">
                <a16:creationId xmlns:a16="http://schemas.microsoft.com/office/drawing/2014/main" id="{835DCDAF-3CD8-47A5-89F7-61F8FE6F1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762125"/>
            <a:ext cx="22098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HS</a:t>
            </a:r>
          </a:p>
        </p:txBody>
      </p:sp>
      <p:sp>
        <p:nvSpPr>
          <p:cNvPr id="5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AFE9F7CB-26C7-4590-BAD8-A245B43F7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34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RÉUNION DE VALIDATION AVANT DÉVELOPPEMENT</a:t>
            </a:r>
          </a:p>
        </p:txBody>
      </p:sp>
      <p:sp>
        <p:nvSpPr>
          <p:cNvPr id="6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E926ABD-036B-4694-A9EC-62B09677E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33550"/>
            <a:ext cx="685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0D1B2A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HomeSkolar</a:t>
            </a:r>
          </a:p>
        </p:txBody>
      </p:sp>
      <p:sp>
        <p:nvSpPr>
          <p:cNvPr id="7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43865359-58F5-45AF-A4CB-54D9FBF20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62250"/>
            <a:ext cx="657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Valider le cadrage, le périmètre et la planification</a:t>
            </a:r>
          </a:p>
        </p:txBody>
      </p:sp>
      <p:sp>
        <p:nvSpPr>
          <p:cNvPr id="8" name="rule-62-468">
            <a:extLst xmlns:a="http://schemas.openxmlformats.org/drawingml/2006/main">
              <a:ext uri="{FF2B5EF4-FFF2-40B4-BE49-F238E27FC236}">
                <a16:creationId xmlns:a16="http://schemas.microsoft.com/office/drawing/2014/main" id="{DFCE0FC3-F90A-4683-B01A-252042F67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57700"/>
            <a:ext cx="590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9" name="cover-meta">
            <a:extLst xmlns:a="http://schemas.openxmlformats.org/drawingml/2006/main">
              <a:ext uri="{FF2B5EF4-FFF2-40B4-BE49-F238E27FC236}">
                <a16:creationId xmlns:a16="http://schemas.microsoft.com/office/drawing/2014/main" id="{7BF7E413-91F3-431E-85A9-6B5FD779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0"/>
            <a:ext cx="590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D1B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D1B2A"/>
                </a:solidFill>
                <a:latin typeface="Arial"/>
                <a:ea typeface="Arial"/>
                <a:cs typeface="Arial"/>
              </a:rPr>
              <a:t>Présentation à Thomas</a:t>
            </a:r>
          </a:p>
          <a:p xmlns:a="http://schemas.openxmlformats.org/drawingml/2006/main">
            <a:pPr algn="l">
              <a:defRPr sz="1650" b="0">
                <a:solidFill>
                  <a:srgbClr val="0D1B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D1B2A"/>
                </a:solidFill>
                <a:latin typeface="Arial"/>
                <a:ea typeface="Arial"/>
                <a:cs typeface="Arial"/>
              </a:rPr>
              <a:t>Fabien Hummel · Juillet 2026</a:t>
            </a:r>
          </a:p>
        </p:txBody>
      </p:sp>
    </p:spTree>
    <p:extLst>
      <p:ext uri="{BB962C8B-B14F-4D97-AF65-F5344CB8AC3E}">
        <p14:creationId xmlns:p14="http://schemas.microsoft.com/office/powerpoint/2010/main" val="20079365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2">
            <a:extLst xmlns:a="http://schemas.openxmlformats.org/drawingml/2006/main">
              <a:ext uri="{FF2B5EF4-FFF2-40B4-BE49-F238E27FC236}">
                <a16:creationId xmlns:a16="http://schemas.microsoft.com/office/drawing/2014/main" id="{72C49A16-3A9D-477F-B54D-690A4BCFE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HOMESKOLAR · VALIDATION DU CADRAGE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C45DC0BE-0B77-46C0-862E-2E88A9109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D1B2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Le cadrage est prêt à être validé</a:t>
            </a:r>
          </a:p>
        </p:txBody>
      </p:sp>
      <p:sp>
        <p:nvSpPr>
          <p:cNvPr id="3" name="rule-56-142">
            <a:extLst xmlns:a="http://schemas.openxmlformats.org/drawingml/2006/main">
              <a:ext uri="{FF2B5EF4-FFF2-40B4-BE49-F238E27FC236}">
                <a16:creationId xmlns:a16="http://schemas.microsoft.com/office/drawing/2014/main" id="{9C01ABD6-F13A-4551-BEE0-71509E861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number-2">
            <a:extLst xmlns:a="http://schemas.openxmlformats.org/drawingml/2006/main">
              <a:ext uri="{FF2B5EF4-FFF2-40B4-BE49-F238E27FC236}">
                <a16:creationId xmlns:a16="http://schemas.microsoft.com/office/drawing/2014/main" id="{CC963815-99BF-46BD-88E0-88D992AD6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s2-lead">
            <a:extLst xmlns:a="http://schemas.openxmlformats.org/drawingml/2006/main">
              <a:ext uri="{FF2B5EF4-FFF2-40B4-BE49-F238E27FC236}">
                <a16:creationId xmlns:a16="http://schemas.microsoft.com/office/drawing/2014/main" id="{FC59408A-214E-41D7-9299-D6BD90B15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La réunion doit permettre de confirmer trois décisions avant d’engager l’équipe.</a:t>
            </a:r>
          </a:p>
        </p:txBody>
      </p:sp>
      <p:sp>
        <p:nvSpPr>
          <p:cNvPr id="6" name="s2-num-0">
            <a:extLst xmlns:a="http://schemas.openxmlformats.org/drawingml/2006/main">
              <a:ext uri="{FF2B5EF4-FFF2-40B4-BE49-F238E27FC236}">
                <a16:creationId xmlns:a16="http://schemas.microsoft.com/office/drawing/2014/main" id="{51975617-E83B-45BE-83E5-76890A9E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52700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s2-head-0">
            <a:extLst xmlns:a="http://schemas.openxmlformats.org/drawingml/2006/main">
              <a:ext uri="{FF2B5EF4-FFF2-40B4-BE49-F238E27FC236}">
                <a16:creationId xmlns:a16="http://schemas.microsoft.com/office/drawing/2014/main" id="{917B220A-8605-46B5-AE08-0F4280D1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9087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D1B2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Périmètre</a:t>
            </a:r>
          </a:p>
        </p:txBody>
      </p:sp>
      <p:sp>
        <p:nvSpPr>
          <p:cNvPr id="8" name="s2-body-0">
            <a:extLst xmlns:a="http://schemas.openxmlformats.org/drawingml/2006/main">
              <a:ext uri="{FF2B5EF4-FFF2-40B4-BE49-F238E27FC236}">
                <a16:creationId xmlns:a16="http://schemas.microsoft.com/office/drawing/2014/main" id="{C2DC1AA5-98EA-4724-B6CA-46817D413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57625"/>
            <a:ext cx="3143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Deux acteurs et cinq domaines fonctionnels, sans fonctions périphériques.</a:t>
            </a:r>
          </a:p>
        </p:txBody>
      </p:sp>
      <p:sp>
        <p:nvSpPr>
          <p:cNvPr id="9" name="rule-428-272">
            <a:extLst xmlns:a="http://schemas.openxmlformats.org/drawingml/2006/main">
              <a:ext uri="{FF2B5EF4-FFF2-40B4-BE49-F238E27FC236}">
                <a16:creationId xmlns:a16="http://schemas.microsoft.com/office/drawing/2014/main" id="{E4AEBAE6-4F0B-4E9C-801B-C1AB0AC26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59080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s2-num-1">
            <a:extLst xmlns:a="http://schemas.openxmlformats.org/drawingml/2006/main">
              <a:ext uri="{FF2B5EF4-FFF2-40B4-BE49-F238E27FC236}">
                <a16:creationId xmlns:a16="http://schemas.microsoft.com/office/drawing/2014/main" id="{3D407278-D875-40D7-8104-6342E5A42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52700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s2-head-1">
            <a:extLst xmlns:a="http://schemas.openxmlformats.org/drawingml/2006/main">
              <a:ext uri="{FF2B5EF4-FFF2-40B4-BE49-F238E27FC236}">
                <a16:creationId xmlns:a16="http://schemas.microsoft.com/office/drawing/2014/main" id="{F1D3E507-6B67-4DBD-A701-ED33AA3FF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9087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D1B2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Solution</a:t>
            </a:r>
          </a:p>
        </p:txBody>
      </p:sp>
      <p:sp>
        <p:nvSpPr>
          <p:cNvPr id="12" name="s2-body-1">
            <a:extLst xmlns:a="http://schemas.openxmlformats.org/drawingml/2006/main">
              <a:ext uri="{FF2B5EF4-FFF2-40B4-BE49-F238E27FC236}">
                <a16:creationId xmlns:a16="http://schemas.microsoft.com/office/drawing/2014/main" id="{E6E1AC67-8C92-42CB-8161-C6316D6C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857625"/>
            <a:ext cx="3143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Une application web Django monolithique, simple à construire et maintenir.</a:t>
            </a:r>
          </a:p>
        </p:txBody>
      </p:sp>
      <p:sp>
        <p:nvSpPr>
          <p:cNvPr id="13" name="rule-828-272">
            <a:extLst xmlns:a="http://schemas.openxmlformats.org/drawingml/2006/main">
              <a:ext uri="{FF2B5EF4-FFF2-40B4-BE49-F238E27FC236}">
                <a16:creationId xmlns:a16="http://schemas.microsoft.com/office/drawing/2014/main" id="{09AFA972-E745-4D5D-98BF-2CF2DA445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9080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s2-num-2">
            <a:extLst xmlns:a="http://schemas.openxmlformats.org/drawingml/2006/main">
              <a:ext uri="{FF2B5EF4-FFF2-40B4-BE49-F238E27FC236}">
                <a16:creationId xmlns:a16="http://schemas.microsoft.com/office/drawing/2014/main" id="{B74E813D-430C-43EE-9834-3F544A10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52700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s2-head-2">
            <a:extLst xmlns:a="http://schemas.openxmlformats.org/drawingml/2006/main">
              <a:ext uri="{FF2B5EF4-FFF2-40B4-BE49-F238E27FC236}">
                <a16:creationId xmlns:a16="http://schemas.microsoft.com/office/drawing/2014/main" id="{1581C16F-FE80-4379-9C05-057B69CB9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9087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D1B2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Planification</a:t>
            </a:r>
          </a:p>
        </p:txBody>
      </p:sp>
      <p:sp>
        <p:nvSpPr>
          <p:cNvPr id="16" name="s2-body-2">
            <a:extLst xmlns:a="http://schemas.openxmlformats.org/drawingml/2006/main">
              <a:ext uri="{FF2B5EF4-FFF2-40B4-BE49-F238E27FC236}">
                <a16:creationId xmlns:a16="http://schemas.microsoft.com/office/drawing/2014/main" id="{0F05C32E-7B42-4FEE-88EC-CF0E03A2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57625"/>
            <a:ext cx="3143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17 User Stories priorisées, estimées et ordonnées par dépendances.</a:t>
            </a:r>
          </a:p>
        </p:txBody>
      </p:sp>
      <p:sp>
        <p:nvSpPr>
          <p:cNvPr id="17" name="s2-decision">
            <a:extLst xmlns:a="http://schemas.openxmlformats.org/drawingml/2006/main">
              <a:ext uri="{FF2B5EF4-FFF2-40B4-BE49-F238E27FC236}">
                <a16:creationId xmlns:a16="http://schemas.microsoft.com/office/drawing/2014/main" id="{27D49148-725C-4384-B324-F4F82030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11125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2-decision-text">
            <a:extLst xmlns:a="http://schemas.openxmlformats.org/drawingml/2006/main">
              <a:ext uri="{FF2B5EF4-FFF2-40B4-BE49-F238E27FC236}">
                <a16:creationId xmlns:a16="http://schemas.microsoft.com/office/drawing/2014/main" id="{772C65A5-EB88-4051-ADD2-60CEF1589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76900"/>
            <a:ext cx="1074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Décision proposée : valider ce cadrage et autoriser le démarrage du développement fonctionnel.</a:t>
            </a:r>
          </a:p>
        </p:txBody>
      </p:sp>
    </p:spTree>
    <p:extLst>
      <p:ext uri="{BB962C8B-B14F-4D97-AF65-F5344CB8AC3E}">
        <p14:creationId xmlns:p14="http://schemas.microsoft.com/office/powerpoint/2010/main" val="11167114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3">
            <a:extLst xmlns:a="http://schemas.openxmlformats.org/drawingml/2006/main">
              <a:ext uri="{FF2B5EF4-FFF2-40B4-BE49-F238E27FC236}">
                <a16:creationId xmlns:a16="http://schemas.microsoft.com/office/drawing/2014/main" id="{EB0FA632-BD18-4C09-9E7F-4947632FC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HOMESKOLAR · VALIDATION DU CADRAGE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1B9AC0E0-C0D5-4AEA-98A9-092787EDF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D1B2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HomeSkolar organise l’accompagnement scolaire</a:t>
            </a:r>
          </a:p>
        </p:txBody>
      </p:sp>
      <p:sp>
        <p:nvSpPr>
          <p:cNvPr id="3" name="rule-56-142">
            <a:extLst xmlns:a="http://schemas.openxmlformats.org/drawingml/2006/main">
              <a:ext uri="{FF2B5EF4-FFF2-40B4-BE49-F238E27FC236}">
                <a16:creationId xmlns:a16="http://schemas.microsoft.com/office/drawing/2014/main" id="{9914230E-DAEA-4CFA-B75B-6A7DF59E1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number-3">
            <a:extLst xmlns:a="http://schemas.openxmlformats.org/drawingml/2006/main">
              <a:ext uri="{FF2B5EF4-FFF2-40B4-BE49-F238E27FC236}">
                <a16:creationId xmlns:a16="http://schemas.microsoft.com/office/drawing/2014/main" id="{E910336A-72E0-4D2C-BA43-6A151DCE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s3-problem-label">
            <a:extLst xmlns:a="http://schemas.openxmlformats.org/drawingml/2006/main">
              <a:ext uri="{FF2B5EF4-FFF2-40B4-BE49-F238E27FC236}">
                <a16:creationId xmlns:a16="http://schemas.microsoft.com/office/drawing/2014/main" id="{3C455C78-D13C-4B3A-88D4-840CC34A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LE BESOIN</a:t>
            </a:r>
          </a:p>
        </p:txBody>
      </p:sp>
      <p:sp>
        <p:nvSpPr>
          <p:cNvPr id="6" name="s3-problem">
            <a:extLst xmlns:a="http://schemas.openxmlformats.org/drawingml/2006/main">
              <a:ext uri="{FF2B5EF4-FFF2-40B4-BE49-F238E27FC236}">
                <a16:creationId xmlns:a16="http://schemas.microsoft.com/office/drawing/2014/main" id="{BADD3896-87A7-4C2C-B5AF-CEB89A58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14550"/>
            <a:ext cx="4762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D1B2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Mettre en relation des enfants en difficulté scolaire avec des tuteurs bénévoles, puis faciliter leur suivi au quotidien.</a:t>
            </a:r>
          </a:p>
        </p:txBody>
      </p:sp>
      <p:sp>
        <p:nvSpPr>
          <p:cNvPr id="7" name="s3-mission">
            <a:extLst xmlns:a="http://schemas.openxmlformats.org/drawingml/2006/main">
              <a:ext uri="{FF2B5EF4-FFF2-40B4-BE49-F238E27FC236}">
                <a16:creationId xmlns:a16="http://schemas.microsoft.com/office/drawing/2014/main" id="{C12B77F2-667A-4900-B6F9-894000C49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57625"/>
            <a:ext cx="476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Notre mission : définir précisément le besoin client et sécuriser les choix avant tout développement.</a:t>
            </a:r>
          </a:p>
        </p:txBody>
      </p:sp>
      <p:sp>
        <p:nvSpPr>
          <p:cNvPr id="8" name="student-node">
            <a:extLst xmlns:a="http://schemas.openxmlformats.org/drawingml/2006/main">
              <a:ext uri="{FF2B5EF4-FFF2-40B4-BE49-F238E27FC236}">
                <a16:creationId xmlns:a16="http://schemas.microsoft.com/office/drawing/2014/main" id="{B2978602-F145-4E2B-ABE7-F6825375E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13360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1456A0"/>
            </a:solidFill>
            <a:prstDash val="solid"/>
          </a:ln>
        </p:spPr>
      </p:sp>
      <p:sp>
        <p:nvSpPr>
          <p:cNvPr id="9" name="tutor-node">
            <a:extLst xmlns:a="http://schemas.openxmlformats.org/drawingml/2006/main">
              <a:ext uri="{FF2B5EF4-FFF2-40B4-BE49-F238E27FC236}">
                <a16:creationId xmlns:a16="http://schemas.microsoft.com/office/drawing/2014/main" id="{A368F196-17C6-48E0-A8E4-C7825296B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13360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1456A0"/>
            </a:solidFill>
            <a:prstDash val="solid"/>
          </a:ln>
        </p:spPr>
      </p:sp>
      <p:sp>
        <p:nvSpPr>
          <p:cNvPr id="10" name="hub-node">
            <a:extLst xmlns:a="http://schemas.openxmlformats.org/drawingml/2006/main">
              <a:ext uri="{FF2B5EF4-FFF2-40B4-BE49-F238E27FC236}">
                <a16:creationId xmlns:a16="http://schemas.microsoft.com/office/drawing/2014/main" id="{965E3EAD-C560-4C6A-9ECB-50ADF2E4A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324350"/>
            <a:ext cx="22860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28" name=""/>
          <p:cNvCxnSpPr>
            <a:stCxn xmlns:a="http://schemas.openxmlformats.org/drawingml/2006/main" id="8" idx="4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7419975" y="3752850"/>
            <a:ext cx="1571625" cy="571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56A0"/>
            </a:solidFill>
            <a:prstDash val="solid"/>
            <a:headEnd type="arrow" w="sm" len="sm"/>
          </a:ln>
        </p:spPr>
      </p:cxnSp>
      <p:cxnSp>
        <p:nvCxnSpPr>
          <p:cNvPr id="29" name=""/>
          <p:cNvCxnSpPr>
            <a:stCxn xmlns:a="http://schemas.openxmlformats.org/drawingml/2006/main" id="9" idx="4"/>
            <a:endCxn xmlns:a="http://schemas.openxmlformats.org/drawingml/2006/main" id="10" idx="0"/>
          </p:cNvCxnSpPr>
          <p:nvPr/>
        </p:nvCxnSpPr>
        <p:spPr>
          <a:xfrm xmlns:a="http://schemas.openxmlformats.org/drawingml/2006/main" flipH="1">
            <a:off x="8991600" y="3752850"/>
            <a:ext cx="1514475" cy="571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56A0"/>
            </a:solidFill>
            <a:prstDash val="solid"/>
            <a:headEnd type="arrow" w="sm" len="sm"/>
          </a:ln>
        </p:spPr>
      </p:cxnSp>
      <p:sp>
        <p:nvSpPr>
          <p:cNvPr id="13" name="student-label">
            <a:extLst xmlns:a="http://schemas.openxmlformats.org/drawingml/2006/main">
              <a:ext uri="{FF2B5EF4-FFF2-40B4-BE49-F238E27FC236}">
                <a16:creationId xmlns:a16="http://schemas.microsoft.com/office/drawing/2014/main" id="{89C0D010-E2BE-4E4D-A436-2902CF064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133600"/>
            <a:ext cx="1619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D1B2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Élève</a:t>
            </a:r>
          </a:p>
        </p:txBody>
      </p:sp>
      <p:sp>
        <p:nvSpPr>
          <p:cNvPr id="14" name="tutor-label">
            <a:extLst xmlns:a="http://schemas.openxmlformats.org/drawingml/2006/main">
              <a:ext uri="{FF2B5EF4-FFF2-40B4-BE49-F238E27FC236}">
                <a16:creationId xmlns:a16="http://schemas.microsoft.com/office/drawing/2014/main" id="{5B0E0436-37FE-4440-A319-81B63A8D5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133600"/>
            <a:ext cx="1619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D1B2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Tuteur</a:t>
            </a:r>
          </a:p>
        </p:txBody>
      </p:sp>
      <p:sp>
        <p:nvSpPr>
          <p:cNvPr id="15" name="hub-label">
            <a:extLst xmlns:a="http://schemas.openxmlformats.org/drawingml/2006/main">
              <a:ext uri="{FF2B5EF4-FFF2-40B4-BE49-F238E27FC236}">
                <a16:creationId xmlns:a16="http://schemas.microsoft.com/office/drawing/2014/main" id="{71CA57CB-5A2F-42F4-B21F-FBAB998D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324350"/>
            <a:ext cx="228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HomeSkolar</a:t>
            </a:r>
          </a:p>
        </p:txBody>
      </p:sp>
      <p:sp>
        <p:nvSpPr>
          <p:cNvPr id="16" name="s3-scope">
            <a:extLst xmlns:a="http://schemas.openxmlformats.org/drawingml/2006/main">
              <a:ext uri="{FF2B5EF4-FFF2-40B4-BE49-F238E27FC236}">
                <a16:creationId xmlns:a16="http://schemas.microsoft.com/office/drawing/2014/main" id="{07A1ACC1-66E4-453B-A4E8-5EC9C5CF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5245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Deux rôles uniquement</a:t>
            </a:r>
          </a:p>
        </p:txBody>
      </p:sp>
      <p:sp>
        <p:nvSpPr>
          <p:cNvPr id="17" name="source-g34l2g">
            <a:extLst xmlns:a="http://schemas.openxmlformats.org/drawingml/2006/main">
              <a:ext uri="{FF2B5EF4-FFF2-40B4-BE49-F238E27FC236}">
                <a16:creationId xmlns:a16="http://schemas.microsoft.com/office/drawing/2014/main" id="{614EE0D2-4390-47C0-B54F-EDC957B33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Source : cahier des charges HomeSkolar v3.0 · contexte de mission</a:t>
            </a:r>
          </a:p>
        </p:txBody>
      </p:sp>
    </p:spTree>
    <p:extLst>
      <p:ext uri="{BB962C8B-B14F-4D97-AF65-F5344CB8AC3E}">
        <p14:creationId xmlns:p14="http://schemas.microsoft.com/office/powerpoint/2010/main" val="17514743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4">
            <a:extLst xmlns:a="http://schemas.openxmlformats.org/drawingml/2006/main">
              <a:ext uri="{FF2B5EF4-FFF2-40B4-BE49-F238E27FC236}">
                <a16:creationId xmlns:a16="http://schemas.microsoft.com/office/drawing/2014/main" id="{54E8499D-A3AF-48AF-AE64-D64779B74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HOMESKOLAR · VALIDATION DU CADRAGE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ED3FFA6A-1545-4F77-8D21-1BC0FC20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D1B2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La V1 se concentre sur quatre usages</a:t>
            </a:r>
          </a:p>
        </p:txBody>
      </p:sp>
      <p:sp>
        <p:nvSpPr>
          <p:cNvPr id="3" name="rule-56-142">
            <a:extLst xmlns:a="http://schemas.openxmlformats.org/drawingml/2006/main">
              <a:ext uri="{FF2B5EF4-FFF2-40B4-BE49-F238E27FC236}">
                <a16:creationId xmlns:a16="http://schemas.microsoft.com/office/drawing/2014/main" id="{FBFB0A20-26C0-4855-930F-8B2D3C25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number-4">
            <a:extLst xmlns:a="http://schemas.openxmlformats.org/drawingml/2006/main">
              <a:ext uri="{FF2B5EF4-FFF2-40B4-BE49-F238E27FC236}">
                <a16:creationId xmlns:a16="http://schemas.microsoft.com/office/drawing/2014/main" id="{890FF066-1586-44AE-BCEA-028CA7EA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rule-640-180">
            <a:extLst xmlns:a="http://schemas.openxmlformats.org/drawingml/2006/main">
              <a:ext uri="{FF2B5EF4-FFF2-40B4-BE49-F238E27FC236}">
                <a16:creationId xmlns:a16="http://schemas.microsoft.com/office/drawing/2014/main" id="{AB019AB0-FD76-4C65-ADF2-B0F24659A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rule-56-390">
            <a:extLst xmlns:a="http://schemas.openxmlformats.org/drawingml/2006/main">
              <a:ext uri="{FF2B5EF4-FFF2-40B4-BE49-F238E27FC236}">
                <a16:creationId xmlns:a16="http://schemas.microsoft.com/office/drawing/2014/main" id="{2F20C92C-9E74-48A3-8431-686CC7932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s4-num-0">
            <a:extLst xmlns:a="http://schemas.openxmlformats.org/drawingml/2006/main">
              <a:ext uri="{FF2B5EF4-FFF2-40B4-BE49-F238E27FC236}">
                <a16:creationId xmlns:a16="http://schemas.microsoft.com/office/drawing/2014/main" id="{4CE92D57-A295-4FD3-85B3-5A7248D13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s4-head-0">
            <a:extLst xmlns:a="http://schemas.openxmlformats.org/drawingml/2006/main">
              <a:ext uri="{FF2B5EF4-FFF2-40B4-BE49-F238E27FC236}">
                <a16:creationId xmlns:a16="http://schemas.microsoft.com/office/drawing/2014/main" id="{8F32B672-946A-4253-9FE1-727B81F9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790700"/>
            <a:ext cx="457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D1B2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Compte et affectation</a:t>
            </a:r>
          </a:p>
        </p:txBody>
      </p:sp>
      <p:sp>
        <p:nvSpPr>
          <p:cNvPr id="9" name="s4-body-0">
            <a:extLst xmlns:a="http://schemas.openxmlformats.org/drawingml/2006/main">
              <a:ext uri="{FF2B5EF4-FFF2-40B4-BE49-F238E27FC236}">
                <a16:creationId xmlns:a16="http://schemas.microsoft.com/office/drawing/2014/main" id="{D10942CE-995F-49C5-B0D0-F40B6D878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19350"/>
            <a:ext cx="4476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S’inscrire librement, se connecter et associer automatiquement un élève à un tuteur.</a:t>
            </a:r>
          </a:p>
        </p:txBody>
      </p:sp>
      <p:sp>
        <p:nvSpPr>
          <p:cNvPr id="10" name="s4-num-1">
            <a:extLst xmlns:a="http://schemas.openxmlformats.org/drawingml/2006/main">
              <a:ext uri="{FF2B5EF4-FFF2-40B4-BE49-F238E27FC236}">
                <a16:creationId xmlns:a16="http://schemas.microsoft.com/office/drawing/2014/main" id="{1153E2CF-9AE4-4A54-801B-273665A35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907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s4-head-1">
            <a:extLst xmlns:a="http://schemas.openxmlformats.org/drawingml/2006/main">
              <a:ext uri="{FF2B5EF4-FFF2-40B4-BE49-F238E27FC236}">
                <a16:creationId xmlns:a16="http://schemas.microsoft.com/office/drawing/2014/main" id="{08DCE14D-ED69-4F99-988E-0AD99E43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790700"/>
            <a:ext cx="457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D1B2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Communication</a:t>
            </a:r>
          </a:p>
        </p:txBody>
      </p:sp>
      <p:sp>
        <p:nvSpPr>
          <p:cNvPr id="12" name="s4-body-1">
            <a:extLst xmlns:a="http://schemas.openxmlformats.org/drawingml/2006/main">
              <a:ext uri="{FF2B5EF4-FFF2-40B4-BE49-F238E27FC236}">
                <a16:creationId xmlns:a16="http://schemas.microsoft.com/office/drawing/2014/main" id="{C35E7DDB-53EF-4B38-9ED8-037BC9C6D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19350"/>
            <a:ext cx="4476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Échanger des messages texte, repérer les non-lus et épingler une information utile.</a:t>
            </a:r>
          </a:p>
        </p:txBody>
      </p:sp>
      <p:sp>
        <p:nvSpPr>
          <p:cNvPr id="13" name="s4-num-2">
            <a:extLst xmlns:a="http://schemas.openxmlformats.org/drawingml/2006/main">
              <a:ext uri="{FF2B5EF4-FFF2-40B4-BE49-F238E27FC236}">
                <a16:creationId xmlns:a16="http://schemas.microsoft.com/office/drawing/2014/main" id="{746F5552-DA21-4D64-B15D-8F65053F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s4-head-2">
            <a:extLst xmlns:a="http://schemas.openxmlformats.org/drawingml/2006/main">
              <a:ext uri="{FF2B5EF4-FFF2-40B4-BE49-F238E27FC236}">
                <a16:creationId xmlns:a16="http://schemas.microsoft.com/office/drawing/2014/main" id="{9EB3D9B1-962B-4574-91DD-4E0A10CF0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05250"/>
            <a:ext cx="457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D1B2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Rendez-vous</a:t>
            </a:r>
          </a:p>
        </p:txBody>
      </p:sp>
      <p:sp>
        <p:nvSpPr>
          <p:cNvPr id="15" name="s4-body-2">
            <a:extLst xmlns:a="http://schemas.openxmlformats.org/drawingml/2006/main">
              <a:ext uri="{FF2B5EF4-FFF2-40B4-BE49-F238E27FC236}">
                <a16:creationId xmlns:a16="http://schemas.microsoft.com/office/drawing/2014/main" id="{E7D25970-46A7-4055-A0F5-19BA5244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33900"/>
            <a:ext cx="4476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Créer, consulter, modifier ou annuler les rencontres de l’accompagnement.</a:t>
            </a:r>
          </a:p>
        </p:txBody>
      </p:sp>
      <p:sp>
        <p:nvSpPr>
          <p:cNvPr id="16" name="s4-num-3">
            <a:extLst xmlns:a="http://schemas.openxmlformats.org/drawingml/2006/main">
              <a:ext uri="{FF2B5EF4-FFF2-40B4-BE49-F238E27FC236}">
                <a16:creationId xmlns:a16="http://schemas.microsoft.com/office/drawing/2014/main" id="{F427F904-C1D2-408D-BDF2-983D61EF7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052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s4-head-3">
            <a:extLst xmlns:a="http://schemas.openxmlformats.org/drawingml/2006/main">
              <a:ext uri="{FF2B5EF4-FFF2-40B4-BE49-F238E27FC236}">
                <a16:creationId xmlns:a16="http://schemas.microsoft.com/office/drawing/2014/main" id="{EC43EC1F-F056-428A-9D7C-FE74A6A4A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905250"/>
            <a:ext cx="457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D1B2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Tâches et notes</a:t>
            </a:r>
          </a:p>
        </p:txBody>
      </p:sp>
      <p:sp>
        <p:nvSpPr>
          <p:cNvPr id="18" name="s4-body-3">
            <a:extLst xmlns:a="http://schemas.openxmlformats.org/drawingml/2006/main">
              <a:ext uri="{FF2B5EF4-FFF2-40B4-BE49-F238E27FC236}">
                <a16:creationId xmlns:a16="http://schemas.microsoft.com/office/drawing/2014/main" id="{F9695A7A-1A32-43DA-BF60-BD20BF06D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533900"/>
            <a:ext cx="4476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Attribuer une tâche ou conserver une tâche, une note ou un mémo personnel.</a:t>
            </a:r>
          </a:p>
        </p:txBody>
      </p:sp>
      <p:sp>
        <p:nvSpPr>
          <p:cNvPr id="19" name="source-hbllyn">
            <a:extLst xmlns:a="http://schemas.openxmlformats.org/drawingml/2006/main">
              <a:ext uri="{FF2B5EF4-FFF2-40B4-BE49-F238E27FC236}">
                <a16:creationId xmlns:a16="http://schemas.microsoft.com/office/drawing/2014/main" id="{6E02133D-E178-4389-8AE2-9452FB32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Source : spécifications fonctionnelles HomeSkolar v3.0</a:t>
            </a:r>
          </a:p>
        </p:txBody>
      </p:sp>
    </p:spTree>
    <p:extLst>
      <p:ext uri="{BB962C8B-B14F-4D97-AF65-F5344CB8AC3E}">
        <p14:creationId xmlns:p14="http://schemas.microsoft.com/office/powerpoint/2010/main" val="9875522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5">
            <a:extLst xmlns:a="http://schemas.openxmlformats.org/drawingml/2006/main">
              <a:ext uri="{FF2B5EF4-FFF2-40B4-BE49-F238E27FC236}">
                <a16:creationId xmlns:a16="http://schemas.microsoft.com/office/drawing/2014/main" id="{97E8B139-A43A-408A-B501-64F8B5663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HOMESKOLAR · VALIDATION DU CADRAGE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0121F397-1973-4028-853A-072312FF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D1B2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Un parcours simple et volontairement limité</a:t>
            </a:r>
          </a:p>
        </p:txBody>
      </p:sp>
      <p:sp>
        <p:nvSpPr>
          <p:cNvPr id="3" name="rule-56-142">
            <a:extLst xmlns:a="http://schemas.openxmlformats.org/drawingml/2006/main">
              <a:ext uri="{FF2B5EF4-FFF2-40B4-BE49-F238E27FC236}">
                <a16:creationId xmlns:a16="http://schemas.microsoft.com/office/drawing/2014/main" id="{39536B57-15A7-4362-874A-0FAC505B9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number-5">
            <a:extLst xmlns:a="http://schemas.openxmlformats.org/drawingml/2006/main">
              <a:ext uri="{FF2B5EF4-FFF2-40B4-BE49-F238E27FC236}">
                <a16:creationId xmlns:a16="http://schemas.microsoft.com/office/drawing/2014/main" id="{36373AAD-331E-4FB0-BBF9-515B57D1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s5-lead">
            <a:extLst xmlns:a="http://schemas.openxmlformats.org/drawingml/2006/main">
              <a:ext uri="{FF2B5EF4-FFF2-40B4-BE49-F238E27FC236}">
                <a16:creationId xmlns:a16="http://schemas.microsoft.com/office/drawing/2014/main" id="{5572CDF4-CE54-42B0-9554-7063A124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Le produit accompagne le binôme depuis l’inscription jusqu’au suivi régulier.</a:t>
            </a:r>
          </a:p>
        </p:txBody>
      </p:sp>
      <p:sp>
        <p:nvSpPr>
          <p:cNvPr id="6" name="journey-0">
            <a:extLst xmlns:a="http://schemas.openxmlformats.org/drawingml/2006/main">
              <a:ext uri="{FF2B5EF4-FFF2-40B4-BE49-F238E27FC236}">
                <a16:creationId xmlns:a16="http://schemas.microsoft.com/office/drawing/2014/main" id="{CE1B8807-5FC2-455E-A59B-26DACD61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journey-1">
            <a:extLst xmlns:a="http://schemas.openxmlformats.org/drawingml/2006/main">
              <a:ext uri="{FF2B5EF4-FFF2-40B4-BE49-F238E27FC236}">
                <a16:creationId xmlns:a16="http://schemas.microsoft.com/office/drawing/2014/main" id="{17C7BE8E-0F79-46EF-94EE-82F457E3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81300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journey-2">
            <a:extLst xmlns:a="http://schemas.openxmlformats.org/drawingml/2006/main">
              <a:ext uri="{FF2B5EF4-FFF2-40B4-BE49-F238E27FC236}">
                <a16:creationId xmlns:a16="http://schemas.microsoft.com/office/drawing/2014/main" id="{1DDCE72A-35D5-430E-A5FF-860EF4010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81300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1456A0"/>
            </a:solidFill>
            <a:prstDash val="solid"/>
          </a:ln>
        </p:spPr>
      </p:sp>
      <p:sp>
        <p:nvSpPr>
          <p:cNvPr id="9" name="journey-3">
            <a:extLst xmlns:a="http://schemas.openxmlformats.org/drawingml/2006/main">
              <a:ext uri="{FF2B5EF4-FFF2-40B4-BE49-F238E27FC236}">
                <a16:creationId xmlns:a16="http://schemas.microsoft.com/office/drawing/2014/main" id="{DF663531-CCA4-4BB4-9E12-2C08E1E16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781300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1456A0"/>
            </a:solidFill>
            <a:prstDash val="solid"/>
          </a:ln>
        </p:spPr>
      </p:sp>
      <p:sp>
        <p:nvSpPr>
          <p:cNvPr id="10" name="journey-4">
            <a:extLst xmlns:a="http://schemas.openxmlformats.org/drawingml/2006/main">
              <a:ext uri="{FF2B5EF4-FFF2-40B4-BE49-F238E27FC236}">
                <a16:creationId xmlns:a16="http://schemas.microsoft.com/office/drawing/2014/main" id="{84E1602D-533D-4130-821B-5CFEE98E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781300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1456A0"/>
            </a:solidFill>
            <a:prstDash val="solid"/>
          </a:ln>
        </p:spPr>
      </p:sp>
      <p:cxnSp>
        <p:nvCxnSpPr>
          <p:cNvPr id="34" name=""/>
          <p:cNvCxnSpPr>
            <a:stCxn xmlns:a="http://schemas.openxmlformats.org/drawingml/2006/main" id="7" idx="2"/>
            <a:endCxn xmlns:a="http://schemas.openxmlformats.org/drawingml/2006/main" id="6" idx="6"/>
          </p:cNvCxnSpPr>
          <p:nvPr/>
        </p:nvCxnSpPr>
        <p:spPr>
          <a:xfrm xmlns:a="http://schemas.openxmlformats.org/drawingml/2006/main" flipH="1">
            <a:off x="1752600" y="3343275"/>
            <a:ext cx="1104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56A0"/>
            </a:solidFill>
            <a:prstDash val="solid"/>
            <a:headEnd type="arrow" w="sm" len="sm"/>
          </a:ln>
        </p:spPr>
      </p:cxnSp>
      <p:cxnSp>
        <p:nvCxnSpPr>
          <p:cNvPr id="35" name=""/>
          <p:cNvCxnSpPr>
            <a:stCxn xmlns:a="http://schemas.openxmlformats.org/drawingml/2006/main" id="8" idx="2"/>
            <a:endCxn xmlns:a="http://schemas.openxmlformats.org/drawingml/2006/main" id="7" idx="6"/>
          </p:cNvCxnSpPr>
          <p:nvPr/>
        </p:nvCxnSpPr>
        <p:spPr>
          <a:xfrm xmlns:a="http://schemas.openxmlformats.org/drawingml/2006/main" flipH="1">
            <a:off x="3981450" y="3343275"/>
            <a:ext cx="1104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56A0"/>
            </a:solidFill>
            <a:prstDash val="solid"/>
            <a:headEnd type="arrow" w="sm" len="sm"/>
          </a:ln>
        </p:spPr>
      </p:cxnSp>
      <p:cxnSp>
        <p:nvCxnSpPr>
          <p:cNvPr id="36" name=""/>
          <p:cNvCxnSpPr>
            <a:stCxn xmlns:a="http://schemas.openxmlformats.org/drawingml/2006/main" id="9" idx="2"/>
            <a:endCxn xmlns:a="http://schemas.openxmlformats.org/drawingml/2006/main" id="8" idx="6"/>
          </p:cNvCxnSpPr>
          <p:nvPr/>
        </p:nvCxnSpPr>
        <p:spPr>
          <a:xfrm xmlns:a="http://schemas.openxmlformats.org/drawingml/2006/main" flipH="1">
            <a:off x="6210300" y="3343275"/>
            <a:ext cx="1104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56A0"/>
            </a:solidFill>
            <a:prstDash val="solid"/>
            <a:headEnd type="arrow" w="sm" len="sm"/>
          </a:ln>
        </p:spPr>
      </p:cxnSp>
      <p:cxnSp>
        <p:nvCxnSpPr>
          <p:cNvPr id="37" name=""/>
          <p:cNvCxnSpPr>
            <a:stCxn xmlns:a="http://schemas.openxmlformats.org/drawingml/2006/main" id="10" idx="2"/>
            <a:endCxn xmlns:a="http://schemas.openxmlformats.org/drawingml/2006/main" id="9" idx="6"/>
          </p:cNvCxnSpPr>
          <p:nvPr/>
        </p:nvCxnSpPr>
        <p:spPr>
          <a:xfrm xmlns:a="http://schemas.openxmlformats.org/drawingml/2006/main" flipH="1">
            <a:off x="8439150" y="3343275"/>
            <a:ext cx="1104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56A0"/>
            </a:solidFill>
            <a:prstDash val="solid"/>
            <a:headEnd type="arrow" w="sm" len="sm"/>
          </a:ln>
        </p:spPr>
      </p:cxnSp>
      <p:sp>
        <p:nvSpPr>
          <p:cNvPr id="15" name="journey-label-0">
            <a:extLst xmlns:a="http://schemas.openxmlformats.org/drawingml/2006/main">
              <a:ext uri="{FF2B5EF4-FFF2-40B4-BE49-F238E27FC236}">
                <a16:creationId xmlns:a16="http://schemas.microsoft.com/office/drawing/2014/main" id="{3A44FCF4-0C1D-4D18-A52B-4C12EC380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11239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Créer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un compte</a:t>
            </a:r>
          </a:p>
        </p:txBody>
      </p:sp>
      <p:sp>
        <p:nvSpPr>
          <p:cNvPr id="16" name="journey-label-1">
            <a:extLst xmlns:a="http://schemas.openxmlformats.org/drawingml/2006/main">
              <a:ext uri="{FF2B5EF4-FFF2-40B4-BE49-F238E27FC236}">
                <a16:creationId xmlns:a16="http://schemas.microsoft.com/office/drawing/2014/main" id="{85631727-3664-4231-B94A-F6A092E1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81300"/>
            <a:ext cx="11239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Affecter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un tuteur</a:t>
            </a:r>
          </a:p>
        </p:txBody>
      </p:sp>
      <p:sp>
        <p:nvSpPr>
          <p:cNvPr id="17" name="journey-label-2">
            <a:extLst xmlns:a="http://schemas.openxmlformats.org/drawingml/2006/main">
              <a:ext uri="{FF2B5EF4-FFF2-40B4-BE49-F238E27FC236}">
                <a16:creationId xmlns:a16="http://schemas.microsoft.com/office/drawing/2014/main" id="{6D2B30B9-79D5-4969-8357-E29538C6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81300"/>
            <a:ext cx="11239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D1B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Échanger</a:t>
            </a:r>
          </a:p>
          <a:p xmlns:a="http://schemas.openxmlformats.org/drawingml/2006/main">
            <a:pPr algn="ctr">
              <a:defRPr sz="1425" b="1">
                <a:solidFill>
                  <a:srgbClr val="0D1B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des messages</a:t>
            </a:r>
          </a:p>
        </p:txBody>
      </p:sp>
      <p:sp>
        <p:nvSpPr>
          <p:cNvPr id="18" name="journey-label-3">
            <a:extLst xmlns:a="http://schemas.openxmlformats.org/drawingml/2006/main">
              <a:ext uri="{FF2B5EF4-FFF2-40B4-BE49-F238E27FC236}">
                <a16:creationId xmlns:a16="http://schemas.microsoft.com/office/drawing/2014/main" id="{854836BD-30C5-4092-BF6B-30777522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781300"/>
            <a:ext cx="11239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D1B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Planifier</a:t>
            </a:r>
          </a:p>
          <a:p xmlns:a="http://schemas.openxmlformats.org/drawingml/2006/main">
            <a:pPr algn="ctr">
              <a:defRPr sz="1425" b="1">
                <a:solidFill>
                  <a:srgbClr val="0D1B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un rendez-vous</a:t>
            </a:r>
          </a:p>
        </p:txBody>
      </p:sp>
      <p:sp>
        <p:nvSpPr>
          <p:cNvPr id="19" name="journey-label-4">
            <a:extLst xmlns:a="http://schemas.openxmlformats.org/drawingml/2006/main">
              <a:ext uri="{FF2B5EF4-FFF2-40B4-BE49-F238E27FC236}">
                <a16:creationId xmlns:a16="http://schemas.microsoft.com/office/drawing/2014/main" id="{2FADE7AB-B8E1-4304-9665-9B12EE0C2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781300"/>
            <a:ext cx="11239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D1B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Suivre</a:t>
            </a:r>
          </a:p>
          <a:p xmlns:a="http://schemas.openxmlformats.org/drawingml/2006/main">
            <a:pPr algn="ctr">
              <a:defRPr sz="1425" b="1">
                <a:solidFill>
                  <a:srgbClr val="0D1B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les tâches</a:t>
            </a:r>
          </a:p>
        </p:txBody>
      </p:sp>
      <p:sp>
        <p:nvSpPr>
          <p:cNvPr id="20" name="s5-out">
            <a:extLst xmlns:a="http://schemas.openxmlformats.org/drawingml/2006/main">
              <a:ext uri="{FF2B5EF4-FFF2-40B4-BE49-F238E27FC236}">
                <a16:creationId xmlns:a16="http://schemas.microsoft.com/office/drawing/2014/main" id="{ABC380EE-7C2A-47E5-81F9-1B65188C3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11125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s5-out-label">
            <a:extLst xmlns:a="http://schemas.openxmlformats.org/drawingml/2006/main">
              <a:ext uri="{FF2B5EF4-FFF2-40B4-BE49-F238E27FC236}">
                <a16:creationId xmlns:a16="http://schemas.microsoft.com/office/drawing/2014/main" id="{4890B0EA-B9EB-4C39-AA7F-9D022F0E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292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HORS PÉRIMÈTRE DE LA V1</a:t>
            </a:r>
          </a:p>
        </p:txBody>
      </p:sp>
      <p:sp>
        <p:nvSpPr>
          <p:cNvPr id="22" name="s5-out-text">
            <a:extLst xmlns:a="http://schemas.openxmlformats.org/drawingml/2006/main">
              <a:ext uri="{FF2B5EF4-FFF2-40B4-BE49-F238E27FC236}">
                <a16:creationId xmlns:a16="http://schemas.microsoft.com/office/drawing/2014/main" id="{F3D63F8F-293C-4F79-8898-6150C3E8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019675"/>
            <a:ext cx="7867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D1B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D1B2A"/>
                </a:solidFill>
                <a:latin typeface="Arial"/>
                <a:ea typeface="Arial"/>
                <a:cs typeface="Arial"/>
              </a:rPr>
              <a:t>Recherche · pièces jointes · visioconférence · rappels · récurrence · historique des affectations</a:t>
            </a:r>
          </a:p>
        </p:txBody>
      </p:sp>
      <p:sp>
        <p:nvSpPr>
          <p:cNvPr id="23" name="source-6icua7">
            <a:extLst xmlns:a="http://schemas.openxmlformats.org/drawingml/2006/main">
              <a:ext uri="{FF2B5EF4-FFF2-40B4-BE49-F238E27FC236}">
                <a16:creationId xmlns:a16="http://schemas.microsoft.com/office/drawing/2014/main" id="{8E1147D4-42CB-4500-964B-498B6C12A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Source : spécifications fonctionnelles et décisions de périmètre validées</a:t>
            </a:r>
          </a:p>
        </p:txBody>
      </p:sp>
    </p:spTree>
    <p:extLst>
      <p:ext uri="{BB962C8B-B14F-4D97-AF65-F5344CB8AC3E}">
        <p14:creationId xmlns:p14="http://schemas.microsoft.com/office/powerpoint/2010/main" val="19110792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6">
            <a:extLst xmlns:a="http://schemas.openxmlformats.org/drawingml/2006/main">
              <a:ext uri="{FF2B5EF4-FFF2-40B4-BE49-F238E27FC236}">
                <a16:creationId xmlns:a16="http://schemas.microsoft.com/office/drawing/2014/main" id="{D7270803-2C98-4882-BFAE-7A0194C2F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HOMESKOLAR · VALIDATION DU CADRAGE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76323F2F-1F82-4197-AC33-474491667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D1B2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Une architecture monolithique répond au besoin</a:t>
            </a:r>
          </a:p>
        </p:txBody>
      </p:sp>
      <p:sp>
        <p:nvSpPr>
          <p:cNvPr id="3" name="rule-56-142">
            <a:extLst xmlns:a="http://schemas.openxmlformats.org/drawingml/2006/main">
              <a:ext uri="{FF2B5EF4-FFF2-40B4-BE49-F238E27FC236}">
                <a16:creationId xmlns:a16="http://schemas.microsoft.com/office/drawing/2014/main" id="{5509007D-07BA-441C-BB2F-DE84A0B6E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number-6">
            <a:extLst xmlns:a="http://schemas.openxmlformats.org/drawingml/2006/main">
              <a:ext uri="{FF2B5EF4-FFF2-40B4-BE49-F238E27FC236}">
                <a16:creationId xmlns:a16="http://schemas.microsoft.com/office/drawing/2014/main" id="{6E37F122-F767-4BA0-B590-C6D71B1EA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s6-lead">
            <a:extLst xmlns:a="http://schemas.openxmlformats.org/drawingml/2006/main">
              <a:ext uri="{FF2B5EF4-FFF2-40B4-BE49-F238E27FC236}">
                <a16:creationId xmlns:a16="http://schemas.microsoft.com/office/drawing/2014/main" id="{CA10C0C9-EDE9-426C-A656-4AA9F876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076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Le navigateur dialogue directement avec Django ; aucune API publique ni application front-end séparée n’est nécessaire.</a:t>
            </a:r>
          </a:p>
        </p:txBody>
      </p:sp>
      <p:sp>
        <p:nvSpPr>
          <p:cNvPr id="6" name="browser-node">
            <a:extLst xmlns:a="http://schemas.openxmlformats.org/drawingml/2006/main">
              <a:ext uri="{FF2B5EF4-FFF2-40B4-BE49-F238E27FC236}">
                <a16:creationId xmlns:a16="http://schemas.microsoft.com/office/drawing/2014/main" id="{84313E42-588F-4563-BE9A-4C3DDD898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22860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1456A0"/>
            </a:solidFill>
            <a:prstDash val="solid"/>
          </a:ln>
        </p:spPr>
      </p:sp>
      <p:sp>
        <p:nvSpPr>
          <p:cNvPr id="7" name="django-node">
            <a:extLst xmlns:a="http://schemas.openxmlformats.org/drawingml/2006/main">
              <a:ext uri="{FF2B5EF4-FFF2-40B4-BE49-F238E27FC236}">
                <a16:creationId xmlns:a16="http://schemas.microsoft.com/office/drawing/2014/main" id="{58CF5EF7-3849-4A00-A506-494BE081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19350"/>
            <a:ext cx="2857500" cy="201930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b-node">
            <a:extLst xmlns:a="http://schemas.openxmlformats.org/drawingml/2006/main">
              <a:ext uri="{FF2B5EF4-FFF2-40B4-BE49-F238E27FC236}">
                <a16:creationId xmlns:a16="http://schemas.microsoft.com/office/drawing/2014/main" id="{A9E6228F-84F9-4250-BEE3-83A086CA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19400"/>
            <a:ext cx="22860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1456A0"/>
            </a:solidFill>
            <a:prstDash val="solid"/>
          </a:ln>
        </p:spPr>
      </p:sp>
      <p:cxnSp>
        <p:nvCxnSpPr>
          <p:cNvPr id="28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952750" y="342900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456A0"/>
            </a:solidFill>
            <a:prstDash val="solid"/>
            <a:headEnd type="arrow" w="med" len="med"/>
            <a:tailEnd type="arrow" w="med" len="med"/>
          </a:ln>
        </p:spPr>
      </p:cxnSp>
      <p:cxnSp>
        <p:nvCxnSpPr>
          <p:cNvPr id="29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620000" y="3429000"/>
            <a:ext cx="1619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456A0"/>
            </a:solidFill>
            <a:prstDash val="solid"/>
            <a:headEnd type="arrow" w="med" len="med"/>
            <a:tailEnd type="arrow" w="med" len="med"/>
          </a:ln>
        </p:spPr>
      </p:cxnSp>
      <p:sp>
        <p:nvSpPr>
          <p:cNvPr id="11" name="browser-title">
            <a:extLst xmlns:a="http://schemas.openxmlformats.org/drawingml/2006/main">
              <a:ext uri="{FF2B5EF4-FFF2-40B4-BE49-F238E27FC236}">
                <a16:creationId xmlns:a16="http://schemas.microsoft.com/office/drawing/2014/main" id="{CCD5C941-7069-462B-8F34-36DA73FD4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990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D1B2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Navigateur</a:t>
            </a:r>
          </a:p>
        </p:txBody>
      </p:sp>
      <p:sp>
        <p:nvSpPr>
          <p:cNvPr id="12" name="browser-body">
            <a:extLst xmlns:a="http://schemas.openxmlformats.org/drawingml/2006/main">
              <a:ext uri="{FF2B5EF4-FFF2-40B4-BE49-F238E27FC236}">
                <a16:creationId xmlns:a16="http://schemas.microsoft.com/office/drawing/2014/main" id="{03C92DCB-1596-47DB-B489-9F9F92F4C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1866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039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HTML rendu côté serveur</a:t>
            </a:r>
          </a:p>
          <a:p xmlns:a="http://schemas.openxmlformats.org/drawingml/2006/main">
            <a:pPr algn="ctr">
              <a:defRPr sz="14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Bootstrap 5.3</a:t>
            </a:r>
          </a:p>
        </p:txBody>
      </p:sp>
      <p:sp>
        <p:nvSpPr>
          <p:cNvPr id="13" name="django-title">
            <a:extLst xmlns:a="http://schemas.openxmlformats.org/drawingml/2006/main">
              <a:ext uri="{FF2B5EF4-FFF2-40B4-BE49-F238E27FC236}">
                <a16:creationId xmlns:a16="http://schemas.microsoft.com/office/drawing/2014/main" id="{974D050C-F97B-4053-8C4B-9EF1F446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479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Django 5.2 LTS</a:t>
            </a:r>
          </a:p>
        </p:txBody>
      </p:sp>
      <p:sp>
        <p:nvSpPr>
          <p:cNvPr id="14" name="django-body">
            <a:extLst xmlns:a="http://schemas.openxmlformats.org/drawingml/2006/main">
              <a:ext uri="{FF2B5EF4-FFF2-40B4-BE49-F238E27FC236}">
                <a16:creationId xmlns:a16="http://schemas.microsoft.com/office/drawing/2014/main" id="{EF407586-881C-4B5A-821E-7785E837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314700"/>
            <a:ext cx="219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Règles métier · authentification</a:t>
            </a:r>
          </a:p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formulaires · autorisations</a:t>
            </a:r>
          </a:p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accès aux données</a:t>
            </a:r>
          </a:p>
        </p:txBody>
      </p:sp>
      <p:sp>
        <p:nvSpPr>
          <p:cNvPr id="15" name="db-title">
            <a:extLst xmlns:a="http://schemas.openxmlformats.org/drawingml/2006/main">
              <a:ext uri="{FF2B5EF4-FFF2-40B4-BE49-F238E27FC236}">
                <a16:creationId xmlns:a16="http://schemas.microsoft.com/office/drawing/2014/main" id="{99F56399-03F7-47DF-92DC-748F9A87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0990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D1B2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16" name="db-body">
            <a:extLst xmlns:a="http://schemas.openxmlformats.org/drawingml/2006/main">
              <a:ext uri="{FF2B5EF4-FFF2-40B4-BE49-F238E27FC236}">
                <a16:creationId xmlns:a16="http://schemas.microsoft.com/office/drawing/2014/main" id="{16564848-F28B-4F9B-9C15-E80259FE2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524250"/>
            <a:ext cx="1866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734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Persistance relationnelle</a:t>
            </a:r>
          </a:p>
          <a:p xmlns:a="http://schemas.openxmlformats.org/drawingml/2006/main">
            <a:pPr algn="ctr">
              <a:defRPr sz="14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et intégrité des données</a:t>
            </a:r>
          </a:p>
        </p:txBody>
      </p:sp>
      <p:sp>
        <p:nvSpPr>
          <p:cNvPr id="17" name="s6-js">
            <a:extLst xmlns:a="http://schemas.openxmlformats.org/drawingml/2006/main">
              <a:ext uri="{FF2B5EF4-FFF2-40B4-BE49-F238E27FC236}">
                <a16:creationId xmlns:a16="http://schemas.microsoft.com/office/drawing/2014/main" id="{C9B1566E-135D-4075-8732-B1C93CE4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48250"/>
            <a:ext cx="4000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s6-js-text">
            <a:extLst xmlns:a="http://schemas.openxmlformats.org/drawingml/2006/main">
              <a:ext uri="{FF2B5EF4-FFF2-40B4-BE49-F238E27FC236}">
                <a16:creationId xmlns:a16="http://schemas.microsoft.com/office/drawing/2014/main" id="{EB2CB1B1-2803-47B5-ACA5-84FABAE7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191125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D1B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JavaScript limité aux interactions asynchrones, notamment la messagerie</a:t>
            </a:r>
          </a:p>
        </p:txBody>
      </p:sp>
      <p:sp>
        <p:nvSpPr>
          <p:cNvPr id="19" name="source-r30rut">
            <a:extLst xmlns:a="http://schemas.openxmlformats.org/drawingml/2006/main">
              <a:ext uri="{FF2B5EF4-FFF2-40B4-BE49-F238E27FC236}">
                <a16:creationId xmlns:a16="http://schemas.microsoft.com/office/drawing/2014/main" id="{2AF5851B-AAAB-44E7-B941-62C3E6E8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Source : spécifications techniques HomeSkolar v3.0</a:t>
            </a:r>
          </a:p>
        </p:txBody>
      </p:sp>
    </p:spTree>
    <p:extLst>
      <p:ext uri="{BB962C8B-B14F-4D97-AF65-F5344CB8AC3E}">
        <p14:creationId xmlns:p14="http://schemas.microsoft.com/office/powerpoint/2010/main" val="2992644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7">
            <a:extLst xmlns:a="http://schemas.openxmlformats.org/drawingml/2006/main">
              <a:ext uri="{FF2B5EF4-FFF2-40B4-BE49-F238E27FC236}">
                <a16:creationId xmlns:a16="http://schemas.microsoft.com/office/drawing/2014/main" id="{B8256A39-BAE3-430C-BC54-EE86BA84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HOMESKOLAR · VALIDATION DU CADRAGE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84808CE6-5BC3-409D-BD11-426225758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D1B2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La pile réduit le risque sans limiter la V1</a:t>
            </a:r>
          </a:p>
        </p:txBody>
      </p:sp>
      <p:sp>
        <p:nvSpPr>
          <p:cNvPr id="3" name="rule-56-142">
            <a:extLst xmlns:a="http://schemas.openxmlformats.org/drawingml/2006/main">
              <a:ext uri="{FF2B5EF4-FFF2-40B4-BE49-F238E27FC236}">
                <a16:creationId xmlns:a16="http://schemas.microsoft.com/office/drawing/2014/main" id="{B6433211-75B2-4C54-9661-06D5B078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number-7">
            <a:extLst xmlns:a="http://schemas.openxmlformats.org/drawingml/2006/main">
              <a:ext uri="{FF2B5EF4-FFF2-40B4-BE49-F238E27FC236}">
                <a16:creationId xmlns:a16="http://schemas.microsoft.com/office/drawing/2014/main" id="{FD51988B-00FB-4F93-B408-08C4AE0D7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s7-title-0">
            <a:extLst xmlns:a="http://schemas.openxmlformats.org/drawingml/2006/main">
              <a:ext uri="{FF2B5EF4-FFF2-40B4-BE49-F238E27FC236}">
                <a16:creationId xmlns:a16="http://schemas.microsoft.com/office/drawing/2014/main" id="{CA588584-C51F-4437-A2EA-7742B50B1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431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D1B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Simple</a:t>
            </a:r>
          </a:p>
        </p:txBody>
      </p:sp>
      <p:sp>
        <p:nvSpPr>
          <p:cNvPr id="6" name="rule-56-278">
            <a:extLst xmlns:a="http://schemas.openxmlformats.org/drawingml/2006/main">
              <a:ext uri="{FF2B5EF4-FFF2-40B4-BE49-F238E27FC236}">
                <a16:creationId xmlns:a16="http://schemas.microsoft.com/office/drawing/2014/main" id="{C5E2EA57-4631-4230-A3EC-886717F6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7" name="s7-body-0">
            <a:extLst xmlns:a="http://schemas.openxmlformats.org/drawingml/2006/main">
              <a:ext uri="{FF2B5EF4-FFF2-40B4-BE49-F238E27FC236}">
                <a16:creationId xmlns:a16="http://schemas.microsoft.com/office/drawing/2014/main" id="{C9648C8E-285A-4200-8AE2-CA87E7D6A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71800"/>
            <a:ext cx="3143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Un seul projet, une seule pile et peu de JavaScript à coordonner.</a:t>
            </a:r>
          </a:p>
        </p:txBody>
      </p:sp>
      <p:sp>
        <p:nvSpPr>
          <p:cNvPr id="8" name="s7-detail-0">
            <a:extLst xmlns:a="http://schemas.openxmlformats.org/drawingml/2006/main">
              <a:ext uri="{FF2B5EF4-FFF2-40B4-BE49-F238E27FC236}">
                <a16:creationId xmlns:a16="http://schemas.microsoft.com/office/drawing/2014/main" id="{379777A0-AAA2-42C4-8118-ACF64AB8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05300"/>
            <a:ext cx="314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D1B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Django + gabarits</a:t>
            </a:r>
          </a:p>
          <a:p xmlns:a="http://schemas.openxmlformats.org/drawingml/2006/main">
            <a:pPr algn="l">
              <a:defRPr sz="1500" b="1">
                <a:solidFill>
                  <a:srgbClr val="0D1B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Bootstrap responsive</a:t>
            </a:r>
          </a:p>
          <a:p xmlns:a="http://schemas.openxmlformats.org/drawingml/2006/main">
            <a:pPr algn="l">
              <a:defRPr sz="1500" b="1">
                <a:solidFill>
                  <a:srgbClr val="0D1B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9" name="s7-title-1">
            <a:extLst xmlns:a="http://schemas.openxmlformats.org/drawingml/2006/main">
              <a:ext uri="{FF2B5EF4-FFF2-40B4-BE49-F238E27FC236}">
                <a16:creationId xmlns:a16="http://schemas.microsoft.com/office/drawing/2014/main" id="{56D6F4F7-9DBA-43B1-BE34-366B67A49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431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Sûre</a:t>
            </a:r>
          </a:p>
        </p:txBody>
      </p:sp>
      <p:sp>
        <p:nvSpPr>
          <p:cNvPr id="10" name="rule-456-278">
            <a:extLst xmlns:a="http://schemas.openxmlformats.org/drawingml/2006/main">
              <a:ext uri="{FF2B5EF4-FFF2-40B4-BE49-F238E27FC236}">
                <a16:creationId xmlns:a16="http://schemas.microsoft.com/office/drawing/2014/main" id="{39A20DAE-C43F-4243-8DD9-5E814306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479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11" name="s7-body-1">
            <a:extLst xmlns:a="http://schemas.openxmlformats.org/drawingml/2006/main">
              <a:ext uri="{FF2B5EF4-FFF2-40B4-BE49-F238E27FC236}">
                <a16:creationId xmlns:a16="http://schemas.microsoft.com/office/drawing/2014/main" id="{EEB28901-23E2-4222-A5C2-D094E84A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971800"/>
            <a:ext cx="3143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Authentification, hachage, CSRF et contrôles d’accès fournis côté serveur.</a:t>
            </a:r>
          </a:p>
        </p:txBody>
      </p:sp>
      <p:sp>
        <p:nvSpPr>
          <p:cNvPr id="12" name="s7-detail-1">
            <a:extLst xmlns:a="http://schemas.openxmlformats.org/drawingml/2006/main">
              <a:ext uri="{FF2B5EF4-FFF2-40B4-BE49-F238E27FC236}">
                <a16:creationId xmlns:a16="http://schemas.microsoft.com/office/drawing/2014/main" id="{F0A99E3F-0FF9-4A3C-B404-C452485D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05300"/>
            <a:ext cx="314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D1B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Autorisations par ressource</a:t>
            </a:r>
          </a:p>
          <a:p xmlns:a="http://schemas.openxmlformats.org/drawingml/2006/main">
            <a:pPr algn="l">
              <a:defRPr sz="1500" b="1">
                <a:solidFill>
                  <a:srgbClr val="0D1B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Validation des entrées</a:t>
            </a:r>
          </a:p>
          <a:p xmlns:a="http://schemas.openxmlformats.org/drawingml/2006/main">
            <a:pPr algn="l">
              <a:defRPr sz="1500" b="1">
                <a:solidFill>
                  <a:srgbClr val="0D1B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Secrets externalisés</a:t>
            </a:r>
          </a:p>
        </p:txBody>
      </p:sp>
      <p:sp>
        <p:nvSpPr>
          <p:cNvPr id="13" name="s7-title-2">
            <a:extLst xmlns:a="http://schemas.openxmlformats.org/drawingml/2006/main">
              <a:ext uri="{FF2B5EF4-FFF2-40B4-BE49-F238E27FC236}">
                <a16:creationId xmlns:a16="http://schemas.microsoft.com/office/drawing/2014/main" id="{B7E8A5D0-DDCE-4093-9236-1CEB5BB85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431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D1B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Maintenable</a:t>
            </a:r>
          </a:p>
        </p:txBody>
      </p:sp>
      <p:sp>
        <p:nvSpPr>
          <p:cNvPr id="14" name="rule-856-278">
            <a:extLst xmlns:a="http://schemas.openxmlformats.org/drawingml/2006/main">
              <a:ext uri="{FF2B5EF4-FFF2-40B4-BE49-F238E27FC236}">
                <a16:creationId xmlns:a16="http://schemas.microsoft.com/office/drawing/2014/main" id="{37EC6A3D-A4FE-48DC-9F43-2E6D5E12C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479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15" name="s7-body-2">
            <a:extLst xmlns:a="http://schemas.openxmlformats.org/drawingml/2006/main">
              <a:ext uri="{FF2B5EF4-FFF2-40B4-BE49-F238E27FC236}">
                <a16:creationId xmlns:a16="http://schemas.microsoft.com/office/drawing/2014/main" id="{5FA9EF9C-0810-4E7D-820F-ADE833A85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71800"/>
            <a:ext cx="3143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Versions LTS, modules métier séparés, migrations et tests versionnés.</a:t>
            </a:r>
          </a:p>
        </p:txBody>
      </p:sp>
      <p:sp>
        <p:nvSpPr>
          <p:cNvPr id="16" name="s7-detail-2">
            <a:extLst xmlns:a="http://schemas.openxmlformats.org/drawingml/2006/main">
              <a:ext uri="{FF2B5EF4-FFF2-40B4-BE49-F238E27FC236}">
                <a16:creationId xmlns:a16="http://schemas.microsoft.com/office/drawing/2014/main" id="{166B6E1F-54CC-409F-BC8A-492E5DA8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05300"/>
            <a:ext cx="314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D1B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Tests unitaires et intégration</a:t>
            </a:r>
          </a:p>
          <a:p xmlns:a="http://schemas.openxmlformats.org/drawingml/2006/main">
            <a:pPr algn="l">
              <a:defRPr sz="1500" b="1">
                <a:solidFill>
                  <a:srgbClr val="0D1B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Revue de code</a:t>
            </a:r>
          </a:p>
          <a:p xmlns:a="http://schemas.openxmlformats.org/drawingml/2006/main">
            <a:pPr algn="l">
              <a:defRPr sz="1500" b="1">
                <a:solidFill>
                  <a:srgbClr val="0D1B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Documentation à jour</a:t>
            </a:r>
          </a:p>
        </p:txBody>
      </p:sp>
      <p:sp>
        <p:nvSpPr>
          <p:cNvPr id="17" name="s7-bottom">
            <a:extLst xmlns:a="http://schemas.openxmlformats.org/drawingml/2006/main">
              <a:ext uri="{FF2B5EF4-FFF2-40B4-BE49-F238E27FC236}">
                <a16:creationId xmlns:a16="http://schemas.microsoft.com/office/drawing/2014/main" id="{3921261E-C118-4692-9933-48C35AA97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38800"/>
            <a:ext cx="11125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7-bottom-text">
            <a:extLst xmlns:a="http://schemas.openxmlformats.org/drawingml/2006/main">
              <a:ext uri="{FF2B5EF4-FFF2-40B4-BE49-F238E27FC236}">
                <a16:creationId xmlns:a16="http://schemas.microsoft.com/office/drawing/2014/main" id="{20E45A04-95F6-4D5B-9799-660F3A02B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34050"/>
            <a:ext cx="1074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Le choix technique répond au besoin validé sans anticiper une complexité future non demandée.</a:t>
            </a:r>
          </a:p>
        </p:txBody>
      </p:sp>
      <p:sp>
        <p:nvSpPr>
          <p:cNvPr id="19" name="source-de232u">
            <a:extLst xmlns:a="http://schemas.openxmlformats.org/drawingml/2006/main">
              <a:ext uri="{FF2B5EF4-FFF2-40B4-BE49-F238E27FC236}">
                <a16:creationId xmlns:a16="http://schemas.microsoft.com/office/drawing/2014/main" id="{854BD089-C67E-430F-A9B7-897B62BA4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Source : veille technologique et spécifications techniques HomeSkolar v3.0</a:t>
            </a:r>
          </a:p>
        </p:txBody>
      </p:sp>
    </p:spTree>
    <p:extLst>
      <p:ext uri="{BB962C8B-B14F-4D97-AF65-F5344CB8AC3E}">
        <p14:creationId xmlns:p14="http://schemas.microsoft.com/office/powerpoint/2010/main" val="17633387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8">
            <a:extLst xmlns:a="http://schemas.openxmlformats.org/drawingml/2006/main">
              <a:ext uri="{FF2B5EF4-FFF2-40B4-BE49-F238E27FC236}">
                <a16:creationId xmlns:a16="http://schemas.microsoft.com/office/drawing/2014/main" id="{2024254E-9FB3-4DFE-8515-A5CBE85E0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HOMESKOLAR · VALIDATION DU CADRAGE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09B5F118-C159-4AC6-AE05-ECA7F4FCF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D1B2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Un Backlog prêt à démarrer</a:t>
            </a:r>
          </a:p>
        </p:txBody>
      </p:sp>
      <p:sp>
        <p:nvSpPr>
          <p:cNvPr id="3" name="rule-56-142">
            <a:extLst xmlns:a="http://schemas.openxmlformats.org/drawingml/2006/main">
              <a:ext uri="{FF2B5EF4-FFF2-40B4-BE49-F238E27FC236}">
                <a16:creationId xmlns:a16="http://schemas.microsoft.com/office/drawing/2014/main" id="{917B6018-5049-4A7D-B107-F0D2C0F1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number-8">
            <a:extLst xmlns:a="http://schemas.openxmlformats.org/drawingml/2006/main">
              <a:ext uri="{FF2B5EF4-FFF2-40B4-BE49-F238E27FC236}">
                <a16:creationId xmlns:a16="http://schemas.microsoft.com/office/drawing/2014/main" id="{0356C215-9AAE-4D4A-9EF3-22B6EC2D7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s8-stat-0">
            <a:extLst xmlns:a="http://schemas.openxmlformats.org/drawingml/2006/main">
              <a:ext uri="{FF2B5EF4-FFF2-40B4-BE49-F238E27FC236}">
                <a16:creationId xmlns:a16="http://schemas.microsoft.com/office/drawing/2014/main" id="{A91B5D89-E93B-4DFC-A944-07BC92A5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6" name="s8-stat-title-0">
            <a:extLst xmlns:a="http://schemas.openxmlformats.org/drawingml/2006/main">
              <a:ext uri="{FF2B5EF4-FFF2-40B4-BE49-F238E27FC236}">
                <a16:creationId xmlns:a16="http://schemas.microsoft.com/office/drawing/2014/main" id="{D277465B-0ED7-4313-B369-FCEA3E1FA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622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1B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User Stories</a:t>
            </a:r>
          </a:p>
        </p:txBody>
      </p:sp>
      <p:sp>
        <p:nvSpPr>
          <p:cNvPr id="7" name="s8-stat-body-0">
            <a:extLst xmlns:a="http://schemas.openxmlformats.org/drawingml/2006/main">
              <a:ext uri="{FF2B5EF4-FFF2-40B4-BE49-F238E27FC236}">
                <a16:creationId xmlns:a16="http://schemas.microsoft.com/office/drawing/2014/main" id="{13262F73-80D8-40EC-9166-AFB16AF99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813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Toutes dotées de critères d’acceptation</a:t>
            </a:r>
          </a:p>
        </p:txBody>
      </p:sp>
      <p:sp>
        <p:nvSpPr>
          <p:cNvPr id="8" name="s8-stat-1">
            <a:extLst xmlns:a="http://schemas.openxmlformats.org/drawingml/2006/main">
              <a:ext uri="{FF2B5EF4-FFF2-40B4-BE49-F238E27FC236}">
                <a16:creationId xmlns:a16="http://schemas.microsoft.com/office/drawing/2014/main" id="{8B53481F-A6E1-479C-9035-7BC642B8A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1450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23,5 j</a:t>
            </a:r>
          </a:p>
        </p:txBody>
      </p:sp>
      <p:sp>
        <p:nvSpPr>
          <p:cNvPr id="9" name="s8-stat-title-1">
            <a:extLst xmlns:a="http://schemas.openxmlformats.org/drawingml/2006/main">
              <a:ext uri="{FF2B5EF4-FFF2-40B4-BE49-F238E27FC236}">
                <a16:creationId xmlns:a16="http://schemas.microsoft.com/office/drawing/2014/main" id="{BED43BDE-E3B5-4A51-BEA8-136297B5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622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1B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Charge de base</a:t>
            </a:r>
          </a:p>
        </p:txBody>
      </p:sp>
      <p:sp>
        <p:nvSpPr>
          <p:cNvPr id="10" name="s8-stat-body-1">
            <a:extLst xmlns:a="http://schemas.openxmlformats.org/drawingml/2006/main">
              <a:ext uri="{FF2B5EF4-FFF2-40B4-BE49-F238E27FC236}">
                <a16:creationId xmlns:a16="http://schemas.microsoft.com/office/drawing/2014/main" id="{2DEA8ECB-2EF4-435B-B062-D91A16ECD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813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Estimation en jours idéaux</a:t>
            </a:r>
          </a:p>
        </p:txBody>
      </p:sp>
      <p:sp>
        <p:nvSpPr>
          <p:cNvPr id="11" name="s8-stat-2">
            <a:extLst xmlns:a="http://schemas.openxmlformats.org/drawingml/2006/main">
              <a:ext uri="{FF2B5EF4-FFF2-40B4-BE49-F238E27FC236}">
                <a16:creationId xmlns:a16="http://schemas.microsoft.com/office/drawing/2014/main" id="{6A8D8F2D-1200-4E99-9F2C-94D92FBC1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71450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28 j</a:t>
            </a:r>
          </a:p>
        </p:txBody>
      </p:sp>
      <p:sp>
        <p:nvSpPr>
          <p:cNvPr id="12" name="s8-stat-title-2">
            <a:extLst xmlns:a="http://schemas.openxmlformats.org/drawingml/2006/main">
              <a:ext uri="{FF2B5EF4-FFF2-40B4-BE49-F238E27FC236}">
                <a16:creationId xmlns:a16="http://schemas.microsoft.com/office/drawing/2014/main" id="{A7C84670-04E1-40F8-9C54-C77C0DC1A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622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1B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Avec marge</a:t>
            </a:r>
          </a:p>
        </p:txBody>
      </p:sp>
      <p:sp>
        <p:nvSpPr>
          <p:cNvPr id="13" name="s8-stat-body-2">
            <a:extLst xmlns:a="http://schemas.openxmlformats.org/drawingml/2006/main">
              <a:ext uri="{FF2B5EF4-FFF2-40B4-BE49-F238E27FC236}">
                <a16:creationId xmlns:a16="http://schemas.microsoft.com/office/drawing/2014/main" id="{942F7550-FDF5-4116-8117-E8E3BE7A5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813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Enveloppe incluant 20 % d’aléas</a:t>
            </a:r>
          </a:p>
        </p:txBody>
      </p:sp>
      <p:sp>
        <p:nvSpPr>
          <p:cNvPr id="14" name="rule-56-368">
            <a:extLst xmlns:a="http://schemas.openxmlformats.org/drawingml/2006/main">
              <a:ext uri="{FF2B5EF4-FFF2-40B4-BE49-F238E27FC236}">
                <a16:creationId xmlns:a16="http://schemas.microsoft.com/office/drawing/2014/main" id="{77CBC4A2-787B-4CC0-9DBA-3537333A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052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plan-0">
            <a:extLst xmlns:a="http://schemas.openxmlformats.org/drawingml/2006/main">
              <a:ext uri="{FF2B5EF4-FFF2-40B4-BE49-F238E27FC236}">
                <a16:creationId xmlns:a16="http://schemas.microsoft.com/office/drawing/2014/main" id="{D9EF4A39-6926-4D3A-8CD6-A8F148FFF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67200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lan-1">
            <a:extLst xmlns:a="http://schemas.openxmlformats.org/drawingml/2006/main">
              <a:ext uri="{FF2B5EF4-FFF2-40B4-BE49-F238E27FC236}">
                <a16:creationId xmlns:a16="http://schemas.microsoft.com/office/drawing/2014/main" id="{5A9C6B61-3C2B-4587-AB36-9D6E91D26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267200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lan-2">
            <a:extLst xmlns:a="http://schemas.openxmlformats.org/drawingml/2006/main">
              <a:ext uri="{FF2B5EF4-FFF2-40B4-BE49-F238E27FC236}">
                <a16:creationId xmlns:a16="http://schemas.microsoft.com/office/drawing/2014/main" id="{280C4AF5-8384-4F38-AEC7-CC176F7F1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267200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1456A0"/>
            </a:solidFill>
            <a:prstDash val="solid"/>
          </a:ln>
        </p:spPr>
      </p:sp>
      <p:sp>
        <p:nvSpPr>
          <p:cNvPr id="18" name="plan-3">
            <a:extLst xmlns:a="http://schemas.openxmlformats.org/drawingml/2006/main">
              <a:ext uri="{FF2B5EF4-FFF2-40B4-BE49-F238E27FC236}">
                <a16:creationId xmlns:a16="http://schemas.microsoft.com/office/drawing/2014/main" id="{C8EEE827-EE19-4247-BF8D-F11FA3F0D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267200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1456A0"/>
            </a:solidFill>
            <a:prstDash val="solid"/>
          </a:ln>
        </p:spPr>
      </p:sp>
      <p:sp>
        <p:nvSpPr>
          <p:cNvPr id="19" name="plan-4">
            <a:extLst xmlns:a="http://schemas.openxmlformats.org/drawingml/2006/main">
              <a:ext uri="{FF2B5EF4-FFF2-40B4-BE49-F238E27FC236}">
                <a16:creationId xmlns:a16="http://schemas.microsoft.com/office/drawing/2014/main" id="{0F8B483F-3E43-4E5E-B64D-192B05A7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267200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1456A0"/>
            </a:solidFill>
            <a:prstDash val="solid"/>
          </a:ln>
        </p:spPr>
      </p:sp>
      <p:cxnSp>
        <p:nvCxnSpPr>
          <p:cNvPr id="51" name=""/>
          <p:cNvCxnSpPr>
            <a:stCxn xmlns:a="http://schemas.openxmlformats.org/drawingml/2006/main" id="16" idx="1"/>
            <a:endCxn xmlns:a="http://schemas.openxmlformats.org/drawingml/2006/main" id="15" idx="3"/>
          </p:cNvCxnSpPr>
          <p:nvPr/>
        </p:nvCxnSpPr>
        <p:spPr>
          <a:xfrm xmlns:a="http://schemas.openxmlformats.org/drawingml/2006/main" flipH="1">
            <a:off x="2343150" y="46196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56A0"/>
            </a:solidFill>
            <a:prstDash val="solid"/>
            <a:headEnd type="arrow" w="sm" len="sm"/>
          </a:ln>
        </p:spPr>
      </p:cxnSp>
      <p:cxnSp>
        <p:nvCxnSpPr>
          <p:cNvPr id="52" name=""/>
          <p:cNvCxnSpPr>
            <a:stCxn xmlns:a="http://schemas.openxmlformats.org/drawingml/2006/main" id="17" idx="1"/>
            <a:endCxn xmlns:a="http://schemas.openxmlformats.org/drawingml/2006/main" id="16" idx="3"/>
          </p:cNvCxnSpPr>
          <p:nvPr/>
        </p:nvCxnSpPr>
        <p:spPr>
          <a:xfrm xmlns:a="http://schemas.openxmlformats.org/drawingml/2006/main" flipH="1">
            <a:off x="4591050" y="46196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56A0"/>
            </a:solidFill>
            <a:prstDash val="solid"/>
            <a:headEnd type="arrow" w="sm" len="sm"/>
          </a:ln>
        </p:spPr>
      </p:cxnSp>
      <p:cxnSp>
        <p:nvCxnSpPr>
          <p:cNvPr id="53" name=""/>
          <p:cNvCxnSpPr>
            <a:stCxn xmlns:a="http://schemas.openxmlformats.org/drawingml/2006/main" id="18" idx="1"/>
            <a:endCxn xmlns:a="http://schemas.openxmlformats.org/drawingml/2006/main" id="17" idx="3"/>
          </p:cNvCxnSpPr>
          <p:nvPr/>
        </p:nvCxnSpPr>
        <p:spPr>
          <a:xfrm xmlns:a="http://schemas.openxmlformats.org/drawingml/2006/main" flipH="1">
            <a:off x="6838950" y="46196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56A0"/>
            </a:solidFill>
            <a:prstDash val="solid"/>
            <a:headEnd type="arrow" w="sm" len="sm"/>
          </a:ln>
        </p:spPr>
      </p:cxnSp>
      <p:cxnSp>
        <p:nvCxnSpPr>
          <p:cNvPr id="54" name=""/>
          <p:cNvCxnSpPr>
            <a:stCxn xmlns:a="http://schemas.openxmlformats.org/drawingml/2006/main" id="19" idx="1"/>
            <a:endCxn xmlns:a="http://schemas.openxmlformats.org/drawingml/2006/main" id="18" idx="3"/>
          </p:cNvCxnSpPr>
          <p:nvPr/>
        </p:nvCxnSpPr>
        <p:spPr>
          <a:xfrm xmlns:a="http://schemas.openxmlformats.org/drawingml/2006/main" flipH="1">
            <a:off x="9086850" y="46196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56A0"/>
            </a:solidFill>
            <a:prstDash val="solid"/>
            <a:headEnd type="arrow" w="sm" len="sm"/>
          </a:ln>
        </p:spPr>
      </p:cxnSp>
      <p:sp>
        <p:nvSpPr>
          <p:cNvPr id="24" name="plan-label-0">
            <a:extLst xmlns:a="http://schemas.openxmlformats.org/drawingml/2006/main">
              <a:ext uri="{FF2B5EF4-FFF2-40B4-BE49-F238E27FC236}">
                <a16:creationId xmlns:a16="http://schemas.microsoft.com/office/drawing/2014/main" id="{3FDCDEE8-3D05-4882-84F0-F92DC8FD8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67200"/>
            <a:ext cx="180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Comptes</a:t>
            </a:r>
          </a:p>
        </p:txBody>
      </p:sp>
      <p:sp>
        <p:nvSpPr>
          <p:cNvPr id="25" name="plan-label-1">
            <a:extLst xmlns:a="http://schemas.openxmlformats.org/drawingml/2006/main">
              <a:ext uri="{FF2B5EF4-FFF2-40B4-BE49-F238E27FC236}">
                <a16:creationId xmlns:a16="http://schemas.microsoft.com/office/drawing/2014/main" id="{66CB7D94-7FA5-4BFD-89D5-8FA12721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267200"/>
            <a:ext cx="180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Affectation</a:t>
            </a:r>
          </a:p>
        </p:txBody>
      </p:sp>
      <p:sp>
        <p:nvSpPr>
          <p:cNvPr id="26" name="plan-label-2">
            <a:extLst xmlns:a="http://schemas.openxmlformats.org/drawingml/2006/main">
              <a:ext uri="{FF2B5EF4-FFF2-40B4-BE49-F238E27FC236}">
                <a16:creationId xmlns:a16="http://schemas.microsoft.com/office/drawing/2014/main" id="{3CD19700-E1CD-49ED-9AC6-CEF45E77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267200"/>
            <a:ext cx="180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D1B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Socle d’accès</a:t>
            </a:r>
          </a:p>
        </p:txBody>
      </p:sp>
      <p:sp>
        <p:nvSpPr>
          <p:cNvPr id="27" name="plan-label-3">
            <a:extLst xmlns:a="http://schemas.openxmlformats.org/drawingml/2006/main">
              <a:ext uri="{FF2B5EF4-FFF2-40B4-BE49-F238E27FC236}">
                <a16:creationId xmlns:a16="http://schemas.microsoft.com/office/drawing/2014/main" id="{E1E0BB54-139B-4EEE-AA03-BF7A9E16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267200"/>
            <a:ext cx="180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D1B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3 flux en parallèle</a:t>
            </a:r>
          </a:p>
        </p:txBody>
      </p:sp>
      <p:sp>
        <p:nvSpPr>
          <p:cNvPr id="28" name="plan-label-4">
            <a:extLst xmlns:a="http://schemas.openxmlformats.org/drawingml/2006/main">
              <a:ext uri="{FF2B5EF4-FFF2-40B4-BE49-F238E27FC236}">
                <a16:creationId xmlns:a16="http://schemas.microsoft.com/office/drawing/2014/main" id="{E2855EA5-9C41-4A25-9795-027B6F8AA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267200"/>
            <a:ext cx="180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D1B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P1 + consolidation</a:t>
            </a:r>
          </a:p>
        </p:txBody>
      </p:sp>
      <p:sp>
        <p:nvSpPr>
          <p:cNvPr id="29" name="s8-parallel">
            <a:extLst xmlns:a="http://schemas.openxmlformats.org/drawingml/2006/main">
              <a:ext uri="{FF2B5EF4-FFF2-40B4-BE49-F238E27FC236}">
                <a16:creationId xmlns:a16="http://schemas.microsoft.com/office/drawing/2014/main" id="{553393AB-B6D1-44B7-81EC-FD96539D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1911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Messagerie · rendez-vous · tâches</a:t>
            </a:r>
          </a:p>
        </p:txBody>
      </p:sp>
      <p:sp>
        <p:nvSpPr>
          <p:cNvPr id="30" name="s8-team">
            <a:extLst xmlns:a="http://schemas.openxmlformats.org/drawingml/2006/main">
              <a:ext uri="{FF2B5EF4-FFF2-40B4-BE49-F238E27FC236}">
                <a16:creationId xmlns:a16="http://schemas.microsoft.com/office/drawing/2014/main" id="{88274FDA-B5A8-47EB-92D2-3554769D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62625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D1B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Équipe prévue : 2 développeurs back-end + 2 développeurs front-end</a:t>
            </a:r>
          </a:p>
        </p:txBody>
      </p:sp>
      <p:sp>
        <p:nvSpPr>
          <p:cNvPr id="31" name="source-m3vnz9">
            <a:extLst xmlns:a="http://schemas.openxmlformats.org/drawingml/2006/main">
              <a:ext uri="{FF2B5EF4-FFF2-40B4-BE49-F238E27FC236}">
                <a16:creationId xmlns:a16="http://schemas.microsoft.com/office/drawing/2014/main" id="{4349C523-7188-44DE-A485-525AF1E6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Source : Backlog Produit HomeSkolar · 17 User Stories · estimations et dépendances validées</a:t>
            </a:r>
          </a:p>
        </p:txBody>
      </p:sp>
    </p:spTree>
    <p:extLst>
      <p:ext uri="{BB962C8B-B14F-4D97-AF65-F5344CB8AC3E}">
        <p14:creationId xmlns:p14="http://schemas.microsoft.com/office/powerpoint/2010/main" val="4231991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D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9-kicker">
            <a:extLst xmlns:a="http://schemas.openxmlformats.org/drawingml/2006/main">
              <a:ext uri="{FF2B5EF4-FFF2-40B4-BE49-F238E27FC236}">
                <a16:creationId xmlns:a16="http://schemas.microsoft.com/office/drawing/2014/main" id="{6D233806-A89B-458E-BA2E-C6049A993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0EDF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0EDFA"/>
                </a:solidFill>
                <a:latin typeface="Arial"/>
                <a:ea typeface="Arial"/>
                <a:cs typeface="Arial"/>
              </a:rPr>
              <a:t>DÉCISION PROPOSÉE</a:t>
            </a:r>
          </a:p>
        </p:txBody>
      </p:sp>
      <p:sp>
        <p:nvSpPr>
          <p:cNvPr id="2" name="s9-title">
            <a:extLst xmlns:a="http://schemas.openxmlformats.org/drawingml/2006/main">
              <a:ext uri="{FF2B5EF4-FFF2-40B4-BE49-F238E27FC236}">
                <a16:creationId xmlns:a16="http://schemas.microsoft.com/office/drawing/2014/main" id="{C3A16BBF-8C99-418E-90A0-4BA343CA1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99060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462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Valider le cadrage et lancer le développement</a:t>
            </a:r>
          </a:p>
        </p:txBody>
      </p:sp>
      <p:sp>
        <p:nvSpPr>
          <p:cNvPr id="3" name="rule-56-334">
            <a:extLst xmlns:a="http://schemas.openxmlformats.org/drawingml/2006/main">
              <a:ext uri="{FF2B5EF4-FFF2-40B4-BE49-F238E27FC236}">
                <a16:creationId xmlns:a16="http://schemas.microsoft.com/office/drawing/2014/main" id="{A162DE37-DEFF-4B63-8DB6-36E03B90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8135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4" name="s9-check-0">
            <a:extLst xmlns:a="http://schemas.openxmlformats.org/drawingml/2006/main">
              <a:ext uri="{FF2B5EF4-FFF2-40B4-BE49-F238E27FC236}">
                <a16:creationId xmlns:a16="http://schemas.microsoft.com/office/drawing/2014/main" id="{7E6A4AF0-DA04-4852-95E9-BF79ADAD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338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9-checkmark-0">
            <a:extLst xmlns:a="http://schemas.openxmlformats.org/drawingml/2006/main">
              <a:ext uri="{FF2B5EF4-FFF2-40B4-BE49-F238E27FC236}">
                <a16:creationId xmlns:a16="http://schemas.microsoft.com/office/drawing/2014/main" id="{A3615BCB-959E-4032-97A7-8AA85E314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338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6" name="s9-text-0">
            <a:extLst xmlns:a="http://schemas.openxmlformats.org/drawingml/2006/main">
              <a:ext uri="{FF2B5EF4-FFF2-40B4-BE49-F238E27FC236}">
                <a16:creationId xmlns:a16="http://schemas.microsoft.com/office/drawing/2014/main" id="{04F06274-8738-499C-91D3-096E03D2E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1475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Le périmètre fonctionnel répond aux besoins exprimés par HomeSkolar.</a:t>
            </a:r>
          </a:p>
        </p:txBody>
      </p:sp>
      <p:sp>
        <p:nvSpPr>
          <p:cNvPr id="7" name="s9-check-1">
            <a:extLst xmlns:a="http://schemas.openxmlformats.org/drawingml/2006/main">
              <a:ext uri="{FF2B5EF4-FFF2-40B4-BE49-F238E27FC236}">
                <a16:creationId xmlns:a16="http://schemas.microsoft.com/office/drawing/2014/main" id="{48DD7EAD-1912-49A4-8135-D3ADA1123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196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9-checkmark-1">
            <a:extLst xmlns:a="http://schemas.openxmlformats.org/drawingml/2006/main">
              <a:ext uri="{FF2B5EF4-FFF2-40B4-BE49-F238E27FC236}">
                <a16:creationId xmlns:a16="http://schemas.microsoft.com/office/drawing/2014/main" id="{5AF72583-8AE6-4505-9715-4E68751A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196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9" name="s9-text-1">
            <a:extLst xmlns:a="http://schemas.openxmlformats.org/drawingml/2006/main">
              <a:ext uri="{FF2B5EF4-FFF2-40B4-BE49-F238E27FC236}">
                <a16:creationId xmlns:a16="http://schemas.microsoft.com/office/drawing/2014/main" id="{654BA492-4A2D-4CC4-A419-633DE324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0055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L’architecture Django est adaptée, sécurisée et proportionnée.</a:t>
            </a:r>
          </a:p>
        </p:txBody>
      </p:sp>
      <p:sp>
        <p:nvSpPr>
          <p:cNvPr id="10" name="s9-check-2">
            <a:extLst xmlns:a="http://schemas.openxmlformats.org/drawingml/2006/main">
              <a:ext uri="{FF2B5EF4-FFF2-40B4-BE49-F238E27FC236}">
                <a16:creationId xmlns:a16="http://schemas.microsoft.com/office/drawing/2014/main" id="{365A1491-E5A0-4421-9DD9-0526AE1BC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054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9-checkmark-2">
            <a:extLst xmlns:a="http://schemas.openxmlformats.org/drawingml/2006/main">
              <a:ext uri="{FF2B5EF4-FFF2-40B4-BE49-F238E27FC236}">
                <a16:creationId xmlns:a16="http://schemas.microsoft.com/office/drawing/2014/main" id="{943CD846-3562-4EA3-8BFD-8922E3854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054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2" name="s9-text-2">
            <a:extLst xmlns:a="http://schemas.openxmlformats.org/drawingml/2006/main">
              <a:ext uri="{FF2B5EF4-FFF2-40B4-BE49-F238E27FC236}">
                <a16:creationId xmlns:a16="http://schemas.microsoft.com/office/drawing/2014/main" id="{2CD49DFF-D10C-4AD1-91C2-D84D1141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8635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Le Backlog Produit est priorisé, estimé et ordonné pour l’équipe.</a:t>
            </a:r>
          </a:p>
        </p:txBody>
      </p:sp>
      <p:sp>
        <p:nvSpPr>
          <p:cNvPr id="13" name="s9-question">
            <a:extLst xmlns:a="http://schemas.openxmlformats.org/drawingml/2006/main">
              <a:ext uri="{FF2B5EF4-FFF2-40B4-BE49-F238E27FC236}">
                <a16:creationId xmlns:a16="http://schemas.microsoft.com/office/drawing/2014/main" id="{6A27B46F-226C-489A-8909-2ABA9F6E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388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0ED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0EDFA"/>
                </a:solidFill>
                <a:latin typeface="Arial"/>
                <a:ea typeface="Arial"/>
                <a:cs typeface="Arial"/>
              </a:rPr>
              <a:t>Thomas, confirmes-tu ce périmètre et cette orientation avant le démarrage ?</a:t>
            </a:r>
          </a:p>
        </p:txBody>
      </p:sp>
      <p:sp>
        <p:nvSpPr>
          <p:cNvPr id="14" name="s9-num">
            <a:extLst xmlns:a="http://schemas.openxmlformats.org/drawingml/2006/main">
              <a:ext uri="{FF2B5EF4-FFF2-40B4-BE49-F238E27FC236}">
                <a16:creationId xmlns:a16="http://schemas.microsoft.com/office/drawing/2014/main" id="{4AF89079-AFBA-450A-BAA7-ADCE57AEC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0EDF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D0EDF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512052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2026-07-19T22:08:04.7810000Z</dcterms:created>
  <dcterms:modified xsi:type="dcterms:W3CDTF">2026-07-19T22:08:04.7810000Z</dcterms:modified>
</coreProperties>
</file>
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2140249767a494d" /><Relationship Type="http://schemas.openxmlformats.org/officeDocument/2006/relationships/extended-properties" Target="/docProps/app.xml" Id="R1d0533a325954c17" /><Relationship Type="http://schemas.openxmlformats.org/officeDocument/2006/relationships/officeDocument" Target="/ppt/presentation.xml" Id="Rb0abce1e3d944de3" /></Relationships>
</file>

<file path=ppt/presentation.xml><?xml version="1.0" encoding="utf-8"?>
<p:presentation xmlns:p="http://schemas.openxmlformats.org/presentationml/2006/main">
  <p:sldMasterIdLst>
    <p:sldMasterId xmlns:r="http://schemas.openxmlformats.org/officeDocument/2006/relationships" id="2147483648" r:id="Rc908b3db6c5344a6"/>
  </p:sldMasterIdLst>
  <p:notesMasterIdLst>
    <p:notesMasterId xmlns:r="http://schemas.openxmlformats.org/officeDocument/2006/relationships" r:id="Reba0fb51220a410f"/>
  </p:notesMasterIdLst>
  <p:sldIdLst>
    <p:sldId xmlns:r="http://schemas.openxmlformats.org/officeDocument/2006/relationships" id="256" r:id="R6e198194c1f14e6d"/>
    <p:sldId xmlns:r="http://schemas.openxmlformats.org/officeDocument/2006/relationships" id="257" r:id="R59e2780799a9454b"/>
    <p:sldId xmlns:r="http://schemas.openxmlformats.org/officeDocument/2006/relationships" id="258" r:id="R0a950a1aa1ef48c5"/>
    <p:sldId xmlns:r="http://schemas.openxmlformats.org/officeDocument/2006/relationships" id="259" r:id="R9542be77c5904983"/>
    <p:sldId xmlns:r="http://schemas.openxmlformats.org/officeDocument/2006/relationships" id="260" r:id="Rc42ab0f684d64b4d"/>
    <p:sldId xmlns:r="http://schemas.openxmlformats.org/officeDocument/2006/relationships" id="261" r:id="R41e749b16d884bcb"/>
    <p:sldId xmlns:r="http://schemas.openxmlformats.org/officeDocument/2006/relationships" id="262" r:id="R463f1f5a312041bc"/>
    <p:sldId xmlns:r="http://schemas.openxmlformats.org/officeDocument/2006/relationships" id="263" r:id="Rb87c25c543c34c2d"/>
    <p:sldId xmlns:r="http://schemas.openxmlformats.org/officeDocument/2006/relationships" id="264" r:id="R78cd1a9aa6634145"/>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9bdaee72f894688" /><Relationship Type="http://schemas.openxmlformats.org/officeDocument/2006/relationships/slideMaster" Target="/ppt/slideMasters/slideMaster1.xml" Id="Rc908b3db6c5344a6" /><Relationship Type="http://schemas.openxmlformats.org/officeDocument/2006/relationships/notesMaster" Target="/ppt/notesMasters/notesMaster1.xml" Id="Reba0fb51220a410f" /><Relationship Type="http://schemas.openxmlformats.org/officeDocument/2006/relationships/presProps" Target="/ppt/presProps.xml" Id="R859ab6a0b2f64fcf" /><Relationship Type="http://schemas.openxmlformats.org/officeDocument/2006/relationships/tableStyles" Target="/ppt/tableStyles.xml" Id="Ree53faa46f554c66" /><Relationship Type="http://schemas.openxmlformats.org/officeDocument/2006/relationships/slide" Target="/ppt/slides/slide1.xml" Id="R6e198194c1f14e6d" /><Relationship Type="http://schemas.openxmlformats.org/officeDocument/2006/relationships/slide" Target="/ppt/slides/slide2.xml" Id="R59e2780799a9454b" /><Relationship Type="http://schemas.openxmlformats.org/officeDocument/2006/relationships/slide" Target="/ppt/slides/slide3.xml" Id="R0a950a1aa1ef48c5" /><Relationship Type="http://schemas.openxmlformats.org/officeDocument/2006/relationships/slide" Target="/ppt/slides/slide4.xml" Id="R9542be77c5904983" /><Relationship Type="http://schemas.openxmlformats.org/officeDocument/2006/relationships/slide" Target="/ppt/slides/slide5.xml" Id="Rc42ab0f684d64b4d" /><Relationship Type="http://schemas.openxmlformats.org/officeDocument/2006/relationships/slide" Target="/ppt/slides/slide6.xml" Id="R41e749b16d884bcb" /><Relationship Type="http://schemas.openxmlformats.org/officeDocument/2006/relationships/slide" Target="/ppt/slides/slide7.xml" Id="R463f1f5a312041bc" /><Relationship Type="http://schemas.openxmlformats.org/officeDocument/2006/relationships/slide" Target="/ppt/slides/slide8.xml" Id="Rb87c25c543c34c2d" /><Relationship Type="http://schemas.openxmlformats.org/officeDocument/2006/relationships/slide" Target="/ppt/slides/slide9.xml" Id="R78cd1a9aa663414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3abfa04235d480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d5996c6ea9845a9" /><Relationship Type="http://schemas.openxmlformats.org/officeDocument/2006/relationships/notesMaster" Target="/ppt/notesMasters/notesMaster1.xml" Id="R5dbfb7521c2446e1" /></Relationships>
</file>

<file path=ppt/notesSlides/_rels/notesSlide2.xml.rels>&#65279;<?xml version="1.0" encoding="utf-8"?><Relationships xmlns="http://schemas.openxmlformats.org/package/2006/relationships"><Relationship Type="http://schemas.openxmlformats.org/officeDocument/2006/relationships/slide" Target="/ppt/slides/slide2.xml" Id="R3c5aa0e2d5d9408f" /><Relationship Type="http://schemas.openxmlformats.org/officeDocument/2006/relationships/notesMaster" Target="/ppt/notesMasters/notesMaster1.xml" Id="Rcb3a99ac54054432" /></Relationships>
</file>

<file path=ppt/notesSlides/_rels/notesSlide3.xml.rels>&#65279;<?xml version="1.0" encoding="utf-8"?><Relationships xmlns="http://schemas.openxmlformats.org/package/2006/relationships"><Relationship Type="http://schemas.openxmlformats.org/officeDocument/2006/relationships/slide" Target="/ppt/slides/slide3.xml" Id="R4ff64f4359834748" /><Relationship Type="http://schemas.openxmlformats.org/officeDocument/2006/relationships/notesMaster" Target="/ppt/notesMasters/notesMaster1.xml" Id="Rf63b87306b2645b8" /></Relationships>
</file>

<file path=ppt/notesSlides/_rels/notesSlide4.xml.rels>&#65279;<?xml version="1.0" encoding="utf-8"?><Relationships xmlns="http://schemas.openxmlformats.org/package/2006/relationships"><Relationship Type="http://schemas.openxmlformats.org/officeDocument/2006/relationships/slide" Target="/ppt/slides/slide4.xml" Id="R7068600fd7f149eb" /><Relationship Type="http://schemas.openxmlformats.org/officeDocument/2006/relationships/notesMaster" Target="/ppt/notesMasters/notesMaster1.xml" Id="R81100a579dee49ae" /></Relationships>
</file>

<file path=ppt/notesSlides/_rels/notesSlide5.xml.rels>&#65279;<?xml version="1.0" encoding="utf-8"?><Relationships xmlns="http://schemas.openxmlformats.org/package/2006/relationships"><Relationship Type="http://schemas.openxmlformats.org/officeDocument/2006/relationships/slide" Target="/ppt/slides/slide5.xml" Id="R7022d7cb96ff4618" /><Relationship Type="http://schemas.openxmlformats.org/officeDocument/2006/relationships/notesMaster" Target="/ppt/notesMasters/notesMaster1.xml" Id="R0702fdf5c6524221" /></Relationships>
</file>

<file path=ppt/notesSlides/_rels/notesSlide6.xml.rels>&#65279;<?xml version="1.0" encoding="utf-8"?><Relationships xmlns="http://schemas.openxmlformats.org/package/2006/relationships"><Relationship Type="http://schemas.openxmlformats.org/officeDocument/2006/relationships/slide" Target="/ppt/slides/slide6.xml" Id="R221013b6389f4672" /><Relationship Type="http://schemas.openxmlformats.org/officeDocument/2006/relationships/notesMaster" Target="/ppt/notesMasters/notesMaster1.xml" Id="R9b13a5eab7374e6f" /></Relationships>
</file>

<file path=ppt/notesSlides/_rels/notesSlide7.xml.rels>&#65279;<?xml version="1.0" encoding="utf-8"?><Relationships xmlns="http://schemas.openxmlformats.org/package/2006/relationships"><Relationship Type="http://schemas.openxmlformats.org/officeDocument/2006/relationships/slide" Target="/ppt/slides/slide7.xml" Id="Reb5c4c9d54ad404c" /><Relationship Type="http://schemas.openxmlformats.org/officeDocument/2006/relationships/notesMaster" Target="/ppt/notesMasters/notesMaster1.xml" Id="R4bccc3d1d42a4532" /></Relationships>
</file>

<file path=ppt/notesSlides/_rels/notesSlide8.xml.rels>&#65279;<?xml version="1.0" encoding="utf-8"?><Relationships xmlns="http://schemas.openxmlformats.org/package/2006/relationships"><Relationship Type="http://schemas.openxmlformats.org/officeDocument/2006/relationships/slide" Target="/ppt/slides/slide8.xml" Id="R1081c46645fe446b" /><Relationship Type="http://schemas.openxmlformats.org/officeDocument/2006/relationships/notesMaster" Target="/ppt/notesMasters/notesMaster1.xml" Id="Ra76fe596010b4584" /></Relationships>
</file>

<file path=ppt/notesSlides/_rels/notesSlide9.xml.rels>&#65279;<?xml version="1.0" encoding="utf-8"?><Relationships xmlns="http://schemas.openxmlformats.org/package/2006/relationships"><Relationship Type="http://schemas.openxmlformats.org/officeDocument/2006/relationships/slide" Target="/ppt/slides/slide9.xml" Id="R6966b54585204c8f" /><Relationship Type="http://schemas.openxmlformats.org/officeDocument/2006/relationships/notesMaster" Target="/ppt/notesMasters/notesMaster1.xml" Id="R8fcc4dd8d15c4b2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Bonjour Thomas. L’objectif de cette réunion est de valider le cadrage de HomeSkolar avant que l’équipe ne commence le développement.</a:t>
            </a:r>
          </a:p>
          <a:p xmlns:a="http://schemas.openxmlformats.org/drawingml/2006/main">
            <a:r>
              <a:t>Je vais rester centré sur les éléments essentiels : contexte, fonctionnalités, choix techniques et planification.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Je propose de structurer la validation autour de trois points.</a:t>
            </a:r>
          </a:p>
          <a:p xmlns:a="http://schemas.openxmlformats.org/drawingml/2006/main">
            <a:r>
              <a:t>D’abord le périmètre fonctionnel, ensuite l’orientation technique, enfin l’ordre et l’effort de réalisation.</a:t>
            </a:r>
          </a:p>
          <a:p xmlns:a="http://schemas.openxmlformats.org/drawingml/2006/main">
            <a:r>
              <a:t>La décision attendue à la fin est l’autorisation de lancer le développement fonctionnel.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HomeSkolar est une association qui rapproche des élèves en difficulté scolaire et des tuteurs bénévoles.</a:t>
            </a:r>
          </a:p>
          <a:p xmlns:a="http://schemas.openxmlformats.org/drawingml/2006/main">
            <a:r>
              <a:t>Le produit ne cherche pas à gérer toute l’activité de l’association. Il doit soutenir la relation d’accompagnement entre un élève et son tuteur.</a:t>
            </a:r>
          </a:p>
          <a:p xmlns:a="http://schemas.openxmlformats.org/drawingml/2006/main">
            <a:r>
              <a:t>Le cadrage retient donc seulement deux rôles. Il n’ajoute ni administrateur métier, ni parent, ni responsable pédagogique.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périmètre est organisé autour de quatre usages.</a:t>
            </a:r>
          </a:p>
          <a:p xmlns:a="http://schemas.openxmlformats.org/drawingml/2006/main">
            <a:r>
              <a:t>Le compte et l’affectation forment le socle. La communication permet le suivi courant. Les rendez-vous structurent les rencontres. Les tâches et notes formalisent les actions entre deux échanges.</a:t>
            </a:r>
          </a:p>
          <a:p xmlns:a="http://schemas.openxmlformats.org/drawingml/2006/main">
            <a:r>
              <a:t>Les choix restent volontairement simples : messages texte sans pièce jointe, rendez-vous sans récurrence, tâches sans échéance ni priorité.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parcours commence par le compte, puis l’affectation d’un tuteur disponible. Si aucun tuteur n’est disponible, l’élève reste en attente et en est informé. Ces deux étapes rendent possibles les trois domaines de suivi.</a:t>
            </a:r>
          </a:p>
          <a:p xmlns:a="http://schemas.openxmlformats.org/drawingml/2006/main">
            <a:r>
              <a:t>Le périmètre exclut explicitement les fonctions qui ajouteraient de la complexité sans être demandées : recherche, pièces jointes, visioconférence, rappels, récurrence et historique d’affectation.</a:t>
            </a:r>
          </a:p>
          <a:p xmlns:a="http://schemas.openxmlformats.org/drawingml/2006/main">
            <a:r>
              <a:t>Ces exclusions sont importantes : elles évitent d’engager l’équipe sur des besoins non validés.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L’architecture retenue est un monolithe Python 3.14 avec Django 5.2 LTS.</a:t>
            </a:r>
          </a:p>
          <a:p xmlns:a="http://schemas.openxmlformats.org/drawingml/2006/main">
            <a:r>
              <a:t>Le navigateur reçoit des pages rendues par les gabarits Django et mises en forme avec Bootstrap. Django porte les règles métier, l’authentification et les autorisations. PostgreSQL 17 assure la persistance.</a:t>
            </a:r>
          </a:p>
          <a:p xmlns:a="http://schemas.openxmlformats.org/drawingml/2006/main">
            <a:r>
              <a:t>Le JavaScript reste limité aux interactions réellement asynchrones, en particulier la messagerie. Nous évitons une API publique et un front-end séparé qui n’apporteraient pas de valeur au périmètre actuel.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Cette pile est retenue pour trois raisons.</a:t>
            </a:r>
          </a:p>
          <a:p xmlns:a="http://schemas.openxmlformats.org/drawingml/2006/main">
            <a:r>
              <a:t>Elle simplifie la coordination de l’équipe, elle s’appuie sur les mécanismes de sécurité éprouvés de Django et elle reste maintenable grâce aux versions LTS, au découpage modulaire et aux tests.</a:t>
            </a:r>
          </a:p>
          <a:p xmlns:a="http://schemas.openxmlformats.org/drawingml/2006/main">
            <a:r>
              <a:t>Le point essentiel est l’adéquation au besoin : nous choisissons une solution suffisante et évolutive, sans surarchitecture.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Backlog Produit comporte 17 User Stories, toutes assorties de critères d’acceptation, d’une priorité et d’une estimation.</a:t>
            </a:r>
          </a:p>
          <a:p xmlns:a="http://schemas.openxmlformats.org/drawingml/2006/main">
            <a:r>
              <a:t>La charge de base est de 23,5 jours idéaux. Avec la marge de 20 %, l’enveloppe atteint 28 jours idéaux. Il ne s’agit pas encore d’un calendrier, car celui-ci dépendra de la capacité réelle de l’équipe.</a:t>
            </a:r>
          </a:p>
          <a:p xmlns:a="http://schemas.openxmlformats.org/drawingml/2006/main">
            <a:r>
              <a:t>L’ordre commence par les comptes et l’affectation. Une fois le socle d’accès disponible, messagerie, rendez-vous et tâches peuvent avancer en parallèle. L’équipe prévue compte deux développeurs back-end et deux front-end.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Pour conclure, les besoins du client sont traduits dans un périmètre fonctionnel précis, la solution technique est proportionnée et le Backlog Produit donne un ordre de réalisation exploitable.</a:t>
            </a:r>
          </a:p>
          <a:p xmlns:a="http://schemas.openxmlformats.org/drawingml/2006/main">
            <a:r>
              <a:t>Je te propose donc de valider ces trois éléments et d’autoriser le démarrage du développement fonctionnel.</a:t>
            </a:r>
          </a:p>
          <a:p xmlns:a="http://schemas.openxmlformats.org/drawingml/2006/main">
            <a:r>
              <a:t>Je termine par la question de validation : confirmes-tu le périmètre et l’orientation proposés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e76f8a682174fb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0588613b5ba447d" /><Relationship Type="http://schemas.openxmlformats.org/officeDocument/2006/relationships/slideLayout" Target="/ppt/slideLayouts/slideLayout1.xml" Id="R5f652063aa17405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f652063aa17405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45f6ced4131449c" /><Relationship Type="http://schemas.openxmlformats.org/officeDocument/2006/relationships/notesSlide" Target="/ppt/notesSlides/notesSlide1.xml" Id="Rcc4e655372bb4ac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b263765b84845a8" /><Relationship Type="http://schemas.openxmlformats.org/officeDocument/2006/relationships/notesSlide" Target="/ppt/notesSlides/notesSlide2.xml" Id="R551c70e371f4494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ccc14f71b77448b" /><Relationship Type="http://schemas.openxmlformats.org/officeDocument/2006/relationships/notesSlide" Target="/ppt/notesSlides/notesSlide3.xml" Id="Rcb3632c353bf470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381bfe628e649a1" /><Relationship Type="http://schemas.openxmlformats.org/officeDocument/2006/relationships/notesSlide" Target="/ppt/notesSlides/notesSlide4.xml" Id="R06abf099d99741e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691b25aef664b94" /><Relationship Type="http://schemas.openxmlformats.org/officeDocument/2006/relationships/notesSlide" Target="/ppt/notesSlides/notesSlide5.xml" Id="Rdc5c9a9e8b39403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8ea22e72982425c" /><Relationship Type="http://schemas.openxmlformats.org/officeDocument/2006/relationships/notesSlide" Target="/ppt/notesSlides/notesSlide6.xml" Id="R9f01df08d7a24fb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68033f4d91545a1" /><Relationship Type="http://schemas.openxmlformats.org/officeDocument/2006/relationships/notesSlide" Target="/ppt/notesSlides/notesSlide7.xml" Id="R848ad68e9fc642c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3f9146b1ae8489a" /><Relationship Type="http://schemas.openxmlformats.org/officeDocument/2006/relationships/notesSlide" Target="/ppt/notesSlides/notesSlide8.xml" Id="R5fc9cad32e7b460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853bddc751a4230" /><Relationship Type="http://schemas.openxmlformats.org/officeDocument/2006/relationships/notesSlide" Target="/ppt/notesSlides/notesSlide9.xml" Id="Re3dc6b9c69144c6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cover-accent">
            <a:extLst xmlns:a="http://schemas.openxmlformats.org/drawingml/2006/main">
              <a:ext uri="{FF2B5EF4-FFF2-40B4-BE49-F238E27FC236}">
                <a16:creationId xmlns:a16="http://schemas.microsoft.com/office/drawing/2014/main" id="{4E8FF136-79B1-4A61-8F0A-2CEA78828F0C}"/>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3D8DFF"/>
          </a:solidFill>
          <a:ln xmlns:a="http://schemas.openxmlformats.org/drawingml/2006/main" w="0">
            <a:noFill/>
            <a:prstDash val="solid"/>
          </a:ln>
        </p:spPr>
      </p:sp>
      <p:sp>
        <p:nvSpPr>
          <p:cNvPr id="2" name="cover-panel">
            <a:extLst xmlns:a="http://schemas.openxmlformats.org/drawingml/2006/main">
              <a:ext uri="{FF2B5EF4-FFF2-40B4-BE49-F238E27FC236}">
                <a16:creationId xmlns:a16="http://schemas.microsoft.com/office/drawing/2014/main" id="{EBB5DDC8-C6FF-4853-8095-CC90D114848E}"/>
              </a:ext>
            </a:extLst>
          </p:cNvPr>
          <p:cNvSpPr>
            <a:spLocks xmlns:a="http://schemas.openxmlformats.org/drawingml/2006/main" noGrp="1"/>
          </p:cNvSpPr>
          <p:nvPr/>
        </p:nvSpPr>
        <p:spPr>
          <a:xfrm xmlns:a="http://schemas.openxmlformats.org/drawingml/2006/main">
            <a:off x="8048625" y="0"/>
            <a:ext cx="4143375" cy="6858000"/>
          </a:xfrm>
          <a:prstGeom xmlns:a="http://schemas.openxmlformats.org/drawingml/2006/main" prst="rect">
            <a:avLst/>
          </a:prstGeom>
          <a:solidFill xmlns:a="http://schemas.openxmlformats.org/drawingml/2006/main">
            <a:srgbClr val="EAF2F8"/>
          </a:solidFill>
          <a:ln xmlns:a="http://schemas.openxmlformats.org/drawingml/2006/main" w="0">
            <a:noFill/>
            <a:prstDash val="solid"/>
          </a:ln>
        </p:spPr>
      </p:sp>
      <p:sp>
        <p:nvSpPr>
          <p:cNvPr id="3" name="cover-mark">
            <a:extLst xmlns:a="http://schemas.openxmlformats.org/drawingml/2006/main">
              <a:ext uri="{FF2B5EF4-FFF2-40B4-BE49-F238E27FC236}">
                <a16:creationId xmlns:a16="http://schemas.microsoft.com/office/drawing/2014/main" id="{B62978F2-8224-4464-9DF3-506B6A237324}"/>
              </a:ext>
            </a:extLst>
          </p:cNvPr>
          <p:cNvSpPr>
            <a:spLocks xmlns:a="http://schemas.openxmlformats.org/drawingml/2006/main" noGrp="1"/>
          </p:cNvSpPr>
          <p:nvPr/>
        </p:nvSpPr>
        <p:spPr>
          <a:xfrm xmlns:a="http://schemas.openxmlformats.org/drawingml/2006/main">
            <a:off x="8991600" y="1762125"/>
            <a:ext cx="2209800" cy="220980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4" name="cover-mark-text">
            <a:extLst xmlns:a="http://schemas.openxmlformats.org/drawingml/2006/main">
              <a:ext uri="{FF2B5EF4-FFF2-40B4-BE49-F238E27FC236}">
                <a16:creationId xmlns:a16="http://schemas.microsoft.com/office/drawing/2014/main" id="{835DCDAF-3CD8-47A5-89F7-61F8FE6F1091}"/>
              </a:ext>
            </a:extLst>
          </p:cNvPr>
          <p:cNvSpPr>
            <a:spLocks xmlns:a="http://schemas.openxmlformats.org/drawingml/2006/main" noGrp="1"/>
          </p:cNvSpPr>
          <p:nvPr/>
        </p:nvSpPr>
        <p:spPr>
          <a:xfrm xmlns:a="http://schemas.openxmlformats.org/drawingml/2006/main">
            <a:off x="8991600" y="1762125"/>
            <a:ext cx="2209800" cy="2209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6150" b="1">
                <a:solidFill>
                  <a:srgbClr val="FFFFFF"/>
                </a:solidFill>
                <a:latin typeface="Arial"/>
                <a:ea typeface="Arial"/>
                <a:cs typeface="Arial"/>
              </a:defRPr>
            </a:pPr>
            <a:r>
              <a:rPr sz="6150" b="1">
                <a:solidFill>
                  <a:srgbClr val="FFFFFF"/>
                </a:solidFill>
                <a:latin typeface="Arial"/>
                <a:ea typeface="Arial"/>
                <a:cs typeface="Arial"/>
              </a:rPr>
              <a:t>HS</a:t>
            </a:r>
          </a:p>
        </p:txBody>
      </p:sp>
      <p:sp>
        <p:nvSpPr>
          <p:cNvPr id="5" name="cover-kicker">
            <a:extLst xmlns:a="http://schemas.openxmlformats.org/drawingml/2006/main">
              <a:ext uri="{FF2B5EF4-FFF2-40B4-BE49-F238E27FC236}">
                <a16:creationId xmlns:a16="http://schemas.microsoft.com/office/drawing/2014/main" id="{AFE9F7CB-26C7-4590-BAD8-A245B43F7877}"/>
              </a:ext>
            </a:extLst>
          </p:cNvPr>
          <p:cNvSpPr>
            <a:spLocks xmlns:a="http://schemas.openxmlformats.org/drawingml/2006/main" noGrp="1"/>
          </p:cNvSpPr>
          <p:nvPr/>
        </p:nvSpPr>
        <p:spPr>
          <a:xfrm xmlns:a="http://schemas.openxmlformats.org/drawingml/2006/main">
            <a:off x="590550" y="533400"/>
            <a:ext cx="685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a:solidFill>
                  <a:srgbClr val="1456A0"/>
                </a:solidFill>
                <a:latin typeface="Arial"/>
                <a:ea typeface="Arial"/>
                <a:cs typeface="Arial"/>
              </a:defRPr>
            </a:pPr>
            <a:r>
              <a:rPr sz="1200" b="1">
                <a:solidFill>
                  <a:srgbClr val="1456A0"/>
                </a:solidFill>
                <a:latin typeface="Arial"/>
                <a:ea typeface="Arial"/>
                <a:cs typeface="Arial"/>
              </a:rPr>
              <a:t>RÉUNION DE VALIDATION AVANT DÉVELOPPEMENT</a:t>
            </a:r>
          </a:p>
        </p:txBody>
      </p:sp>
      <p:sp>
        <p:nvSpPr>
          <p:cNvPr id="6" name="cover-title">
            <a:extLst xmlns:a="http://schemas.openxmlformats.org/drawingml/2006/main">
              <a:ext uri="{FF2B5EF4-FFF2-40B4-BE49-F238E27FC236}">
                <a16:creationId xmlns:a16="http://schemas.microsoft.com/office/drawing/2014/main" id="{5E926ABD-036B-4694-A9EC-62B09677E0A7}"/>
              </a:ext>
            </a:extLst>
          </p:cNvPr>
          <p:cNvSpPr>
            <a:spLocks xmlns:a="http://schemas.openxmlformats.org/drawingml/2006/main" noGrp="1"/>
          </p:cNvSpPr>
          <p:nvPr/>
        </p:nvSpPr>
        <p:spPr>
          <a:xfrm xmlns:a="http://schemas.openxmlformats.org/drawingml/2006/main">
            <a:off x="590550" y="1733550"/>
            <a:ext cx="6858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5700" b="1">
                <a:solidFill>
                  <a:srgbClr val="0D1B2A"/>
                </a:solidFill>
                <a:latin typeface="Arial"/>
                <a:ea typeface="Arial"/>
                <a:cs typeface="Arial"/>
              </a:defRPr>
            </a:pPr>
            <a:r>
              <a:rPr sz="5700" b="1">
                <a:solidFill>
                  <a:srgbClr val="0D1B2A"/>
                </a:solidFill>
                <a:latin typeface="Arial"/>
                <a:ea typeface="Arial"/>
                <a:cs typeface="Arial"/>
              </a:rPr>
              <a:t>HomeSkolar</a:t>
            </a:r>
          </a:p>
        </p:txBody>
      </p:sp>
      <p:sp>
        <p:nvSpPr>
          <p:cNvPr id="7" name="cover-subtitle">
            <a:extLst xmlns:a="http://schemas.openxmlformats.org/drawingml/2006/main">
              <a:ext uri="{FF2B5EF4-FFF2-40B4-BE49-F238E27FC236}">
                <a16:creationId xmlns:a16="http://schemas.microsoft.com/office/drawing/2014/main" id="{43865359-58F5-45AF-A4CB-54D9FBF20451}"/>
              </a:ext>
            </a:extLst>
          </p:cNvPr>
          <p:cNvSpPr>
            <a:spLocks xmlns:a="http://schemas.openxmlformats.org/drawingml/2006/main" noGrp="1"/>
          </p:cNvSpPr>
          <p:nvPr/>
        </p:nvSpPr>
        <p:spPr>
          <a:xfrm xmlns:a="http://schemas.openxmlformats.org/drawingml/2006/main">
            <a:off x="590550" y="2762250"/>
            <a:ext cx="6572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550" b="0">
                <a:solidFill>
                  <a:srgbClr val="52606D"/>
                </a:solidFill>
                <a:latin typeface="Arial"/>
                <a:ea typeface="Arial"/>
                <a:cs typeface="Arial"/>
              </a:defRPr>
            </a:pPr>
            <a:r>
              <a:rPr sz="2550" b="0">
                <a:solidFill>
                  <a:srgbClr val="52606D"/>
                </a:solidFill>
                <a:latin typeface="Arial"/>
                <a:ea typeface="Arial"/>
                <a:cs typeface="Arial"/>
              </a:rPr>
              <a:t>Valider le cadrage, le périmètre et la planification</a:t>
            </a:r>
          </a:p>
        </p:txBody>
      </p:sp>
      <p:sp>
        <p:nvSpPr>
          <p:cNvPr id="8" name="rule-62-468">
            <a:extLst xmlns:a="http://schemas.openxmlformats.org/drawingml/2006/main">
              <a:ext uri="{FF2B5EF4-FFF2-40B4-BE49-F238E27FC236}">
                <a16:creationId xmlns:a16="http://schemas.microsoft.com/office/drawing/2014/main" id="{DFCE0FC3-F90A-4683-B01A-252042F671F1}"/>
              </a:ext>
            </a:extLst>
          </p:cNvPr>
          <p:cNvSpPr>
            <a:spLocks xmlns:a="http://schemas.openxmlformats.org/drawingml/2006/main" noGrp="1"/>
          </p:cNvSpPr>
          <p:nvPr/>
        </p:nvSpPr>
        <p:spPr>
          <a:xfrm xmlns:a="http://schemas.openxmlformats.org/drawingml/2006/main">
            <a:off x="590550" y="4457700"/>
            <a:ext cx="5905500" cy="0"/>
          </a:xfrm>
          <a:prstGeom xmlns:a="http://schemas.openxmlformats.org/drawingml/2006/main" prst="line">
            <a:avLst/>
          </a:prstGeom>
          <a:noFill xmlns:a="http://schemas.openxmlformats.org/drawingml/2006/main"/>
          <a:ln xmlns:a="http://schemas.openxmlformats.org/drawingml/2006/main" w="38100">
            <a:solidFill>
              <a:srgbClr val="3D8DFF"/>
            </a:solidFill>
            <a:prstDash val="solid"/>
          </a:ln>
        </p:spPr>
      </p:sp>
      <p:sp>
        <p:nvSpPr>
          <p:cNvPr id="9" name="cover-meta">
            <a:extLst xmlns:a="http://schemas.openxmlformats.org/drawingml/2006/main">
              <a:ext uri="{FF2B5EF4-FFF2-40B4-BE49-F238E27FC236}">
                <a16:creationId xmlns:a16="http://schemas.microsoft.com/office/drawing/2014/main" id="{7BF7E413-91F3-431E-85A9-6B5FD779C0DB}"/>
              </a:ext>
            </a:extLst>
          </p:cNvPr>
          <p:cNvSpPr>
            <a:spLocks xmlns:a="http://schemas.openxmlformats.org/drawingml/2006/main" noGrp="1"/>
          </p:cNvSpPr>
          <p:nvPr/>
        </p:nvSpPr>
        <p:spPr>
          <a:xfrm xmlns:a="http://schemas.openxmlformats.org/drawingml/2006/main">
            <a:off x="590550" y="4762500"/>
            <a:ext cx="5905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a:solidFill>
                  <a:srgbClr val="0D1B2A"/>
                </a:solidFill>
                <a:latin typeface="Arial"/>
                <a:ea typeface="Arial"/>
                <a:cs typeface="Arial"/>
              </a:defRPr>
            </a:pPr>
            <a:r>
              <a:rPr sz="1650" b="0">
                <a:solidFill>
                  <a:srgbClr val="0D1B2A"/>
                </a:solidFill>
                <a:latin typeface="Arial"/>
                <a:ea typeface="Arial"/>
                <a:cs typeface="Arial"/>
              </a:rPr>
              <a:t>Présentation à Thomas</a:t>
            </a:r>
          </a:p>
          <a:p xmlns:a="http://schemas.openxmlformats.org/drawingml/2006/main">
            <a:pPr algn="l">
              <a:defRPr sz="1650" b="0">
                <a:solidFill>
                  <a:srgbClr val="0D1B2A"/>
                </a:solidFill>
                <a:latin typeface="Arial"/>
                <a:ea typeface="Arial"/>
                <a:cs typeface="Arial"/>
              </a:defRPr>
            </a:pPr>
            <a:r>
              <a:rPr sz="1650" b="0">
                <a:solidFill>
                  <a:srgbClr val="0D1B2A"/>
                </a:solidFill>
                <a:latin typeface="Arial"/>
                <a:ea typeface="Arial"/>
                <a:cs typeface="Arial"/>
              </a:rPr>
              <a:t>Fabien Hummel · Juillet 2026</a:t>
            </a:r>
          </a:p>
        </p:txBody>
      </p:sp>
    </p:spTree>
    <p:extLst>
      <p:ext uri="{BB962C8B-B14F-4D97-AF65-F5344CB8AC3E}">
        <p14:creationId xmlns:p14="http://schemas.microsoft.com/office/powerpoint/2010/main" val="200793654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kicker-2">
            <a:extLst xmlns:a="http://schemas.openxmlformats.org/drawingml/2006/main">
              <a:ext uri="{FF2B5EF4-FFF2-40B4-BE49-F238E27FC236}">
                <a16:creationId xmlns:a16="http://schemas.microsoft.com/office/drawing/2014/main" id="{72C49A16-3A9D-477F-B54D-690A4BCFEF4E}"/>
              </a:ext>
            </a:extLst>
          </p:cNvPr>
          <p:cNvSpPr>
            <a:spLocks xmlns:a="http://schemas.openxmlformats.org/drawingml/2006/main" noGrp="1"/>
          </p:cNvSpPr>
          <p:nvPr/>
        </p:nvSpPr>
        <p:spPr>
          <a:xfrm xmlns:a="http://schemas.openxmlformats.org/drawingml/2006/main">
            <a:off x="533400" y="304800"/>
            <a:ext cx="590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1456A0"/>
                </a:solidFill>
                <a:latin typeface="Arial"/>
                <a:ea typeface="Arial"/>
                <a:cs typeface="Arial"/>
              </a:defRPr>
            </a:pPr>
            <a:r>
              <a:rPr sz="1050" b="1">
                <a:solidFill>
                  <a:srgbClr val="1456A0"/>
                </a:solidFill>
                <a:latin typeface="Arial"/>
                <a:ea typeface="Arial"/>
                <a:cs typeface="Arial"/>
              </a:rPr>
              <a:t>HOMESKOLAR · VALIDATION DU CADRAGE</a:t>
            </a:r>
          </a:p>
        </p:txBody>
      </p:sp>
      <p:sp>
        <p:nvSpPr>
          <p:cNvPr id="2" name="title-2">
            <a:extLst xmlns:a="http://schemas.openxmlformats.org/drawingml/2006/main">
              <a:ext uri="{FF2B5EF4-FFF2-40B4-BE49-F238E27FC236}">
                <a16:creationId xmlns:a16="http://schemas.microsoft.com/office/drawing/2014/main" id="{C45DC0BE-0B77-46C0-862E-2E88A9109FDF}"/>
              </a:ext>
            </a:extLst>
          </p:cNvPr>
          <p:cNvSpPr>
            <a:spLocks xmlns:a="http://schemas.openxmlformats.org/drawingml/2006/main" noGrp="1"/>
          </p:cNvSpPr>
          <p:nvPr/>
        </p:nvSpPr>
        <p:spPr>
          <a:xfrm xmlns:a="http://schemas.openxmlformats.org/drawingml/2006/main">
            <a:off x="533400" y="628650"/>
            <a:ext cx="11125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3600" b="1">
                <a:solidFill>
                  <a:srgbClr val="0D1B2A"/>
                </a:solidFill>
                <a:latin typeface="Arial"/>
                <a:ea typeface="Arial"/>
                <a:cs typeface="Arial"/>
              </a:defRPr>
            </a:pPr>
            <a:r>
              <a:rPr sz="3600" b="1">
                <a:solidFill>
                  <a:srgbClr val="0D1B2A"/>
                </a:solidFill>
                <a:latin typeface="Arial"/>
                <a:ea typeface="Arial"/>
                <a:cs typeface="Arial"/>
              </a:rPr>
              <a:t>Le cadrage est prêt à être validé</a:t>
            </a:r>
          </a:p>
        </p:txBody>
      </p:sp>
      <p:sp>
        <p:nvSpPr>
          <p:cNvPr id="3" name="rule-56-142">
            <a:extLst xmlns:a="http://schemas.openxmlformats.org/drawingml/2006/main">
              <a:ext uri="{FF2B5EF4-FFF2-40B4-BE49-F238E27FC236}">
                <a16:creationId xmlns:a16="http://schemas.microsoft.com/office/drawing/2014/main" id="{9C01ABD6-F13A-4551-BEE0-71509E861892}"/>
              </a:ext>
            </a:extLst>
          </p:cNvPr>
          <p:cNvSpPr>
            <a:spLocks xmlns:a="http://schemas.openxmlformats.org/drawingml/2006/main" noGrp="1"/>
          </p:cNvSpPr>
          <p:nvPr/>
        </p:nvSpPr>
        <p:spPr>
          <a:xfrm xmlns:a="http://schemas.openxmlformats.org/drawingml/2006/main">
            <a:off x="533400" y="1352550"/>
            <a:ext cx="111252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4" name="number-2">
            <a:extLst xmlns:a="http://schemas.openxmlformats.org/drawingml/2006/main">
              <a:ext uri="{FF2B5EF4-FFF2-40B4-BE49-F238E27FC236}">
                <a16:creationId xmlns:a16="http://schemas.microsoft.com/office/drawing/2014/main" id="{CC963815-99BF-46BD-88E0-88D992AD6970}"/>
              </a:ext>
            </a:extLst>
          </p:cNvPr>
          <p:cNvSpPr>
            <a:spLocks xmlns:a="http://schemas.openxmlformats.org/drawingml/2006/main" noGrp="1"/>
          </p:cNvSpPr>
          <p:nvPr/>
        </p:nvSpPr>
        <p:spPr>
          <a:xfrm xmlns:a="http://schemas.openxmlformats.org/drawingml/2006/main">
            <a:off x="11220450" y="64389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a:solidFill>
                  <a:srgbClr val="52606D"/>
                </a:solidFill>
                <a:latin typeface="Arial"/>
                <a:ea typeface="Arial"/>
                <a:cs typeface="Arial"/>
              </a:defRPr>
            </a:pPr>
            <a:r>
              <a:rPr sz="900" b="0">
                <a:solidFill>
                  <a:srgbClr val="52606D"/>
                </a:solidFill>
                <a:latin typeface="Arial"/>
                <a:ea typeface="Arial"/>
                <a:cs typeface="Arial"/>
              </a:rPr>
              <a:t>02</a:t>
            </a:r>
          </a:p>
        </p:txBody>
      </p:sp>
      <p:sp>
        <p:nvSpPr>
          <p:cNvPr id="5" name="s2-lead">
            <a:extLst xmlns:a="http://schemas.openxmlformats.org/drawingml/2006/main">
              <a:ext uri="{FF2B5EF4-FFF2-40B4-BE49-F238E27FC236}">
                <a16:creationId xmlns:a16="http://schemas.microsoft.com/office/drawing/2014/main" id="{FC59408A-214E-41D7-9299-D6BD90B15D87}"/>
              </a:ext>
            </a:extLst>
          </p:cNvPr>
          <p:cNvSpPr>
            <a:spLocks xmlns:a="http://schemas.openxmlformats.org/drawingml/2006/main" noGrp="1"/>
          </p:cNvSpPr>
          <p:nvPr/>
        </p:nvSpPr>
        <p:spPr>
          <a:xfrm xmlns:a="http://schemas.openxmlformats.org/drawingml/2006/main">
            <a:off x="533400" y="1638300"/>
            <a:ext cx="10287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950" b="0">
                <a:solidFill>
                  <a:srgbClr val="52606D"/>
                </a:solidFill>
                <a:latin typeface="Arial"/>
                <a:ea typeface="Arial"/>
                <a:cs typeface="Arial"/>
              </a:defRPr>
            </a:pPr>
            <a:r>
              <a:rPr sz="1950" b="0">
                <a:solidFill>
                  <a:srgbClr val="52606D"/>
                </a:solidFill>
                <a:latin typeface="Arial"/>
                <a:ea typeface="Arial"/>
                <a:cs typeface="Arial"/>
              </a:rPr>
              <a:t>La réunion doit permettre de confirmer trois décisions avant d’engager l’équipe.</a:t>
            </a:r>
          </a:p>
        </p:txBody>
      </p:sp>
      <p:sp>
        <p:nvSpPr>
          <p:cNvPr id="6" name="s2-num-0">
            <a:extLst xmlns:a="http://schemas.openxmlformats.org/drawingml/2006/main">
              <a:ext uri="{FF2B5EF4-FFF2-40B4-BE49-F238E27FC236}">
                <a16:creationId xmlns:a16="http://schemas.microsoft.com/office/drawing/2014/main" id="{51975617-E83B-45BE-83E5-76890A9E8342}"/>
              </a:ext>
            </a:extLst>
          </p:cNvPr>
          <p:cNvSpPr>
            <a:spLocks xmlns:a="http://schemas.openxmlformats.org/drawingml/2006/main" noGrp="1"/>
          </p:cNvSpPr>
          <p:nvPr/>
        </p:nvSpPr>
        <p:spPr>
          <a:xfrm xmlns:a="http://schemas.openxmlformats.org/drawingml/2006/main">
            <a:off x="533400" y="2552700"/>
            <a:ext cx="857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550" b="1">
                <a:solidFill>
                  <a:srgbClr val="3D8DFF"/>
                </a:solidFill>
                <a:latin typeface="Arial"/>
                <a:ea typeface="Arial"/>
                <a:cs typeface="Arial"/>
              </a:defRPr>
            </a:pPr>
            <a:r>
              <a:rPr sz="2550" b="1">
                <a:solidFill>
                  <a:srgbClr val="3D8DFF"/>
                </a:solidFill>
                <a:latin typeface="Arial"/>
                <a:ea typeface="Arial"/>
                <a:cs typeface="Arial"/>
              </a:rPr>
              <a:t>01</a:t>
            </a:r>
          </a:p>
        </p:txBody>
      </p:sp>
      <p:sp>
        <p:nvSpPr>
          <p:cNvPr id="7" name="s2-head-0">
            <a:extLst xmlns:a="http://schemas.openxmlformats.org/drawingml/2006/main">
              <a:ext uri="{FF2B5EF4-FFF2-40B4-BE49-F238E27FC236}">
                <a16:creationId xmlns:a16="http://schemas.microsoft.com/office/drawing/2014/main" id="{917B220A-8605-46B5-AE08-0F4280D1D549}"/>
              </a:ext>
            </a:extLst>
          </p:cNvPr>
          <p:cNvSpPr>
            <a:spLocks xmlns:a="http://schemas.openxmlformats.org/drawingml/2006/main" noGrp="1"/>
          </p:cNvSpPr>
          <p:nvPr/>
        </p:nvSpPr>
        <p:spPr>
          <a:xfrm xmlns:a="http://schemas.openxmlformats.org/drawingml/2006/main">
            <a:off x="533400" y="3190875"/>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D1B2A"/>
                </a:solidFill>
                <a:latin typeface="Arial"/>
                <a:ea typeface="Arial"/>
                <a:cs typeface="Arial"/>
              </a:defRPr>
            </a:pPr>
            <a:r>
              <a:rPr sz="2250" b="1">
                <a:solidFill>
                  <a:srgbClr val="0D1B2A"/>
                </a:solidFill>
                <a:latin typeface="Arial"/>
                <a:ea typeface="Arial"/>
                <a:cs typeface="Arial"/>
              </a:rPr>
              <a:t>Périmètre</a:t>
            </a:r>
          </a:p>
        </p:txBody>
      </p:sp>
      <p:sp>
        <p:nvSpPr>
          <p:cNvPr id="8" name="s2-body-0">
            <a:extLst xmlns:a="http://schemas.openxmlformats.org/drawingml/2006/main">
              <a:ext uri="{FF2B5EF4-FFF2-40B4-BE49-F238E27FC236}">
                <a16:creationId xmlns:a16="http://schemas.microsoft.com/office/drawing/2014/main" id="{C2DC1AA5-98EA-4724-B6CA-46817D4133DE}"/>
              </a:ext>
            </a:extLst>
          </p:cNvPr>
          <p:cNvSpPr>
            <a:spLocks xmlns:a="http://schemas.openxmlformats.org/drawingml/2006/main" noGrp="1"/>
          </p:cNvSpPr>
          <p:nvPr/>
        </p:nvSpPr>
        <p:spPr>
          <a:xfrm xmlns:a="http://schemas.openxmlformats.org/drawingml/2006/main">
            <a:off x="533400" y="3857625"/>
            <a:ext cx="314325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725" b="0">
                <a:solidFill>
                  <a:srgbClr val="52606D"/>
                </a:solidFill>
                <a:latin typeface="Arial"/>
                <a:ea typeface="Arial"/>
                <a:cs typeface="Arial"/>
              </a:defRPr>
            </a:pPr>
            <a:r>
              <a:rPr sz="1725" b="0">
                <a:solidFill>
                  <a:srgbClr val="52606D"/>
                </a:solidFill>
                <a:latin typeface="Arial"/>
                <a:ea typeface="Arial"/>
                <a:cs typeface="Arial"/>
              </a:rPr>
              <a:t>Deux acteurs et quatre grands usages, sans fonctions périphériques.</a:t>
            </a:r>
          </a:p>
        </p:txBody>
      </p:sp>
      <p:sp>
        <p:nvSpPr>
          <p:cNvPr id="9" name="rule-428-272">
            <a:extLst xmlns:a="http://schemas.openxmlformats.org/drawingml/2006/main">
              <a:ext uri="{FF2B5EF4-FFF2-40B4-BE49-F238E27FC236}">
                <a16:creationId xmlns:a16="http://schemas.microsoft.com/office/drawing/2014/main" id="{E4AEBAE6-4F0B-4E9C-801B-C1AB0AC26318}"/>
              </a:ext>
            </a:extLst>
          </p:cNvPr>
          <p:cNvSpPr>
            <a:spLocks xmlns:a="http://schemas.openxmlformats.org/drawingml/2006/main" noGrp="1"/>
          </p:cNvSpPr>
          <p:nvPr/>
        </p:nvSpPr>
        <p:spPr>
          <a:xfrm xmlns:a="http://schemas.openxmlformats.org/drawingml/2006/main">
            <a:off x="4076700" y="2590800"/>
            <a:ext cx="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0" name="s2-num-1">
            <a:extLst xmlns:a="http://schemas.openxmlformats.org/drawingml/2006/main">
              <a:ext uri="{FF2B5EF4-FFF2-40B4-BE49-F238E27FC236}">
                <a16:creationId xmlns:a16="http://schemas.microsoft.com/office/drawing/2014/main" id="{3D407278-D875-40D7-8104-6342E5A427CB}"/>
              </a:ext>
            </a:extLst>
          </p:cNvPr>
          <p:cNvSpPr>
            <a:spLocks xmlns:a="http://schemas.openxmlformats.org/drawingml/2006/main" noGrp="1"/>
          </p:cNvSpPr>
          <p:nvPr/>
        </p:nvSpPr>
        <p:spPr>
          <a:xfrm xmlns:a="http://schemas.openxmlformats.org/drawingml/2006/main">
            <a:off x="4343400" y="2552700"/>
            <a:ext cx="857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550" b="1">
                <a:solidFill>
                  <a:srgbClr val="3D8DFF"/>
                </a:solidFill>
                <a:latin typeface="Arial"/>
                <a:ea typeface="Arial"/>
                <a:cs typeface="Arial"/>
              </a:defRPr>
            </a:pPr>
            <a:r>
              <a:rPr sz="2550" b="1">
                <a:solidFill>
                  <a:srgbClr val="3D8DFF"/>
                </a:solidFill>
                <a:latin typeface="Arial"/>
                <a:ea typeface="Arial"/>
                <a:cs typeface="Arial"/>
              </a:rPr>
              <a:t>02</a:t>
            </a:r>
          </a:p>
        </p:txBody>
      </p:sp>
      <p:sp>
        <p:nvSpPr>
          <p:cNvPr id="11" name="s2-head-1">
            <a:extLst xmlns:a="http://schemas.openxmlformats.org/drawingml/2006/main">
              <a:ext uri="{FF2B5EF4-FFF2-40B4-BE49-F238E27FC236}">
                <a16:creationId xmlns:a16="http://schemas.microsoft.com/office/drawing/2014/main" id="{F1D3E507-6B67-4DBD-A701-ED33AA3FF0D1}"/>
              </a:ext>
            </a:extLst>
          </p:cNvPr>
          <p:cNvSpPr>
            <a:spLocks xmlns:a="http://schemas.openxmlformats.org/drawingml/2006/main" noGrp="1"/>
          </p:cNvSpPr>
          <p:nvPr/>
        </p:nvSpPr>
        <p:spPr>
          <a:xfrm xmlns:a="http://schemas.openxmlformats.org/drawingml/2006/main">
            <a:off x="4343400" y="3190875"/>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D1B2A"/>
                </a:solidFill>
                <a:latin typeface="Arial"/>
                <a:ea typeface="Arial"/>
                <a:cs typeface="Arial"/>
              </a:defRPr>
            </a:pPr>
            <a:r>
              <a:rPr sz="2250" b="1">
                <a:solidFill>
                  <a:srgbClr val="0D1B2A"/>
                </a:solidFill>
                <a:latin typeface="Arial"/>
                <a:ea typeface="Arial"/>
                <a:cs typeface="Arial"/>
              </a:rPr>
              <a:t>Solution</a:t>
            </a:r>
          </a:p>
        </p:txBody>
      </p:sp>
      <p:sp>
        <p:nvSpPr>
          <p:cNvPr id="12" name="s2-body-1">
            <a:extLst xmlns:a="http://schemas.openxmlformats.org/drawingml/2006/main">
              <a:ext uri="{FF2B5EF4-FFF2-40B4-BE49-F238E27FC236}">
                <a16:creationId xmlns:a16="http://schemas.microsoft.com/office/drawing/2014/main" id="{E6E1AC67-8C92-42CB-8161-C6316D6CA62B}"/>
              </a:ext>
            </a:extLst>
          </p:cNvPr>
          <p:cNvSpPr>
            <a:spLocks xmlns:a="http://schemas.openxmlformats.org/drawingml/2006/main" noGrp="1"/>
          </p:cNvSpPr>
          <p:nvPr/>
        </p:nvSpPr>
        <p:spPr>
          <a:xfrm xmlns:a="http://schemas.openxmlformats.org/drawingml/2006/main">
            <a:off x="4343400" y="3857625"/>
            <a:ext cx="314325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725" b="0">
                <a:solidFill>
                  <a:srgbClr val="52606D"/>
                </a:solidFill>
                <a:latin typeface="Arial"/>
                <a:ea typeface="Arial"/>
                <a:cs typeface="Arial"/>
              </a:defRPr>
            </a:pPr>
            <a:r>
              <a:rPr sz="1725" b="0">
                <a:solidFill>
                  <a:srgbClr val="52606D"/>
                </a:solidFill>
                <a:latin typeface="Arial"/>
                <a:ea typeface="Arial"/>
                <a:cs typeface="Arial"/>
              </a:rPr>
              <a:t>Une application web Django monolithique, simple à construire et maintenir.</a:t>
            </a:r>
          </a:p>
        </p:txBody>
      </p:sp>
      <p:sp>
        <p:nvSpPr>
          <p:cNvPr id="13" name="rule-828-272">
            <a:extLst xmlns:a="http://schemas.openxmlformats.org/drawingml/2006/main">
              <a:ext uri="{FF2B5EF4-FFF2-40B4-BE49-F238E27FC236}">
                <a16:creationId xmlns:a16="http://schemas.microsoft.com/office/drawing/2014/main" id="{09AFA972-E745-4D5D-98BF-2CF2DA445E31}"/>
              </a:ext>
            </a:extLst>
          </p:cNvPr>
          <p:cNvSpPr>
            <a:spLocks xmlns:a="http://schemas.openxmlformats.org/drawingml/2006/main" noGrp="1"/>
          </p:cNvSpPr>
          <p:nvPr/>
        </p:nvSpPr>
        <p:spPr>
          <a:xfrm xmlns:a="http://schemas.openxmlformats.org/drawingml/2006/main">
            <a:off x="7886700" y="2590800"/>
            <a:ext cx="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4" name="s2-num-2">
            <a:extLst xmlns:a="http://schemas.openxmlformats.org/drawingml/2006/main">
              <a:ext uri="{FF2B5EF4-FFF2-40B4-BE49-F238E27FC236}">
                <a16:creationId xmlns:a16="http://schemas.microsoft.com/office/drawing/2014/main" id="{B74E813D-430C-43EE-9834-3F544A107F29}"/>
              </a:ext>
            </a:extLst>
          </p:cNvPr>
          <p:cNvSpPr>
            <a:spLocks xmlns:a="http://schemas.openxmlformats.org/drawingml/2006/main" noGrp="1"/>
          </p:cNvSpPr>
          <p:nvPr/>
        </p:nvSpPr>
        <p:spPr>
          <a:xfrm xmlns:a="http://schemas.openxmlformats.org/drawingml/2006/main">
            <a:off x="8153400" y="2552700"/>
            <a:ext cx="857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550" b="1">
                <a:solidFill>
                  <a:srgbClr val="3D8DFF"/>
                </a:solidFill>
                <a:latin typeface="Arial"/>
                <a:ea typeface="Arial"/>
                <a:cs typeface="Arial"/>
              </a:defRPr>
            </a:pPr>
            <a:r>
              <a:rPr sz="2550" b="1">
                <a:solidFill>
                  <a:srgbClr val="3D8DFF"/>
                </a:solidFill>
                <a:latin typeface="Arial"/>
                <a:ea typeface="Arial"/>
                <a:cs typeface="Arial"/>
              </a:rPr>
              <a:t>03</a:t>
            </a:r>
          </a:p>
        </p:txBody>
      </p:sp>
      <p:sp>
        <p:nvSpPr>
          <p:cNvPr id="15" name="s2-head-2">
            <a:extLst xmlns:a="http://schemas.openxmlformats.org/drawingml/2006/main">
              <a:ext uri="{FF2B5EF4-FFF2-40B4-BE49-F238E27FC236}">
                <a16:creationId xmlns:a16="http://schemas.microsoft.com/office/drawing/2014/main" id="{1581C16F-FE80-4379-9C05-057B69CB9B42}"/>
              </a:ext>
            </a:extLst>
          </p:cNvPr>
          <p:cNvSpPr>
            <a:spLocks xmlns:a="http://schemas.openxmlformats.org/drawingml/2006/main" noGrp="1"/>
          </p:cNvSpPr>
          <p:nvPr/>
        </p:nvSpPr>
        <p:spPr>
          <a:xfrm xmlns:a="http://schemas.openxmlformats.org/drawingml/2006/main">
            <a:off x="8153400" y="3190875"/>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0D1B2A"/>
                </a:solidFill>
                <a:latin typeface="Arial"/>
                <a:ea typeface="Arial"/>
                <a:cs typeface="Arial"/>
              </a:defRPr>
            </a:pPr>
            <a:r>
              <a:rPr sz="2250" b="1">
                <a:solidFill>
                  <a:srgbClr val="0D1B2A"/>
                </a:solidFill>
                <a:latin typeface="Arial"/>
                <a:ea typeface="Arial"/>
                <a:cs typeface="Arial"/>
              </a:rPr>
              <a:t>Planification</a:t>
            </a:r>
          </a:p>
        </p:txBody>
      </p:sp>
      <p:sp>
        <p:nvSpPr>
          <p:cNvPr id="16" name="s2-body-2">
            <a:extLst xmlns:a="http://schemas.openxmlformats.org/drawingml/2006/main">
              <a:ext uri="{FF2B5EF4-FFF2-40B4-BE49-F238E27FC236}">
                <a16:creationId xmlns:a16="http://schemas.microsoft.com/office/drawing/2014/main" id="{0F05C32E-7B42-4FEE-88EC-CF0E03A2D43A}"/>
              </a:ext>
            </a:extLst>
          </p:cNvPr>
          <p:cNvSpPr>
            <a:spLocks xmlns:a="http://schemas.openxmlformats.org/drawingml/2006/main" noGrp="1"/>
          </p:cNvSpPr>
          <p:nvPr/>
        </p:nvSpPr>
        <p:spPr>
          <a:xfrm xmlns:a="http://schemas.openxmlformats.org/drawingml/2006/main">
            <a:off x="8153400" y="3857625"/>
            <a:ext cx="314325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725" b="0">
                <a:solidFill>
                  <a:srgbClr val="52606D"/>
                </a:solidFill>
                <a:latin typeface="Arial"/>
                <a:ea typeface="Arial"/>
                <a:cs typeface="Arial"/>
              </a:defRPr>
            </a:pPr>
            <a:r>
              <a:rPr sz="1725" b="0">
                <a:solidFill>
                  <a:srgbClr val="52606D"/>
                </a:solidFill>
                <a:latin typeface="Arial"/>
                <a:ea typeface="Arial"/>
                <a:cs typeface="Arial"/>
              </a:rPr>
              <a:t>17 User Stories priorisées, estimées et ordonnées par dépendances.</a:t>
            </a:r>
          </a:p>
        </p:txBody>
      </p:sp>
      <p:sp>
        <p:nvSpPr>
          <p:cNvPr id="17" name="s2-decision">
            <a:extLst xmlns:a="http://schemas.openxmlformats.org/drawingml/2006/main">
              <a:ext uri="{FF2B5EF4-FFF2-40B4-BE49-F238E27FC236}">
                <a16:creationId xmlns:a16="http://schemas.microsoft.com/office/drawing/2014/main" id="{27D49148-725C-4384-B324-F4F8203099B5}"/>
              </a:ext>
            </a:extLst>
          </p:cNvPr>
          <p:cNvSpPr>
            <a:spLocks xmlns:a="http://schemas.openxmlformats.org/drawingml/2006/main" noGrp="1"/>
          </p:cNvSpPr>
          <p:nvPr/>
        </p:nvSpPr>
        <p:spPr>
          <a:xfrm xmlns:a="http://schemas.openxmlformats.org/drawingml/2006/main">
            <a:off x="533400" y="5562600"/>
            <a:ext cx="11125200" cy="49530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18" name="s2-decision-text">
            <a:extLst xmlns:a="http://schemas.openxmlformats.org/drawingml/2006/main">
              <a:ext uri="{FF2B5EF4-FFF2-40B4-BE49-F238E27FC236}">
                <a16:creationId xmlns:a16="http://schemas.microsoft.com/office/drawing/2014/main" id="{772C65A5-EB88-4051-ADD2-60CEF158902C}"/>
              </a:ext>
            </a:extLst>
          </p:cNvPr>
          <p:cNvSpPr>
            <a:spLocks xmlns:a="http://schemas.openxmlformats.org/drawingml/2006/main" noGrp="1"/>
          </p:cNvSpPr>
          <p:nvPr/>
        </p:nvSpPr>
        <p:spPr>
          <a:xfrm xmlns:a="http://schemas.openxmlformats.org/drawingml/2006/main">
            <a:off x="723900" y="5676900"/>
            <a:ext cx="10744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a:solidFill>
                  <a:srgbClr val="1456A0"/>
                </a:solidFill>
                <a:latin typeface="Arial"/>
                <a:ea typeface="Arial"/>
                <a:cs typeface="Arial"/>
              </a:defRPr>
            </a:pPr>
            <a:r>
              <a:rPr sz="1650" b="1">
                <a:solidFill>
                  <a:srgbClr val="1456A0"/>
                </a:solidFill>
                <a:latin typeface="Arial"/>
                <a:ea typeface="Arial"/>
                <a:cs typeface="Arial"/>
              </a:rPr>
              <a:t>Décision proposée : valider ce cadrage et autoriser le démarrage du développement fonctionnel.</a:t>
            </a:r>
          </a:p>
        </p:txBody>
      </p:sp>
    </p:spTree>
    <p:extLst>
      <p:ext uri="{BB962C8B-B14F-4D97-AF65-F5344CB8AC3E}">
        <p14:creationId xmlns:p14="http://schemas.microsoft.com/office/powerpoint/2010/main" val="111671146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kicker-3">
            <a:extLst xmlns:a="http://schemas.openxmlformats.org/drawingml/2006/main">
              <a:ext uri="{FF2B5EF4-FFF2-40B4-BE49-F238E27FC236}">
                <a16:creationId xmlns:a16="http://schemas.microsoft.com/office/drawing/2014/main" id="{EB0FA632-BD18-4C09-9E7F-4947632FC472}"/>
              </a:ext>
            </a:extLst>
          </p:cNvPr>
          <p:cNvSpPr>
            <a:spLocks xmlns:a="http://schemas.openxmlformats.org/drawingml/2006/main" noGrp="1"/>
          </p:cNvSpPr>
          <p:nvPr/>
        </p:nvSpPr>
        <p:spPr>
          <a:xfrm xmlns:a="http://schemas.openxmlformats.org/drawingml/2006/main">
            <a:off x="533400" y="304800"/>
            <a:ext cx="590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1456A0"/>
                </a:solidFill>
                <a:latin typeface="Arial"/>
                <a:ea typeface="Arial"/>
                <a:cs typeface="Arial"/>
              </a:defRPr>
            </a:pPr>
            <a:r>
              <a:rPr sz="1050" b="1">
                <a:solidFill>
                  <a:srgbClr val="1456A0"/>
                </a:solidFill>
                <a:latin typeface="Arial"/>
                <a:ea typeface="Arial"/>
                <a:cs typeface="Arial"/>
              </a:rPr>
              <a:t>HOMESKOLAR · VALIDATION DU CADRAGE</a:t>
            </a:r>
          </a:p>
        </p:txBody>
      </p:sp>
      <p:sp>
        <p:nvSpPr>
          <p:cNvPr id="2" name="title-3">
            <a:extLst xmlns:a="http://schemas.openxmlformats.org/drawingml/2006/main">
              <a:ext uri="{FF2B5EF4-FFF2-40B4-BE49-F238E27FC236}">
                <a16:creationId xmlns:a16="http://schemas.microsoft.com/office/drawing/2014/main" id="{1B9AC0E0-C0D5-4AEA-98A9-092787EDFA50}"/>
              </a:ext>
            </a:extLst>
          </p:cNvPr>
          <p:cNvSpPr>
            <a:spLocks xmlns:a="http://schemas.openxmlformats.org/drawingml/2006/main" noGrp="1"/>
          </p:cNvSpPr>
          <p:nvPr/>
        </p:nvSpPr>
        <p:spPr>
          <a:xfrm xmlns:a="http://schemas.openxmlformats.org/drawingml/2006/main">
            <a:off x="533400" y="628650"/>
            <a:ext cx="11125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3600" b="1">
                <a:solidFill>
                  <a:srgbClr val="0D1B2A"/>
                </a:solidFill>
                <a:latin typeface="Arial"/>
                <a:ea typeface="Arial"/>
                <a:cs typeface="Arial"/>
              </a:defRPr>
            </a:pPr>
            <a:r>
              <a:rPr sz="3600" b="1">
                <a:solidFill>
                  <a:srgbClr val="0D1B2A"/>
                </a:solidFill>
                <a:latin typeface="Arial"/>
                <a:ea typeface="Arial"/>
                <a:cs typeface="Arial"/>
              </a:rPr>
              <a:t>HomeSkolar organise l’accompagnement scolaire</a:t>
            </a:r>
          </a:p>
        </p:txBody>
      </p:sp>
      <p:sp>
        <p:nvSpPr>
          <p:cNvPr id="3" name="rule-56-142">
            <a:extLst xmlns:a="http://schemas.openxmlformats.org/drawingml/2006/main">
              <a:ext uri="{FF2B5EF4-FFF2-40B4-BE49-F238E27FC236}">
                <a16:creationId xmlns:a16="http://schemas.microsoft.com/office/drawing/2014/main" id="{9914230E-DAEA-4CFA-B75B-6A7DF59E17F5}"/>
              </a:ext>
            </a:extLst>
          </p:cNvPr>
          <p:cNvSpPr>
            <a:spLocks xmlns:a="http://schemas.openxmlformats.org/drawingml/2006/main" noGrp="1"/>
          </p:cNvSpPr>
          <p:nvPr/>
        </p:nvSpPr>
        <p:spPr>
          <a:xfrm xmlns:a="http://schemas.openxmlformats.org/drawingml/2006/main">
            <a:off x="533400" y="1352550"/>
            <a:ext cx="111252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4" name="number-3">
            <a:extLst xmlns:a="http://schemas.openxmlformats.org/drawingml/2006/main">
              <a:ext uri="{FF2B5EF4-FFF2-40B4-BE49-F238E27FC236}">
                <a16:creationId xmlns:a16="http://schemas.microsoft.com/office/drawing/2014/main" id="{E910336A-72E0-4D2C-BA43-6A151DCE3E66}"/>
              </a:ext>
            </a:extLst>
          </p:cNvPr>
          <p:cNvSpPr>
            <a:spLocks xmlns:a="http://schemas.openxmlformats.org/drawingml/2006/main" noGrp="1"/>
          </p:cNvSpPr>
          <p:nvPr/>
        </p:nvSpPr>
        <p:spPr>
          <a:xfrm xmlns:a="http://schemas.openxmlformats.org/drawingml/2006/main">
            <a:off x="11220450" y="64389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a:solidFill>
                  <a:srgbClr val="52606D"/>
                </a:solidFill>
                <a:latin typeface="Arial"/>
                <a:ea typeface="Arial"/>
                <a:cs typeface="Arial"/>
              </a:defRPr>
            </a:pPr>
            <a:r>
              <a:rPr sz="900" b="0">
                <a:solidFill>
                  <a:srgbClr val="52606D"/>
                </a:solidFill>
                <a:latin typeface="Arial"/>
                <a:ea typeface="Arial"/>
                <a:cs typeface="Arial"/>
              </a:rPr>
              <a:t>03</a:t>
            </a:r>
          </a:p>
        </p:txBody>
      </p:sp>
      <p:sp>
        <p:nvSpPr>
          <p:cNvPr id="5" name="s3-problem-label">
            <a:extLst xmlns:a="http://schemas.openxmlformats.org/drawingml/2006/main">
              <a:ext uri="{FF2B5EF4-FFF2-40B4-BE49-F238E27FC236}">
                <a16:creationId xmlns:a16="http://schemas.microsoft.com/office/drawing/2014/main" id="{3C455C78-D13C-4B3A-88D4-840CC34A8C99}"/>
              </a:ext>
            </a:extLst>
          </p:cNvPr>
          <p:cNvSpPr>
            <a:spLocks xmlns:a="http://schemas.openxmlformats.org/drawingml/2006/main" noGrp="1"/>
          </p:cNvSpPr>
          <p:nvPr/>
        </p:nvSpPr>
        <p:spPr>
          <a:xfrm xmlns:a="http://schemas.openxmlformats.org/drawingml/2006/main">
            <a:off x="533400" y="1752600"/>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a:solidFill>
                  <a:srgbClr val="1456A0"/>
                </a:solidFill>
                <a:latin typeface="Arial"/>
                <a:ea typeface="Arial"/>
                <a:cs typeface="Arial"/>
              </a:defRPr>
            </a:pPr>
            <a:r>
              <a:rPr sz="1125" b="1">
                <a:solidFill>
                  <a:srgbClr val="1456A0"/>
                </a:solidFill>
                <a:latin typeface="Arial"/>
                <a:ea typeface="Arial"/>
                <a:cs typeface="Arial"/>
              </a:rPr>
              <a:t>LE BESOIN</a:t>
            </a:r>
          </a:p>
        </p:txBody>
      </p:sp>
      <p:sp>
        <p:nvSpPr>
          <p:cNvPr id="6" name="s3-problem">
            <a:extLst xmlns:a="http://schemas.openxmlformats.org/drawingml/2006/main">
              <a:ext uri="{FF2B5EF4-FFF2-40B4-BE49-F238E27FC236}">
                <a16:creationId xmlns:a16="http://schemas.microsoft.com/office/drawing/2014/main" id="{BADD3896-87A7-4C2C-B5AF-CEB89A58284C}"/>
              </a:ext>
            </a:extLst>
          </p:cNvPr>
          <p:cNvSpPr>
            <a:spLocks xmlns:a="http://schemas.openxmlformats.org/drawingml/2006/main" noGrp="1"/>
          </p:cNvSpPr>
          <p:nvPr/>
        </p:nvSpPr>
        <p:spPr>
          <a:xfrm xmlns:a="http://schemas.openxmlformats.org/drawingml/2006/main">
            <a:off x="533400" y="2114550"/>
            <a:ext cx="4762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100" b="1">
                <a:solidFill>
                  <a:srgbClr val="0D1B2A"/>
                </a:solidFill>
                <a:latin typeface="Arial"/>
                <a:ea typeface="Arial"/>
                <a:cs typeface="Arial"/>
              </a:defRPr>
            </a:pPr>
            <a:r>
              <a:rPr sz="2100" b="1">
                <a:solidFill>
                  <a:srgbClr val="0D1B2A"/>
                </a:solidFill>
                <a:latin typeface="Arial"/>
                <a:ea typeface="Arial"/>
                <a:cs typeface="Arial"/>
              </a:rPr>
              <a:t>Mettre en relation des élèves en difficulté scolaire avec des tuteurs bénévoles, puis faciliter leur suivi au quotidien.</a:t>
            </a:r>
          </a:p>
        </p:txBody>
      </p:sp>
      <p:sp>
        <p:nvSpPr>
          <p:cNvPr id="7" name="s3-mission">
            <a:extLst xmlns:a="http://schemas.openxmlformats.org/drawingml/2006/main">
              <a:ext uri="{FF2B5EF4-FFF2-40B4-BE49-F238E27FC236}">
                <a16:creationId xmlns:a16="http://schemas.microsoft.com/office/drawing/2014/main" id="{C12B77F2-667A-4900-B6F9-894000C49D41}"/>
              </a:ext>
            </a:extLst>
          </p:cNvPr>
          <p:cNvSpPr>
            <a:spLocks xmlns:a="http://schemas.openxmlformats.org/drawingml/2006/main" noGrp="1"/>
          </p:cNvSpPr>
          <p:nvPr/>
        </p:nvSpPr>
        <p:spPr>
          <a:xfrm xmlns:a="http://schemas.openxmlformats.org/drawingml/2006/main">
            <a:off x="533400" y="3857625"/>
            <a:ext cx="47625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725" b="0">
                <a:solidFill>
                  <a:srgbClr val="52606D"/>
                </a:solidFill>
                <a:latin typeface="Arial"/>
                <a:ea typeface="Arial"/>
                <a:cs typeface="Arial"/>
              </a:defRPr>
            </a:pPr>
            <a:r>
              <a:rPr sz="1725" b="0">
                <a:solidFill>
                  <a:srgbClr val="52606D"/>
                </a:solidFill>
                <a:latin typeface="Arial"/>
                <a:ea typeface="Arial"/>
                <a:cs typeface="Arial"/>
              </a:rPr>
              <a:t>Notre mission : définir précisément le besoin client et sécuriser les choix avant tout développement.</a:t>
            </a:r>
          </a:p>
        </p:txBody>
      </p:sp>
      <p:sp>
        <p:nvSpPr>
          <p:cNvPr id="8" name="student-node">
            <a:extLst xmlns:a="http://schemas.openxmlformats.org/drawingml/2006/main">
              <a:ext uri="{FF2B5EF4-FFF2-40B4-BE49-F238E27FC236}">
                <a16:creationId xmlns:a16="http://schemas.microsoft.com/office/drawing/2014/main" id="{B2978602-F145-4E2B-ABE7-F6825375EEE4}"/>
              </a:ext>
            </a:extLst>
          </p:cNvPr>
          <p:cNvSpPr>
            <a:spLocks xmlns:a="http://schemas.openxmlformats.org/drawingml/2006/main" noGrp="1"/>
          </p:cNvSpPr>
          <p:nvPr/>
        </p:nvSpPr>
        <p:spPr>
          <a:xfrm xmlns:a="http://schemas.openxmlformats.org/drawingml/2006/main">
            <a:off x="6610350" y="2133600"/>
            <a:ext cx="1619250" cy="1619250"/>
          </a:xfrm>
          <a:prstGeom xmlns:a="http://schemas.openxmlformats.org/drawingml/2006/main" prst="ellipse">
            <a:avLst/>
          </a:prstGeom>
          <a:solidFill xmlns:a="http://schemas.openxmlformats.org/drawingml/2006/main">
            <a:srgbClr val="D0EDFA"/>
          </a:solidFill>
          <a:ln xmlns:a="http://schemas.openxmlformats.org/drawingml/2006/main" w="9525">
            <a:solidFill>
              <a:srgbClr val="1456A0"/>
            </a:solidFill>
            <a:prstDash val="solid"/>
          </a:ln>
        </p:spPr>
      </p:sp>
      <p:sp>
        <p:nvSpPr>
          <p:cNvPr id="9" name="tutor-node">
            <a:extLst xmlns:a="http://schemas.openxmlformats.org/drawingml/2006/main">
              <a:ext uri="{FF2B5EF4-FFF2-40B4-BE49-F238E27FC236}">
                <a16:creationId xmlns:a16="http://schemas.microsoft.com/office/drawing/2014/main" id="{A368F196-17C6-48E0-A8E4-C7825296BD80}"/>
              </a:ext>
            </a:extLst>
          </p:cNvPr>
          <p:cNvSpPr>
            <a:spLocks xmlns:a="http://schemas.openxmlformats.org/drawingml/2006/main" noGrp="1"/>
          </p:cNvSpPr>
          <p:nvPr/>
        </p:nvSpPr>
        <p:spPr>
          <a:xfrm xmlns:a="http://schemas.openxmlformats.org/drawingml/2006/main">
            <a:off x="9696450" y="2133600"/>
            <a:ext cx="1619250" cy="1619250"/>
          </a:xfrm>
          <a:prstGeom xmlns:a="http://schemas.openxmlformats.org/drawingml/2006/main" prst="ellipse">
            <a:avLst/>
          </a:prstGeom>
          <a:solidFill xmlns:a="http://schemas.openxmlformats.org/drawingml/2006/main">
            <a:srgbClr val="EAF2F8"/>
          </a:solidFill>
          <a:ln xmlns:a="http://schemas.openxmlformats.org/drawingml/2006/main" w="9525">
            <a:solidFill>
              <a:srgbClr val="1456A0"/>
            </a:solidFill>
            <a:prstDash val="solid"/>
          </a:ln>
        </p:spPr>
      </p:sp>
      <p:sp>
        <p:nvSpPr>
          <p:cNvPr id="10" name="hub-node">
            <a:extLst xmlns:a="http://schemas.openxmlformats.org/drawingml/2006/main">
              <a:ext uri="{FF2B5EF4-FFF2-40B4-BE49-F238E27FC236}">
                <a16:creationId xmlns:a16="http://schemas.microsoft.com/office/drawing/2014/main" id="{965E3EAD-C560-4C6A-9ECB-50ADF2E4A5EF}"/>
              </a:ext>
            </a:extLst>
          </p:cNvPr>
          <p:cNvSpPr>
            <a:spLocks xmlns:a="http://schemas.openxmlformats.org/drawingml/2006/main" noGrp="1"/>
          </p:cNvSpPr>
          <p:nvPr/>
        </p:nvSpPr>
        <p:spPr>
          <a:xfrm xmlns:a="http://schemas.openxmlformats.org/drawingml/2006/main">
            <a:off x="7848600" y="4324350"/>
            <a:ext cx="2286000" cy="914400"/>
          </a:xfrm>
          <a:prstGeom xmlns:a="http://schemas.openxmlformats.org/drawingml/2006/main" prst="roundRect">
            <a:avLst>
              <a:gd name="adj" fmla="val 12500"/>
            </a:avLst>
          </a:prstGeom>
          <a:solidFill xmlns:a="http://schemas.openxmlformats.org/drawingml/2006/main">
            <a:srgbClr val="3D8DFF"/>
          </a:solidFill>
          <a:ln xmlns:a="http://schemas.openxmlformats.org/drawingml/2006/main" w="0">
            <a:noFill/>
            <a:prstDash val="solid"/>
          </a:ln>
        </p:spPr>
      </p:sp>
      <p:cxnSp>
        <p:nvCxnSpPr>
          <p:cNvPr id="28" name=""/>
          <p:cNvCxnSpPr>
            <a:stCxn xmlns:a="http://schemas.openxmlformats.org/drawingml/2006/main" id="8" idx="4"/>
            <a:endCxn xmlns:a="http://schemas.openxmlformats.org/drawingml/2006/main" id="10" idx="0"/>
          </p:cNvCxnSpPr>
          <p:nvPr/>
        </p:nvCxnSpPr>
        <p:spPr>
          <a:xfrm xmlns:a="http://schemas.openxmlformats.org/drawingml/2006/main">
            <a:off x="7419975" y="3752850"/>
            <a:ext cx="1571625" cy="571500"/>
          </a:xfrm>
          <a:prstGeom xmlns:a="http://schemas.openxmlformats.org/drawingml/2006/main" prst="straightConnector1">
            <a:avLst/>
          </a:prstGeom>
          <a:ln xmlns:a="http://schemas.openxmlformats.org/drawingml/2006/main" w="19050">
            <a:solidFill>
              <a:srgbClr val="1456A0"/>
            </a:solidFill>
            <a:prstDash val="solid"/>
            <a:headEnd type="arrow" w="sm" len="sm"/>
          </a:ln>
        </p:spPr>
      </p:cxnSp>
      <p:cxnSp>
        <p:nvCxnSpPr>
          <p:cNvPr id="29" name=""/>
          <p:cNvCxnSpPr>
            <a:stCxn xmlns:a="http://schemas.openxmlformats.org/drawingml/2006/main" id="9" idx="4"/>
            <a:endCxn xmlns:a="http://schemas.openxmlformats.org/drawingml/2006/main" id="10" idx="0"/>
          </p:cNvCxnSpPr>
          <p:nvPr/>
        </p:nvCxnSpPr>
        <p:spPr>
          <a:xfrm xmlns:a="http://schemas.openxmlformats.org/drawingml/2006/main" flipH="1">
            <a:off x="8991600" y="3752850"/>
            <a:ext cx="1514475" cy="571500"/>
          </a:xfrm>
          <a:prstGeom xmlns:a="http://schemas.openxmlformats.org/drawingml/2006/main" prst="straightConnector1">
            <a:avLst/>
          </a:prstGeom>
          <a:ln xmlns:a="http://schemas.openxmlformats.org/drawingml/2006/main" w="19050">
            <a:solidFill>
              <a:srgbClr val="1456A0"/>
            </a:solidFill>
            <a:prstDash val="solid"/>
            <a:headEnd type="arrow" w="sm" len="sm"/>
          </a:ln>
        </p:spPr>
      </p:cxnSp>
      <p:sp>
        <p:nvSpPr>
          <p:cNvPr id="13" name="student-label">
            <a:extLst xmlns:a="http://schemas.openxmlformats.org/drawingml/2006/main">
              <a:ext uri="{FF2B5EF4-FFF2-40B4-BE49-F238E27FC236}">
                <a16:creationId xmlns:a16="http://schemas.microsoft.com/office/drawing/2014/main" id="{89C0D010-E2BE-4E4D-A436-2902CF064671}"/>
              </a:ext>
            </a:extLst>
          </p:cNvPr>
          <p:cNvSpPr>
            <a:spLocks xmlns:a="http://schemas.openxmlformats.org/drawingml/2006/main" noGrp="1"/>
          </p:cNvSpPr>
          <p:nvPr/>
        </p:nvSpPr>
        <p:spPr>
          <a:xfrm xmlns:a="http://schemas.openxmlformats.org/drawingml/2006/main">
            <a:off x="6610350" y="2133600"/>
            <a:ext cx="1619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0D1B2A"/>
                </a:solidFill>
                <a:latin typeface="Arial"/>
                <a:ea typeface="Arial"/>
                <a:cs typeface="Arial"/>
              </a:defRPr>
            </a:pPr>
            <a:r>
              <a:rPr sz="2250" b="1">
                <a:solidFill>
                  <a:srgbClr val="0D1B2A"/>
                </a:solidFill>
                <a:latin typeface="Arial"/>
                <a:ea typeface="Arial"/>
                <a:cs typeface="Arial"/>
              </a:rPr>
              <a:t>Élève</a:t>
            </a:r>
          </a:p>
        </p:txBody>
      </p:sp>
      <p:sp>
        <p:nvSpPr>
          <p:cNvPr id="14" name="tutor-label">
            <a:extLst xmlns:a="http://schemas.openxmlformats.org/drawingml/2006/main">
              <a:ext uri="{FF2B5EF4-FFF2-40B4-BE49-F238E27FC236}">
                <a16:creationId xmlns:a16="http://schemas.microsoft.com/office/drawing/2014/main" id="{5B0E0436-37FE-4440-A319-81B63A8D5E34}"/>
              </a:ext>
            </a:extLst>
          </p:cNvPr>
          <p:cNvSpPr>
            <a:spLocks xmlns:a="http://schemas.openxmlformats.org/drawingml/2006/main" noGrp="1"/>
          </p:cNvSpPr>
          <p:nvPr/>
        </p:nvSpPr>
        <p:spPr>
          <a:xfrm xmlns:a="http://schemas.openxmlformats.org/drawingml/2006/main">
            <a:off x="9696450" y="2133600"/>
            <a:ext cx="1619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0D1B2A"/>
                </a:solidFill>
                <a:latin typeface="Arial"/>
                <a:ea typeface="Arial"/>
                <a:cs typeface="Arial"/>
              </a:defRPr>
            </a:pPr>
            <a:r>
              <a:rPr sz="2250" b="1">
                <a:solidFill>
                  <a:srgbClr val="0D1B2A"/>
                </a:solidFill>
                <a:latin typeface="Arial"/>
                <a:ea typeface="Arial"/>
                <a:cs typeface="Arial"/>
              </a:rPr>
              <a:t>Tuteur</a:t>
            </a:r>
          </a:p>
        </p:txBody>
      </p:sp>
      <p:sp>
        <p:nvSpPr>
          <p:cNvPr id="15" name="hub-label">
            <a:extLst xmlns:a="http://schemas.openxmlformats.org/drawingml/2006/main">
              <a:ext uri="{FF2B5EF4-FFF2-40B4-BE49-F238E27FC236}">
                <a16:creationId xmlns:a16="http://schemas.microsoft.com/office/drawing/2014/main" id="{71CA57CB-5A2F-42F4-B21F-FBAB998D32A5}"/>
              </a:ext>
            </a:extLst>
          </p:cNvPr>
          <p:cNvSpPr>
            <a:spLocks xmlns:a="http://schemas.openxmlformats.org/drawingml/2006/main" noGrp="1"/>
          </p:cNvSpPr>
          <p:nvPr/>
        </p:nvSpPr>
        <p:spPr>
          <a:xfrm xmlns:a="http://schemas.openxmlformats.org/drawingml/2006/main">
            <a:off x="7848600" y="4324350"/>
            <a:ext cx="2286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FFFFFF"/>
                </a:solidFill>
                <a:latin typeface="Arial"/>
                <a:ea typeface="Arial"/>
                <a:cs typeface="Arial"/>
              </a:defRPr>
            </a:pPr>
            <a:r>
              <a:rPr sz="2100" b="1">
                <a:solidFill>
                  <a:srgbClr val="FFFFFF"/>
                </a:solidFill>
                <a:latin typeface="Arial"/>
                <a:ea typeface="Arial"/>
                <a:cs typeface="Arial"/>
              </a:rPr>
              <a:t>HomeSkolar</a:t>
            </a:r>
          </a:p>
        </p:txBody>
      </p:sp>
      <p:sp>
        <p:nvSpPr>
          <p:cNvPr id="16" name="s3-scope">
            <a:extLst xmlns:a="http://schemas.openxmlformats.org/drawingml/2006/main">
              <a:ext uri="{FF2B5EF4-FFF2-40B4-BE49-F238E27FC236}">
                <a16:creationId xmlns:a16="http://schemas.microsoft.com/office/drawing/2014/main" id="{07A1ACC1-66E4-453B-A4E8-5EC9C5CF2103}"/>
              </a:ext>
            </a:extLst>
          </p:cNvPr>
          <p:cNvSpPr>
            <a:spLocks xmlns:a="http://schemas.openxmlformats.org/drawingml/2006/main" noGrp="1"/>
          </p:cNvSpPr>
          <p:nvPr/>
        </p:nvSpPr>
        <p:spPr>
          <a:xfrm xmlns:a="http://schemas.openxmlformats.org/drawingml/2006/main">
            <a:off x="7848600" y="55245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350" b="1">
                <a:solidFill>
                  <a:srgbClr val="1456A0"/>
                </a:solidFill>
                <a:latin typeface="Arial"/>
                <a:ea typeface="Arial"/>
                <a:cs typeface="Arial"/>
              </a:defRPr>
            </a:pPr>
            <a:r>
              <a:rPr sz="1350" b="1">
                <a:solidFill>
                  <a:srgbClr val="1456A0"/>
                </a:solidFill>
                <a:latin typeface="Arial"/>
                <a:ea typeface="Arial"/>
                <a:cs typeface="Arial"/>
              </a:rPr>
              <a:t>Deux rôles uniquement</a:t>
            </a:r>
          </a:p>
        </p:txBody>
      </p:sp>
      <p:sp>
        <p:nvSpPr>
          <p:cNvPr id="17" name="source-g34l2g">
            <a:extLst xmlns:a="http://schemas.openxmlformats.org/drawingml/2006/main">
              <a:ext uri="{FF2B5EF4-FFF2-40B4-BE49-F238E27FC236}">
                <a16:creationId xmlns:a16="http://schemas.microsoft.com/office/drawing/2014/main" id="{614EE0D2-4390-47C0-B54F-EDC957B3309C}"/>
              </a:ext>
            </a:extLst>
          </p:cNvPr>
          <p:cNvSpPr>
            <a:spLocks xmlns:a="http://schemas.openxmlformats.org/drawingml/2006/main" noGrp="1"/>
          </p:cNvSpPr>
          <p:nvPr/>
        </p:nvSpPr>
        <p:spPr>
          <a:xfrm xmlns:a="http://schemas.openxmlformats.org/drawingml/2006/main">
            <a:off x="533400" y="6429375"/>
            <a:ext cx="914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825" b="0">
                <a:solidFill>
                  <a:srgbClr val="52606D"/>
                </a:solidFill>
                <a:latin typeface="Arial"/>
                <a:ea typeface="Arial"/>
                <a:cs typeface="Arial"/>
              </a:defRPr>
            </a:pPr>
            <a:r>
              <a:rPr sz="825" b="0">
                <a:solidFill>
                  <a:srgbClr val="52606D"/>
                </a:solidFill>
                <a:latin typeface="Arial"/>
                <a:ea typeface="Arial"/>
                <a:cs typeface="Arial"/>
              </a:rPr>
              <a:t>Source : cahier des charges HomeSkolar v3.1 · contexte de mission</a:t>
            </a:r>
          </a:p>
        </p:txBody>
      </p:sp>
    </p:spTree>
    <p:extLst>
      <p:ext uri="{BB962C8B-B14F-4D97-AF65-F5344CB8AC3E}">
        <p14:creationId xmlns:p14="http://schemas.microsoft.com/office/powerpoint/2010/main" val="175147436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kicker-4">
            <a:extLst xmlns:a="http://schemas.openxmlformats.org/drawingml/2006/main">
              <a:ext uri="{FF2B5EF4-FFF2-40B4-BE49-F238E27FC236}">
                <a16:creationId xmlns:a16="http://schemas.microsoft.com/office/drawing/2014/main" id="{54E8499D-A3AF-48AF-AE64-D64779B741A4}"/>
              </a:ext>
            </a:extLst>
          </p:cNvPr>
          <p:cNvSpPr>
            <a:spLocks xmlns:a="http://schemas.openxmlformats.org/drawingml/2006/main" noGrp="1"/>
          </p:cNvSpPr>
          <p:nvPr/>
        </p:nvSpPr>
        <p:spPr>
          <a:xfrm xmlns:a="http://schemas.openxmlformats.org/drawingml/2006/main">
            <a:off x="533400" y="304800"/>
            <a:ext cx="590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1456A0"/>
                </a:solidFill>
                <a:latin typeface="Arial"/>
                <a:ea typeface="Arial"/>
                <a:cs typeface="Arial"/>
              </a:defRPr>
            </a:pPr>
            <a:r>
              <a:rPr sz="1050" b="1">
                <a:solidFill>
                  <a:srgbClr val="1456A0"/>
                </a:solidFill>
                <a:latin typeface="Arial"/>
                <a:ea typeface="Arial"/>
                <a:cs typeface="Arial"/>
              </a:rPr>
              <a:t>HOMESKOLAR · VALIDATION DU CADRAGE</a:t>
            </a:r>
          </a:p>
        </p:txBody>
      </p:sp>
      <p:sp>
        <p:nvSpPr>
          <p:cNvPr id="2" name="title-4">
            <a:extLst xmlns:a="http://schemas.openxmlformats.org/drawingml/2006/main">
              <a:ext uri="{FF2B5EF4-FFF2-40B4-BE49-F238E27FC236}">
                <a16:creationId xmlns:a16="http://schemas.microsoft.com/office/drawing/2014/main" id="{ED3FFA6A-1545-4F77-8D21-1BC0FC20AF31}"/>
              </a:ext>
            </a:extLst>
          </p:cNvPr>
          <p:cNvSpPr>
            <a:spLocks xmlns:a="http://schemas.openxmlformats.org/drawingml/2006/main" noGrp="1"/>
          </p:cNvSpPr>
          <p:nvPr/>
        </p:nvSpPr>
        <p:spPr>
          <a:xfrm xmlns:a="http://schemas.openxmlformats.org/drawingml/2006/main">
            <a:off x="533400" y="628650"/>
            <a:ext cx="11125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3600" b="1">
                <a:solidFill>
                  <a:srgbClr val="0D1B2A"/>
                </a:solidFill>
                <a:latin typeface="Arial"/>
                <a:ea typeface="Arial"/>
                <a:cs typeface="Arial"/>
              </a:defRPr>
            </a:pPr>
            <a:r>
              <a:rPr sz="3600" b="1">
                <a:solidFill>
                  <a:srgbClr val="0D1B2A"/>
                </a:solidFill>
                <a:latin typeface="Arial"/>
                <a:ea typeface="Arial"/>
                <a:cs typeface="Arial"/>
              </a:rPr>
              <a:t>La V1 se concentre sur quatre usages</a:t>
            </a:r>
          </a:p>
        </p:txBody>
      </p:sp>
      <p:sp>
        <p:nvSpPr>
          <p:cNvPr id="3" name="rule-56-142">
            <a:extLst xmlns:a="http://schemas.openxmlformats.org/drawingml/2006/main">
              <a:ext uri="{FF2B5EF4-FFF2-40B4-BE49-F238E27FC236}">
                <a16:creationId xmlns:a16="http://schemas.microsoft.com/office/drawing/2014/main" id="{FBFB0A20-26C0-4855-930F-8B2D3C25448B}"/>
              </a:ext>
            </a:extLst>
          </p:cNvPr>
          <p:cNvSpPr>
            <a:spLocks xmlns:a="http://schemas.openxmlformats.org/drawingml/2006/main" noGrp="1"/>
          </p:cNvSpPr>
          <p:nvPr/>
        </p:nvSpPr>
        <p:spPr>
          <a:xfrm xmlns:a="http://schemas.openxmlformats.org/drawingml/2006/main">
            <a:off x="533400" y="1352550"/>
            <a:ext cx="111252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4" name="number-4">
            <a:extLst xmlns:a="http://schemas.openxmlformats.org/drawingml/2006/main">
              <a:ext uri="{FF2B5EF4-FFF2-40B4-BE49-F238E27FC236}">
                <a16:creationId xmlns:a16="http://schemas.microsoft.com/office/drawing/2014/main" id="{890FF066-1586-44AE-BCEA-028CA7EAFBFB}"/>
              </a:ext>
            </a:extLst>
          </p:cNvPr>
          <p:cNvSpPr>
            <a:spLocks xmlns:a="http://schemas.openxmlformats.org/drawingml/2006/main" noGrp="1"/>
          </p:cNvSpPr>
          <p:nvPr/>
        </p:nvSpPr>
        <p:spPr>
          <a:xfrm xmlns:a="http://schemas.openxmlformats.org/drawingml/2006/main">
            <a:off x="11220450" y="64389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a:solidFill>
                  <a:srgbClr val="52606D"/>
                </a:solidFill>
                <a:latin typeface="Arial"/>
                <a:ea typeface="Arial"/>
                <a:cs typeface="Arial"/>
              </a:defRPr>
            </a:pPr>
            <a:r>
              <a:rPr sz="900" b="0">
                <a:solidFill>
                  <a:srgbClr val="52606D"/>
                </a:solidFill>
                <a:latin typeface="Arial"/>
                <a:ea typeface="Arial"/>
                <a:cs typeface="Arial"/>
              </a:rPr>
              <a:t>04</a:t>
            </a:r>
          </a:p>
        </p:txBody>
      </p:sp>
      <p:sp>
        <p:nvSpPr>
          <p:cNvPr id="5" name="rule-640-180">
            <a:extLst xmlns:a="http://schemas.openxmlformats.org/drawingml/2006/main">
              <a:ext uri="{FF2B5EF4-FFF2-40B4-BE49-F238E27FC236}">
                <a16:creationId xmlns:a16="http://schemas.microsoft.com/office/drawing/2014/main" id="{AB019AB0-FD76-4C65-ADF2-B0F24659AD0A}"/>
              </a:ext>
            </a:extLst>
          </p:cNvPr>
          <p:cNvSpPr>
            <a:spLocks xmlns:a="http://schemas.openxmlformats.org/drawingml/2006/main" noGrp="1"/>
          </p:cNvSpPr>
          <p:nvPr/>
        </p:nvSpPr>
        <p:spPr>
          <a:xfrm xmlns:a="http://schemas.openxmlformats.org/drawingml/2006/main">
            <a:off x="6096000" y="1714500"/>
            <a:ext cx="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6" name="rule-56-390">
            <a:extLst xmlns:a="http://schemas.openxmlformats.org/drawingml/2006/main">
              <a:ext uri="{FF2B5EF4-FFF2-40B4-BE49-F238E27FC236}">
                <a16:creationId xmlns:a16="http://schemas.microsoft.com/office/drawing/2014/main" id="{2F20C92C-9E74-48A3-8431-686CC793234A}"/>
              </a:ext>
            </a:extLst>
          </p:cNvPr>
          <p:cNvSpPr>
            <a:spLocks xmlns:a="http://schemas.openxmlformats.org/drawingml/2006/main" noGrp="1"/>
          </p:cNvSpPr>
          <p:nvPr/>
        </p:nvSpPr>
        <p:spPr>
          <a:xfrm xmlns:a="http://schemas.openxmlformats.org/drawingml/2006/main">
            <a:off x="533400" y="3714750"/>
            <a:ext cx="111252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7" name="s4-num-0">
            <a:extLst xmlns:a="http://schemas.openxmlformats.org/drawingml/2006/main">
              <a:ext uri="{FF2B5EF4-FFF2-40B4-BE49-F238E27FC236}">
                <a16:creationId xmlns:a16="http://schemas.microsoft.com/office/drawing/2014/main" id="{4CE92D57-A295-4FD3-85B3-5A7248D13BAB}"/>
              </a:ext>
            </a:extLst>
          </p:cNvPr>
          <p:cNvSpPr>
            <a:spLocks xmlns:a="http://schemas.openxmlformats.org/drawingml/2006/main" noGrp="1"/>
          </p:cNvSpPr>
          <p:nvPr/>
        </p:nvSpPr>
        <p:spPr>
          <a:xfrm xmlns:a="http://schemas.openxmlformats.org/drawingml/2006/main">
            <a:off x="533400" y="179070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3D8DFF"/>
                </a:solidFill>
                <a:latin typeface="Arial"/>
                <a:ea typeface="Arial"/>
                <a:cs typeface="Arial"/>
              </a:defRPr>
            </a:pPr>
            <a:r>
              <a:rPr sz="2250" b="1">
                <a:solidFill>
                  <a:srgbClr val="3D8DFF"/>
                </a:solidFill>
                <a:latin typeface="Arial"/>
                <a:ea typeface="Arial"/>
                <a:cs typeface="Arial"/>
              </a:rPr>
              <a:t>01</a:t>
            </a:r>
          </a:p>
        </p:txBody>
      </p:sp>
      <p:sp>
        <p:nvSpPr>
          <p:cNvPr id="8" name="s4-head-0">
            <a:extLst xmlns:a="http://schemas.openxmlformats.org/drawingml/2006/main">
              <a:ext uri="{FF2B5EF4-FFF2-40B4-BE49-F238E27FC236}">
                <a16:creationId xmlns:a16="http://schemas.microsoft.com/office/drawing/2014/main" id="{8F32B672-946A-4253-9FE1-727B81F94DDF}"/>
              </a:ext>
            </a:extLst>
          </p:cNvPr>
          <p:cNvSpPr>
            <a:spLocks xmlns:a="http://schemas.openxmlformats.org/drawingml/2006/main" noGrp="1"/>
          </p:cNvSpPr>
          <p:nvPr/>
        </p:nvSpPr>
        <p:spPr>
          <a:xfrm xmlns:a="http://schemas.openxmlformats.org/drawingml/2006/main">
            <a:off x="1333500" y="1790700"/>
            <a:ext cx="4572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100" b="1">
                <a:solidFill>
                  <a:srgbClr val="0D1B2A"/>
                </a:solidFill>
                <a:latin typeface="Arial"/>
                <a:ea typeface="Arial"/>
                <a:cs typeface="Arial"/>
              </a:defRPr>
            </a:pPr>
            <a:r>
              <a:rPr sz="2100" b="1">
                <a:solidFill>
                  <a:srgbClr val="0D1B2A"/>
                </a:solidFill>
                <a:latin typeface="Arial"/>
                <a:ea typeface="Arial"/>
                <a:cs typeface="Arial"/>
              </a:rPr>
              <a:t>Compte et affectation</a:t>
            </a:r>
          </a:p>
        </p:txBody>
      </p:sp>
      <p:sp>
        <p:nvSpPr>
          <p:cNvPr id="9" name="s4-body-0">
            <a:extLst xmlns:a="http://schemas.openxmlformats.org/drawingml/2006/main">
              <a:ext uri="{FF2B5EF4-FFF2-40B4-BE49-F238E27FC236}">
                <a16:creationId xmlns:a16="http://schemas.microsoft.com/office/drawing/2014/main" id="{D10942CE-995F-49C5-B0D0-F40B6D8782A8}"/>
              </a:ext>
            </a:extLst>
          </p:cNvPr>
          <p:cNvSpPr>
            <a:spLocks xmlns:a="http://schemas.openxmlformats.org/drawingml/2006/main" noGrp="1"/>
          </p:cNvSpPr>
          <p:nvPr/>
        </p:nvSpPr>
        <p:spPr>
          <a:xfrm xmlns:a="http://schemas.openxmlformats.org/drawingml/2006/main">
            <a:off x="1333500" y="2419350"/>
            <a:ext cx="4476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a:solidFill>
                  <a:srgbClr val="52606D"/>
                </a:solidFill>
                <a:latin typeface="Arial"/>
                <a:ea typeface="Arial"/>
                <a:cs typeface="Arial"/>
              </a:defRPr>
            </a:pPr>
            <a:r>
              <a:rPr sz="1650" b="0">
                <a:solidFill>
                  <a:srgbClr val="52606D"/>
                </a:solidFill>
                <a:latin typeface="Arial"/>
                <a:ea typeface="Arial"/>
                <a:cs typeface="Arial"/>
              </a:rPr>
              <a:t>S’inscrire librement, se connecter et associer automatiquement un élève à un tuteur disponible.</a:t>
            </a:r>
          </a:p>
        </p:txBody>
      </p:sp>
      <p:sp>
        <p:nvSpPr>
          <p:cNvPr id="10" name="s4-num-1">
            <a:extLst xmlns:a="http://schemas.openxmlformats.org/drawingml/2006/main">
              <a:ext uri="{FF2B5EF4-FFF2-40B4-BE49-F238E27FC236}">
                <a16:creationId xmlns:a16="http://schemas.microsoft.com/office/drawing/2014/main" id="{1153E2CF-9AE4-4A54-801B-273665A358FB}"/>
              </a:ext>
            </a:extLst>
          </p:cNvPr>
          <p:cNvSpPr>
            <a:spLocks xmlns:a="http://schemas.openxmlformats.org/drawingml/2006/main" noGrp="1"/>
          </p:cNvSpPr>
          <p:nvPr/>
        </p:nvSpPr>
        <p:spPr>
          <a:xfrm xmlns:a="http://schemas.openxmlformats.org/drawingml/2006/main">
            <a:off x="6248400" y="179070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3D8DFF"/>
                </a:solidFill>
                <a:latin typeface="Arial"/>
                <a:ea typeface="Arial"/>
                <a:cs typeface="Arial"/>
              </a:defRPr>
            </a:pPr>
            <a:r>
              <a:rPr sz="2250" b="1">
                <a:solidFill>
                  <a:srgbClr val="3D8DFF"/>
                </a:solidFill>
                <a:latin typeface="Arial"/>
                <a:ea typeface="Arial"/>
                <a:cs typeface="Arial"/>
              </a:rPr>
              <a:t>02</a:t>
            </a:r>
          </a:p>
        </p:txBody>
      </p:sp>
      <p:sp>
        <p:nvSpPr>
          <p:cNvPr id="11" name="s4-head-1">
            <a:extLst xmlns:a="http://schemas.openxmlformats.org/drawingml/2006/main">
              <a:ext uri="{FF2B5EF4-FFF2-40B4-BE49-F238E27FC236}">
                <a16:creationId xmlns:a16="http://schemas.microsoft.com/office/drawing/2014/main" id="{08DCE14D-ED69-4F99-988E-0AD99E43B1E4}"/>
              </a:ext>
            </a:extLst>
          </p:cNvPr>
          <p:cNvSpPr>
            <a:spLocks xmlns:a="http://schemas.openxmlformats.org/drawingml/2006/main" noGrp="1"/>
          </p:cNvSpPr>
          <p:nvPr/>
        </p:nvSpPr>
        <p:spPr>
          <a:xfrm xmlns:a="http://schemas.openxmlformats.org/drawingml/2006/main">
            <a:off x="7048500" y="1790700"/>
            <a:ext cx="4572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100" b="1">
                <a:solidFill>
                  <a:srgbClr val="0D1B2A"/>
                </a:solidFill>
                <a:latin typeface="Arial"/>
                <a:ea typeface="Arial"/>
                <a:cs typeface="Arial"/>
              </a:defRPr>
            </a:pPr>
            <a:r>
              <a:rPr sz="2100" b="1">
                <a:solidFill>
                  <a:srgbClr val="0D1B2A"/>
                </a:solidFill>
                <a:latin typeface="Arial"/>
                <a:ea typeface="Arial"/>
                <a:cs typeface="Arial"/>
              </a:rPr>
              <a:t>Communication</a:t>
            </a:r>
          </a:p>
        </p:txBody>
      </p:sp>
      <p:sp>
        <p:nvSpPr>
          <p:cNvPr id="12" name="s4-body-1">
            <a:extLst xmlns:a="http://schemas.openxmlformats.org/drawingml/2006/main">
              <a:ext uri="{FF2B5EF4-FFF2-40B4-BE49-F238E27FC236}">
                <a16:creationId xmlns:a16="http://schemas.microsoft.com/office/drawing/2014/main" id="{C35E7DDB-53EF-4B38-9ED8-037BC9C6D461}"/>
              </a:ext>
            </a:extLst>
          </p:cNvPr>
          <p:cNvSpPr>
            <a:spLocks xmlns:a="http://schemas.openxmlformats.org/drawingml/2006/main" noGrp="1"/>
          </p:cNvSpPr>
          <p:nvPr/>
        </p:nvSpPr>
        <p:spPr>
          <a:xfrm xmlns:a="http://schemas.openxmlformats.org/drawingml/2006/main">
            <a:off x="7048500" y="2419350"/>
            <a:ext cx="4476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a:solidFill>
                  <a:srgbClr val="52606D"/>
                </a:solidFill>
                <a:latin typeface="Arial"/>
                <a:ea typeface="Arial"/>
                <a:cs typeface="Arial"/>
              </a:defRPr>
            </a:pPr>
            <a:r>
              <a:rPr sz="1650" b="0">
                <a:solidFill>
                  <a:srgbClr val="52606D"/>
                </a:solidFill>
                <a:latin typeface="Arial"/>
                <a:ea typeface="Arial"/>
                <a:cs typeface="Arial"/>
              </a:rPr>
              <a:t>Échanger des messages texte, repérer les non-lus et épingler une information utile.</a:t>
            </a:r>
          </a:p>
        </p:txBody>
      </p:sp>
      <p:sp>
        <p:nvSpPr>
          <p:cNvPr id="13" name="s4-num-2">
            <a:extLst xmlns:a="http://schemas.openxmlformats.org/drawingml/2006/main">
              <a:ext uri="{FF2B5EF4-FFF2-40B4-BE49-F238E27FC236}">
                <a16:creationId xmlns:a16="http://schemas.microsoft.com/office/drawing/2014/main" id="{746F5552-DA21-4D64-B15D-8F65053FB538}"/>
              </a:ext>
            </a:extLst>
          </p:cNvPr>
          <p:cNvSpPr>
            <a:spLocks xmlns:a="http://schemas.openxmlformats.org/drawingml/2006/main" noGrp="1"/>
          </p:cNvSpPr>
          <p:nvPr/>
        </p:nvSpPr>
        <p:spPr>
          <a:xfrm xmlns:a="http://schemas.openxmlformats.org/drawingml/2006/main">
            <a:off x="533400" y="39052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3D8DFF"/>
                </a:solidFill>
                <a:latin typeface="Arial"/>
                <a:ea typeface="Arial"/>
                <a:cs typeface="Arial"/>
              </a:defRPr>
            </a:pPr>
            <a:r>
              <a:rPr sz="2250" b="1">
                <a:solidFill>
                  <a:srgbClr val="3D8DFF"/>
                </a:solidFill>
                <a:latin typeface="Arial"/>
                <a:ea typeface="Arial"/>
                <a:cs typeface="Arial"/>
              </a:rPr>
              <a:t>03</a:t>
            </a:r>
          </a:p>
        </p:txBody>
      </p:sp>
      <p:sp>
        <p:nvSpPr>
          <p:cNvPr id="14" name="s4-head-2">
            <a:extLst xmlns:a="http://schemas.openxmlformats.org/drawingml/2006/main">
              <a:ext uri="{FF2B5EF4-FFF2-40B4-BE49-F238E27FC236}">
                <a16:creationId xmlns:a16="http://schemas.microsoft.com/office/drawing/2014/main" id="{9EB3D9B1-962B-4574-91DD-4E0A10CF0971}"/>
              </a:ext>
            </a:extLst>
          </p:cNvPr>
          <p:cNvSpPr>
            <a:spLocks xmlns:a="http://schemas.openxmlformats.org/drawingml/2006/main" noGrp="1"/>
          </p:cNvSpPr>
          <p:nvPr/>
        </p:nvSpPr>
        <p:spPr>
          <a:xfrm xmlns:a="http://schemas.openxmlformats.org/drawingml/2006/main">
            <a:off x="1333500" y="3905250"/>
            <a:ext cx="4572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100" b="1">
                <a:solidFill>
                  <a:srgbClr val="0D1B2A"/>
                </a:solidFill>
                <a:latin typeface="Arial"/>
                <a:ea typeface="Arial"/>
                <a:cs typeface="Arial"/>
              </a:defRPr>
            </a:pPr>
            <a:r>
              <a:rPr sz="2100" b="1">
                <a:solidFill>
                  <a:srgbClr val="0D1B2A"/>
                </a:solidFill>
                <a:latin typeface="Arial"/>
                <a:ea typeface="Arial"/>
                <a:cs typeface="Arial"/>
              </a:rPr>
              <a:t>Rendez-vous</a:t>
            </a:r>
          </a:p>
        </p:txBody>
      </p:sp>
      <p:sp>
        <p:nvSpPr>
          <p:cNvPr id="15" name="s4-body-2">
            <a:extLst xmlns:a="http://schemas.openxmlformats.org/drawingml/2006/main">
              <a:ext uri="{FF2B5EF4-FFF2-40B4-BE49-F238E27FC236}">
                <a16:creationId xmlns:a16="http://schemas.microsoft.com/office/drawing/2014/main" id="{E7D25970-46A7-4055-A0F5-19BA5244D471}"/>
              </a:ext>
            </a:extLst>
          </p:cNvPr>
          <p:cNvSpPr>
            <a:spLocks xmlns:a="http://schemas.openxmlformats.org/drawingml/2006/main" noGrp="1"/>
          </p:cNvSpPr>
          <p:nvPr/>
        </p:nvSpPr>
        <p:spPr>
          <a:xfrm xmlns:a="http://schemas.openxmlformats.org/drawingml/2006/main">
            <a:off x="1333500" y="4533900"/>
            <a:ext cx="4476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a:solidFill>
                  <a:srgbClr val="52606D"/>
                </a:solidFill>
                <a:latin typeface="Arial"/>
                <a:ea typeface="Arial"/>
                <a:cs typeface="Arial"/>
              </a:defRPr>
            </a:pPr>
            <a:r>
              <a:rPr sz="1650" b="0">
                <a:solidFill>
                  <a:srgbClr val="52606D"/>
                </a:solidFill>
                <a:latin typeface="Arial"/>
                <a:ea typeface="Arial"/>
                <a:cs typeface="Arial"/>
              </a:rPr>
              <a:t>Créer, consulter, modifier ou annuler les rencontres de l’accompagnement.</a:t>
            </a:r>
          </a:p>
        </p:txBody>
      </p:sp>
      <p:sp>
        <p:nvSpPr>
          <p:cNvPr id="16" name="s4-num-3">
            <a:extLst xmlns:a="http://schemas.openxmlformats.org/drawingml/2006/main">
              <a:ext uri="{FF2B5EF4-FFF2-40B4-BE49-F238E27FC236}">
                <a16:creationId xmlns:a16="http://schemas.microsoft.com/office/drawing/2014/main" id="{F427F904-C1D2-408D-BDF2-983D61EF7D7D}"/>
              </a:ext>
            </a:extLst>
          </p:cNvPr>
          <p:cNvSpPr>
            <a:spLocks xmlns:a="http://schemas.openxmlformats.org/drawingml/2006/main" noGrp="1"/>
          </p:cNvSpPr>
          <p:nvPr/>
        </p:nvSpPr>
        <p:spPr>
          <a:xfrm xmlns:a="http://schemas.openxmlformats.org/drawingml/2006/main">
            <a:off x="6248400" y="3905250"/>
            <a:ext cx="66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250" b="1">
                <a:solidFill>
                  <a:srgbClr val="3D8DFF"/>
                </a:solidFill>
                <a:latin typeface="Arial"/>
                <a:ea typeface="Arial"/>
                <a:cs typeface="Arial"/>
              </a:defRPr>
            </a:pPr>
            <a:r>
              <a:rPr sz="2250" b="1">
                <a:solidFill>
                  <a:srgbClr val="3D8DFF"/>
                </a:solidFill>
                <a:latin typeface="Arial"/>
                <a:ea typeface="Arial"/>
                <a:cs typeface="Arial"/>
              </a:rPr>
              <a:t>04</a:t>
            </a:r>
          </a:p>
        </p:txBody>
      </p:sp>
      <p:sp>
        <p:nvSpPr>
          <p:cNvPr id="17" name="s4-head-3">
            <a:extLst xmlns:a="http://schemas.openxmlformats.org/drawingml/2006/main">
              <a:ext uri="{FF2B5EF4-FFF2-40B4-BE49-F238E27FC236}">
                <a16:creationId xmlns:a16="http://schemas.microsoft.com/office/drawing/2014/main" id="{EC43EC1F-F056-428A-9D7C-FE74A6A4A38A}"/>
              </a:ext>
            </a:extLst>
          </p:cNvPr>
          <p:cNvSpPr>
            <a:spLocks xmlns:a="http://schemas.openxmlformats.org/drawingml/2006/main" noGrp="1"/>
          </p:cNvSpPr>
          <p:nvPr/>
        </p:nvSpPr>
        <p:spPr>
          <a:xfrm xmlns:a="http://schemas.openxmlformats.org/drawingml/2006/main">
            <a:off x="7048500" y="3905250"/>
            <a:ext cx="4572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100" b="1">
                <a:solidFill>
                  <a:srgbClr val="0D1B2A"/>
                </a:solidFill>
                <a:latin typeface="Arial"/>
                <a:ea typeface="Arial"/>
                <a:cs typeface="Arial"/>
              </a:defRPr>
            </a:pPr>
            <a:r>
              <a:rPr sz="2100" b="1">
                <a:solidFill>
                  <a:srgbClr val="0D1B2A"/>
                </a:solidFill>
                <a:latin typeface="Arial"/>
                <a:ea typeface="Arial"/>
                <a:cs typeface="Arial"/>
              </a:rPr>
              <a:t>Tâches et notes</a:t>
            </a:r>
          </a:p>
        </p:txBody>
      </p:sp>
      <p:sp>
        <p:nvSpPr>
          <p:cNvPr id="18" name="s4-body-3">
            <a:extLst xmlns:a="http://schemas.openxmlformats.org/drawingml/2006/main">
              <a:ext uri="{FF2B5EF4-FFF2-40B4-BE49-F238E27FC236}">
                <a16:creationId xmlns:a16="http://schemas.microsoft.com/office/drawing/2014/main" id="{F9695A7A-1A32-43DA-BF60-BD20BF06DFE6}"/>
              </a:ext>
            </a:extLst>
          </p:cNvPr>
          <p:cNvSpPr>
            <a:spLocks xmlns:a="http://schemas.openxmlformats.org/drawingml/2006/main" noGrp="1"/>
          </p:cNvSpPr>
          <p:nvPr/>
        </p:nvSpPr>
        <p:spPr>
          <a:xfrm xmlns:a="http://schemas.openxmlformats.org/drawingml/2006/main">
            <a:off x="7048500" y="4533900"/>
            <a:ext cx="4476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a:solidFill>
                  <a:srgbClr val="52606D"/>
                </a:solidFill>
                <a:latin typeface="Arial"/>
                <a:ea typeface="Arial"/>
                <a:cs typeface="Arial"/>
              </a:defRPr>
            </a:pPr>
            <a:r>
              <a:rPr sz="1650" b="0">
                <a:solidFill>
                  <a:srgbClr val="52606D"/>
                </a:solidFill>
                <a:latin typeface="Arial"/>
                <a:ea typeface="Arial"/>
                <a:cs typeface="Arial"/>
              </a:rPr>
              <a:t>Attribuer une tâche ou conserver une tâche, une note ou un mémo personnel.</a:t>
            </a:r>
          </a:p>
        </p:txBody>
      </p:sp>
      <p:sp>
        <p:nvSpPr>
          <p:cNvPr id="19" name="source-hbllyn">
            <a:extLst xmlns:a="http://schemas.openxmlformats.org/drawingml/2006/main">
              <a:ext uri="{FF2B5EF4-FFF2-40B4-BE49-F238E27FC236}">
                <a16:creationId xmlns:a16="http://schemas.microsoft.com/office/drawing/2014/main" id="{6E02133D-E178-4389-8AE2-9452FB3287BC}"/>
              </a:ext>
            </a:extLst>
          </p:cNvPr>
          <p:cNvSpPr>
            <a:spLocks xmlns:a="http://schemas.openxmlformats.org/drawingml/2006/main" noGrp="1"/>
          </p:cNvSpPr>
          <p:nvPr/>
        </p:nvSpPr>
        <p:spPr>
          <a:xfrm xmlns:a="http://schemas.openxmlformats.org/drawingml/2006/main">
            <a:off x="533400" y="6429375"/>
            <a:ext cx="914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825" b="0">
                <a:solidFill>
                  <a:srgbClr val="52606D"/>
                </a:solidFill>
                <a:latin typeface="Arial"/>
                <a:ea typeface="Arial"/>
                <a:cs typeface="Arial"/>
              </a:defRPr>
            </a:pPr>
            <a:r>
              <a:rPr sz="825" b="0">
                <a:solidFill>
                  <a:srgbClr val="52606D"/>
                </a:solidFill>
                <a:latin typeface="Arial"/>
                <a:ea typeface="Arial"/>
                <a:cs typeface="Arial"/>
              </a:rPr>
              <a:t>Source : spécifications fonctionnelles HomeSkolar v3.1</a:t>
            </a:r>
          </a:p>
        </p:txBody>
      </p:sp>
    </p:spTree>
    <p:extLst>
      <p:ext uri="{BB962C8B-B14F-4D97-AF65-F5344CB8AC3E}">
        <p14:creationId xmlns:p14="http://schemas.microsoft.com/office/powerpoint/2010/main" val="98755228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kicker-5">
            <a:extLst xmlns:a="http://schemas.openxmlformats.org/drawingml/2006/main">
              <a:ext uri="{FF2B5EF4-FFF2-40B4-BE49-F238E27FC236}">
                <a16:creationId xmlns:a16="http://schemas.microsoft.com/office/drawing/2014/main" id="{97E8B139-A43A-408A-B501-64F8B566322A}"/>
              </a:ext>
            </a:extLst>
          </p:cNvPr>
          <p:cNvSpPr>
            <a:spLocks xmlns:a="http://schemas.openxmlformats.org/drawingml/2006/main" noGrp="1"/>
          </p:cNvSpPr>
          <p:nvPr/>
        </p:nvSpPr>
        <p:spPr>
          <a:xfrm xmlns:a="http://schemas.openxmlformats.org/drawingml/2006/main">
            <a:off x="533400" y="304800"/>
            <a:ext cx="590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1456A0"/>
                </a:solidFill>
                <a:latin typeface="Arial"/>
                <a:ea typeface="Arial"/>
                <a:cs typeface="Arial"/>
              </a:defRPr>
            </a:pPr>
            <a:r>
              <a:rPr sz="1050" b="1">
                <a:solidFill>
                  <a:srgbClr val="1456A0"/>
                </a:solidFill>
                <a:latin typeface="Arial"/>
                <a:ea typeface="Arial"/>
                <a:cs typeface="Arial"/>
              </a:rPr>
              <a:t>HOMESKOLAR · VALIDATION DU CADRAGE</a:t>
            </a:r>
          </a:p>
        </p:txBody>
      </p:sp>
      <p:sp>
        <p:nvSpPr>
          <p:cNvPr id="2" name="title-5">
            <a:extLst xmlns:a="http://schemas.openxmlformats.org/drawingml/2006/main">
              <a:ext uri="{FF2B5EF4-FFF2-40B4-BE49-F238E27FC236}">
                <a16:creationId xmlns:a16="http://schemas.microsoft.com/office/drawing/2014/main" id="{0121F397-1973-4028-853A-072312FF89F7}"/>
              </a:ext>
            </a:extLst>
          </p:cNvPr>
          <p:cNvSpPr>
            <a:spLocks xmlns:a="http://schemas.openxmlformats.org/drawingml/2006/main" noGrp="1"/>
          </p:cNvSpPr>
          <p:nvPr/>
        </p:nvSpPr>
        <p:spPr>
          <a:xfrm xmlns:a="http://schemas.openxmlformats.org/drawingml/2006/main">
            <a:off x="533400" y="628650"/>
            <a:ext cx="11125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3600" b="1">
                <a:solidFill>
                  <a:srgbClr val="0D1B2A"/>
                </a:solidFill>
                <a:latin typeface="Arial"/>
                <a:ea typeface="Arial"/>
                <a:cs typeface="Arial"/>
              </a:defRPr>
            </a:pPr>
            <a:r>
              <a:rPr sz="3600" b="1">
                <a:solidFill>
                  <a:srgbClr val="0D1B2A"/>
                </a:solidFill>
                <a:latin typeface="Arial"/>
                <a:ea typeface="Arial"/>
                <a:cs typeface="Arial"/>
              </a:rPr>
              <a:t>Un parcours simple et volontairement limité</a:t>
            </a:r>
          </a:p>
        </p:txBody>
      </p:sp>
      <p:sp>
        <p:nvSpPr>
          <p:cNvPr id="3" name="rule-56-142">
            <a:extLst xmlns:a="http://schemas.openxmlformats.org/drawingml/2006/main">
              <a:ext uri="{FF2B5EF4-FFF2-40B4-BE49-F238E27FC236}">
                <a16:creationId xmlns:a16="http://schemas.microsoft.com/office/drawing/2014/main" id="{39536B57-15A7-4362-874A-0FAC505B9D80}"/>
              </a:ext>
            </a:extLst>
          </p:cNvPr>
          <p:cNvSpPr>
            <a:spLocks xmlns:a="http://schemas.openxmlformats.org/drawingml/2006/main" noGrp="1"/>
          </p:cNvSpPr>
          <p:nvPr/>
        </p:nvSpPr>
        <p:spPr>
          <a:xfrm xmlns:a="http://schemas.openxmlformats.org/drawingml/2006/main">
            <a:off x="533400" y="1352550"/>
            <a:ext cx="111252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4" name="number-5">
            <a:extLst xmlns:a="http://schemas.openxmlformats.org/drawingml/2006/main">
              <a:ext uri="{FF2B5EF4-FFF2-40B4-BE49-F238E27FC236}">
                <a16:creationId xmlns:a16="http://schemas.microsoft.com/office/drawing/2014/main" id="{36373AAD-331E-4FB0-BBF9-515B57D17587}"/>
              </a:ext>
            </a:extLst>
          </p:cNvPr>
          <p:cNvSpPr>
            <a:spLocks xmlns:a="http://schemas.openxmlformats.org/drawingml/2006/main" noGrp="1"/>
          </p:cNvSpPr>
          <p:nvPr/>
        </p:nvSpPr>
        <p:spPr>
          <a:xfrm xmlns:a="http://schemas.openxmlformats.org/drawingml/2006/main">
            <a:off x="11220450" y="64389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a:solidFill>
                  <a:srgbClr val="52606D"/>
                </a:solidFill>
                <a:latin typeface="Arial"/>
                <a:ea typeface="Arial"/>
                <a:cs typeface="Arial"/>
              </a:defRPr>
            </a:pPr>
            <a:r>
              <a:rPr sz="900" b="0">
                <a:solidFill>
                  <a:srgbClr val="52606D"/>
                </a:solidFill>
                <a:latin typeface="Arial"/>
                <a:ea typeface="Arial"/>
                <a:cs typeface="Arial"/>
              </a:rPr>
              <a:t>05</a:t>
            </a:r>
          </a:p>
        </p:txBody>
      </p:sp>
      <p:sp>
        <p:nvSpPr>
          <p:cNvPr id="5" name="s5-lead">
            <a:extLst xmlns:a="http://schemas.openxmlformats.org/drawingml/2006/main">
              <a:ext uri="{FF2B5EF4-FFF2-40B4-BE49-F238E27FC236}">
                <a16:creationId xmlns:a16="http://schemas.microsoft.com/office/drawing/2014/main" id="{5572CDF4-CE54-42B0-9554-7063A124D525}"/>
              </a:ext>
            </a:extLst>
          </p:cNvPr>
          <p:cNvSpPr>
            <a:spLocks xmlns:a="http://schemas.openxmlformats.org/drawingml/2006/main" noGrp="1"/>
          </p:cNvSpPr>
          <p:nvPr/>
        </p:nvSpPr>
        <p:spPr>
          <a:xfrm xmlns:a="http://schemas.openxmlformats.org/drawingml/2006/main">
            <a:off x="533400" y="1676400"/>
            <a:ext cx="9525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0">
                <a:solidFill>
                  <a:srgbClr val="52606D"/>
                </a:solidFill>
                <a:latin typeface="Arial"/>
                <a:ea typeface="Arial"/>
                <a:cs typeface="Arial"/>
              </a:defRPr>
            </a:pPr>
            <a:r>
              <a:rPr sz="1875" b="0">
                <a:solidFill>
                  <a:srgbClr val="52606D"/>
                </a:solidFill>
                <a:latin typeface="Arial"/>
                <a:ea typeface="Arial"/>
                <a:cs typeface="Arial"/>
              </a:rPr>
              <a:t>Le produit accompagne le binôme depuis l’inscription jusqu’au suivi régulier.</a:t>
            </a:r>
          </a:p>
        </p:txBody>
      </p:sp>
      <p:sp>
        <p:nvSpPr>
          <p:cNvPr id="6" name="journey-0">
            <a:extLst xmlns:a="http://schemas.openxmlformats.org/drawingml/2006/main">
              <a:ext uri="{FF2B5EF4-FFF2-40B4-BE49-F238E27FC236}">
                <a16:creationId xmlns:a16="http://schemas.microsoft.com/office/drawing/2014/main" id="{CE1B8807-5FC2-455E-A59B-26DACD612BD4}"/>
              </a:ext>
            </a:extLst>
          </p:cNvPr>
          <p:cNvSpPr>
            <a:spLocks xmlns:a="http://schemas.openxmlformats.org/drawingml/2006/main" noGrp="1"/>
          </p:cNvSpPr>
          <p:nvPr/>
        </p:nvSpPr>
        <p:spPr>
          <a:xfrm xmlns:a="http://schemas.openxmlformats.org/drawingml/2006/main">
            <a:off x="628650" y="2781300"/>
            <a:ext cx="1123950" cy="11239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7" name="journey-1">
            <a:extLst xmlns:a="http://schemas.openxmlformats.org/drawingml/2006/main">
              <a:ext uri="{FF2B5EF4-FFF2-40B4-BE49-F238E27FC236}">
                <a16:creationId xmlns:a16="http://schemas.microsoft.com/office/drawing/2014/main" id="{17C7BE8E-0F79-46EF-94EE-82F457E3668E}"/>
              </a:ext>
            </a:extLst>
          </p:cNvPr>
          <p:cNvSpPr>
            <a:spLocks xmlns:a="http://schemas.openxmlformats.org/drawingml/2006/main" noGrp="1"/>
          </p:cNvSpPr>
          <p:nvPr/>
        </p:nvSpPr>
        <p:spPr>
          <a:xfrm xmlns:a="http://schemas.openxmlformats.org/drawingml/2006/main">
            <a:off x="2857500" y="2781300"/>
            <a:ext cx="1123950" cy="11239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8" name="journey-2">
            <a:extLst xmlns:a="http://schemas.openxmlformats.org/drawingml/2006/main">
              <a:ext uri="{FF2B5EF4-FFF2-40B4-BE49-F238E27FC236}">
                <a16:creationId xmlns:a16="http://schemas.microsoft.com/office/drawing/2014/main" id="{1DDCE72A-35D5-430E-A5FF-860EF4010E38}"/>
              </a:ext>
            </a:extLst>
          </p:cNvPr>
          <p:cNvSpPr>
            <a:spLocks xmlns:a="http://schemas.openxmlformats.org/drawingml/2006/main" noGrp="1"/>
          </p:cNvSpPr>
          <p:nvPr/>
        </p:nvSpPr>
        <p:spPr>
          <a:xfrm xmlns:a="http://schemas.openxmlformats.org/drawingml/2006/main">
            <a:off x="5086350" y="2781300"/>
            <a:ext cx="1123950" cy="1123950"/>
          </a:xfrm>
          <a:prstGeom xmlns:a="http://schemas.openxmlformats.org/drawingml/2006/main" prst="ellipse">
            <a:avLst/>
          </a:prstGeom>
          <a:solidFill xmlns:a="http://schemas.openxmlformats.org/drawingml/2006/main">
            <a:srgbClr val="D0EDFA"/>
          </a:solidFill>
          <a:ln xmlns:a="http://schemas.openxmlformats.org/drawingml/2006/main" w="9525">
            <a:solidFill>
              <a:srgbClr val="1456A0"/>
            </a:solidFill>
            <a:prstDash val="solid"/>
          </a:ln>
        </p:spPr>
      </p:sp>
      <p:sp>
        <p:nvSpPr>
          <p:cNvPr id="9" name="journey-3">
            <a:extLst xmlns:a="http://schemas.openxmlformats.org/drawingml/2006/main">
              <a:ext uri="{FF2B5EF4-FFF2-40B4-BE49-F238E27FC236}">
                <a16:creationId xmlns:a16="http://schemas.microsoft.com/office/drawing/2014/main" id="{DF663531-CCA4-4BB4-9E12-2C08E1E16B5D}"/>
              </a:ext>
            </a:extLst>
          </p:cNvPr>
          <p:cNvSpPr>
            <a:spLocks xmlns:a="http://schemas.openxmlformats.org/drawingml/2006/main" noGrp="1"/>
          </p:cNvSpPr>
          <p:nvPr/>
        </p:nvSpPr>
        <p:spPr>
          <a:xfrm xmlns:a="http://schemas.openxmlformats.org/drawingml/2006/main">
            <a:off x="7315200" y="2781300"/>
            <a:ext cx="1123950" cy="1123950"/>
          </a:xfrm>
          <a:prstGeom xmlns:a="http://schemas.openxmlformats.org/drawingml/2006/main" prst="ellipse">
            <a:avLst/>
          </a:prstGeom>
          <a:solidFill xmlns:a="http://schemas.openxmlformats.org/drawingml/2006/main">
            <a:srgbClr val="D0EDFA"/>
          </a:solidFill>
          <a:ln xmlns:a="http://schemas.openxmlformats.org/drawingml/2006/main" w="9525">
            <a:solidFill>
              <a:srgbClr val="1456A0"/>
            </a:solidFill>
            <a:prstDash val="solid"/>
          </a:ln>
        </p:spPr>
      </p:sp>
      <p:sp>
        <p:nvSpPr>
          <p:cNvPr id="10" name="journey-4">
            <a:extLst xmlns:a="http://schemas.openxmlformats.org/drawingml/2006/main">
              <a:ext uri="{FF2B5EF4-FFF2-40B4-BE49-F238E27FC236}">
                <a16:creationId xmlns:a16="http://schemas.microsoft.com/office/drawing/2014/main" id="{84E1602D-533D-4130-821B-5CFEE98ECD15}"/>
              </a:ext>
            </a:extLst>
          </p:cNvPr>
          <p:cNvSpPr>
            <a:spLocks xmlns:a="http://schemas.openxmlformats.org/drawingml/2006/main" noGrp="1"/>
          </p:cNvSpPr>
          <p:nvPr/>
        </p:nvSpPr>
        <p:spPr>
          <a:xfrm xmlns:a="http://schemas.openxmlformats.org/drawingml/2006/main">
            <a:off x="9544050" y="2781300"/>
            <a:ext cx="1123950" cy="1123950"/>
          </a:xfrm>
          <a:prstGeom xmlns:a="http://schemas.openxmlformats.org/drawingml/2006/main" prst="ellipse">
            <a:avLst/>
          </a:prstGeom>
          <a:solidFill xmlns:a="http://schemas.openxmlformats.org/drawingml/2006/main">
            <a:srgbClr val="D0EDFA"/>
          </a:solidFill>
          <a:ln xmlns:a="http://schemas.openxmlformats.org/drawingml/2006/main" w="9525">
            <a:solidFill>
              <a:srgbClr val="1456A0"/>
            </a:solidFill>
            <a:prstDash val="solid"/>
          </a:ln>
        </p:spPr>
      </p:sp>
      <p:cxnSp>
        <p:nvCxnSpPr>
          <p:cNvPr id="34" name=""/>
          <p:cNvCxnSpPr>
            <a:stCxn xmlns:a="http://schemas.openxmlformats.org/drawingml/2006/main" id="7" idx="2"/>
            <a:endCxn xmlns:a="http://schemas.openxmlformats.org/drawingml/2006/main" id="6" idx="6"/>
          </p:cNvCxnSpPr>
          <p:nvPr/>
        </p:nvCxnSpPr>
        <p:spPr>
          <a:xfrm xmlns:a="http://schemas.openxmlformats.org/drawingml/2006/main" flipH="1">
            <a:off x="1752600" y="3343275"/>
            <a:ext cx="1104900" cy="0"/>
          </a:xfrm>
          <a:prstGeom xmlns:a="http://schemas.openxmlformats.org/drawingml/2006/main" prst="straightConnector1">
            <a:avLst/>
          </a:prstGeom>
          <a:ln xmlns:a="http://schemas.openxmlformats.org/drawingml/2006/main" w="19050">
            <a:solidFill>
              <a:srgbClr val="1456A0"/>
            </a:solidFill>
            <a:prstDash val="solid"/>
            <a:headEnd type="arrow" w="sm" len="sm"/>
          </a:ln>
        </p:spPr>
      </p:cxnSp>
      <p:cxnSp>
        <p:nvCxnSpPr>
          <p:cNvPr id="35" name=""/>
          <p:cNvCxnSpPr>
            <a:stCxn xmlns:a="http://schemas.openxmlformats.org/drawingml/2006/main" id="8" idx="2"/>
            <a:endCxn xmlns:a="http://schemas.openxmlformats.org/drawingml/2006/main" id="7" idx="6"/>
          </p:cNvCxnSpPr>
          <p:nvPr/>
        </p:nvCxnSpPr>
        <p:spPr>
          <a:xfrm xmlns:a="http://schemas.openxmlformats.org/drawingml/2006/main" flipH="1">
            <a:off x="3981450" y="3343275"/>
            <a:ext cx="1104900" cy="0"/>
          </a:xfrm>
          <a:prstGeom xmlns:a="http://schemas.openxmlformats.org/drawingml/2006/main" prst="straightConnector1">
            <a:avLst/>
          </a:prstGeom>
          <a:ln xmlns:a="http://schemas.openxmlformats.org/drawingml/2006/main" w="19050">
            <a:solidFill>
              <a:srgbClr val="1456A0"/>
            </a:solidFill>
            <a:prstDash val="solid"/>
            <a:headEnd type="arrow" w="sm" len="sm"/>
          </a:ln>
        </p:spPr>
      </p:cxnSp>
      <p:cxnSp>
        <p:nvCxnSpPr>
          <p:cNvPr id="36" name=""/>
          <p:cNvCxnSpPr>
            <a:stCxn xmlns:a="http://schemas.openxmlformats.org/drawingml/2006/main" id="9" idx="2"/>
            <a:endCxn xmlns:a="http://schemas.openxmlformats.org/drawingml/2006/main" id="8" idx="6"/>
          </p:cNvCxnSpPr>
          <p:nvPr/>
        </p:nvCxnSpPr>
        <p:spPr>
          <a:xfrm xmlns:a="http://schemas.openxmlformats.org/drawingml/2006/main" flipH="1">
            <a:off x="6210300" y="3343275"/>
            <a:ext cx="1104900" cy="0"/>
          </a:xfrm>
          <a:prstGeom xmlns:a="http://schemas.openxmlformats.org/drawingml/2006/main" prst="straightConnector1">
            <a:avLst/>
          </a:prstGeom>
          <a:ln xmlns:a="http://schemas.openxmlformats.org/drawingml/2006/main" w="19050">
            <a:solidFill>
              <a:srgbClr val="1456A0"/>
            </a:solidFill>
            <a:prstDash val="solid"/>
            <a:headEnd type="arrow" w="sm" len="sm"/>
          </a:ln>
        </p:spPr>
      </p:cxnSp>
      <p:cxnSp>
        <p:nvCxnSpPr>
          <p:cNvPr id="37" name=""/>
          <p:cNvCxnSpPr>
            <a:stCxn xmlns:a="http://schemas.openxmlformats.org/drawingml/2006/main" id="10" idx="2"/>
            <a:endCxn xmlns:a="http://schemas.openxmlformats.org/drawingml/2006/main" id="9" idx="6"/>
          </p:cNvCxnSpPr>
          <p:nvPr/>
        </p:nvCxnSpPr>
        <p:spPr>
          <a:xfrm xmlns:a="http://schemas.openxmlformats.org/drawingml/2006/main" flipH="1">
            <a:off x="8439150" y="3343275"/>
            <a:ext cx="1104900" cy="0"/>
          </a:xfrm>
          <a:prstGeom xmlns:a="http://schemas.openxmlformats.org/drawingml/2006/main" prst="straightConnector1">
            <a:avLst/>
          </a:prstGeom>
          <a:ln xmlns:a="http://schemas.openxmlformats.org/drawingml/2006/main" w="19050">
            <a:solidFill>
              <a:srgbClr val="1456A0"/>
            </a:solidFill>
            <a:prstDash val="solid"/>
            <a:headEnd type="arrow" w="sm" len="sm"/>
          </a:ln>
        </p:spPr>
      </p:cxnSp>
      <p:sp>
        <p:nvSpPr>
          <p:cNvPr id="15" name="journey-label-0">
            <a:extLst xmlns:a="http://schemas.openxmlformats.org/drawingml/2006/main">
              <a:ext uri="{FF2B5EF4-FFF2-40B4-BE49-F238E27FC236}">
                <a16:creationId xmlns:a16="http://schemas.microsoft.com/office/drawing/2014/main" id="{3A44FCF4-0C1D-4D18-A52B-4C12EC3805ED}"/>
              </a:ext>
            </a:extLst>
          </p:cNvPr>
          <p:cNvSpPr>
            <a:spLocks xmlns:a="http://schemas.openxmlformats.org/drawingml/2006/main" noGrp="1"/>
          </p:cNvSpPr>
          <p:nvPr/>
        </p:nvSpPr>
        <p:spPr>
          <a:xfrm xmlns:a="http://schemas.openxmlformats.org/drawingml/2006/main">
            <a:off x="628650" y="2781300"/>
            <a:ext cx="11239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Créer</a:t>
            </a:r>
          </a:p>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un compte</a:t>
            </a:r>
          </a:p>
        </p:txBody>
      </p:sp>
      <p:sp>
        <p:nvSpPr>
          <p:cNvPr id="16" name="journey-label-1">
            <a:extLst xmlns:a="http://schemas.openxmlformats.org/drawingml/2006/main">
              <a:ext uri="{FF2B5EF4-FFF2-40B4-BE49-F238E27FC236}">
                <a16:creationId xmlns:a16="http://schemas.microsoft.com/office/drawing/2014/main" id="{85631727-3664-4231-B94A-F6A092E130FB}"/>
              </a:ext>
            </a:extLst>
          </p:cNvPr>
          <p:cNvSpPr>
            <a:spLocks xmlns:a="http://schemas.openxmlformats.org/drawingml/2006/main" noGrp="1"/>
          </p:cNvSpPr>
          <p:nvPr/>
        </p:nvSpPr>
        <p:spPr>
          <a:xfrm xmlns:a="http://schemas.openxmlformats.org/drawingml/2006/main">
            <a:off x="2857500" y="2781300"/>
            <a:ext cx="11239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Affecter</a:t>
            </a:r>
          </a:p>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un tuteur disponible</a:t>
            </a:r>
          </a:p>
        </p:txBody>
      </p:sp>
      <p:sp>
        <p:nvSpPr>
          <p:cNvPr id="17" name="journey-label-2">
            <a:extLst xmlns:a="http://schemas.openxmlformats.org/drawingml/2006/main">
              <a:ext uri="{FF2B5EF4-FFF2-40B4-BE49-F238E27FC236}">
                <a16:creationId xmlns:a16="http://schemas.microsoft.com/office/drawing/2014/main" id="{6D2B30B9-79D5-4969-8357-E29538C6EB44}"/>
              </a:ext>
            </a:extLst>
          </p:cNvPr>
          <p:cNvSpPr>
            <a:spLocks xmlns:a="http://schemas.openxmlformats.org/drawingml/2006/main" noGrp="1"/>
          </p:cNvSpPr>
          <p:nvPr/>
        </p:nvSpPr>
        <p:spPr>
          <a:xfrm xmlns:a="http://schemas.openxmlformats.org/drawingml/2006/main">
            <a:off x="5086350" y="2781300"/>
            <a:ext cx="11239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0D1B2A"/>
                </a:solidFill>
                <a:latin typeface="Arial"/>
                <a:ea typeface="Arial"/>
                <a:cs typeface="Arial"/>
              </a:defRPr>
            </a:pPr>
            <a:r>
              <a:rPr sz="1425" b="1">
                <a:solidFill>
                  <a:srgbClr val="0D1B2A"/>
                </a:solidFill>
                <a:latin typeface="Arial"/>
                <a:ea typeface="Arial"/>
                <a:cs typeface="Arial"/>
              </a:rPr>
              <a:t>Échanger</a:t>
            </a:r>
          </a:p>
          <a:p xmlns:a="http://schemas.openxmlformats.org/drawingml/2006/main">
            <a:pPr algn="ctr">
              <a:defRPr sz="1425" b="1">
                <a:solidFill>
                  <a:srgbClr val="0D1B2A"/>
                </a:solidFill>
                <a:latin typeface="Arial"/>
                <a:ea typeface="Arial"/>
                <a:cs typeface="Arial"/>
              </a:defRPr>
            </a:pPr>
            <a:r>
              <a:rPr sz="1425" b="1">
                <a:solidFill>
                  <a:srgbClr val="0D1B2A"/>
                </a:solidFill>
                <a:latin typeface="Arial"/>
                <a:ea typeface="Arial"/>
                <a:cs typeface="Arial"/>
              </a:rPr>
              <a:t>des messages</a:t>
            </a:r>
          </a:p>
        </p:txBody>
      </p:sp>
      <p:sp>
        <p:nvSpPr>
          <p:cNvPr id="18" name="journey-label-3">
            <a:extLst xmlns:a="http://schemas.openxmlformats.org/drawingml/2006/main">
              <a:ext uri="{FF2B5EF4-FFF2-40B4-BE49-F238E27FC236}">
                <a16:creationId xmlns:a16="http://schemas.microsoft.com/office/drawing/2014/main" id="{854836BD-30C5-4092-BF6B-30777522201D}"/>
              </a:ext>
            </a:extLst>
          </p:cNvPr>
          <p:cNvSpPr>
            <a:spLocks xmlns:a="http://schemas.openxmlformats.org/drawingml/2006/main" noGrp="1"/>
          </p:cNvSpPr>
          <p:nvPr/>
        </p:nvSpPr>
        <p:spPr>
          <a:xfrm xmlns:a="http://schemas.openxmlformats.org/drawingml/2006/main">
            <a:off x="7315200" y="2781300"/>
            <a:ext cx="11239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0D1B2A"/>
                </a:solidFill>
                <a:latin typeface="Arial"/>
                <a:ea typeface="Arial"/>
                <a:cs typeface="Arial"/>
              </a:defRPr>
            </a:pPr>
            <a:r>
              <a:rPr sz="1425" b="1">
                <a:solidFill>
                  <a:srgbClr val="0D1B2A"/>
                </a:solidFill>
                <a:latin typeface="Arial"/>
                <a:ea typeface="Arial"/>
                <a:cs typeface="Arial"/>
              </a:rPr>
              <a:t>Planifier</a:t>
            </a:r>
          </a:p>
          <a:p xmlns:a="http://schemas.openxmlformats.org/drawingml/2006/main">
            <a:pPr algn="ctr">
              <a:defRPr sz="1425" b="1">
                <a:solidFill>
                  <a:srgbClr val="0D1B2A"/>
                </a:solidFill>
                <a:latin typeface="Arial"/>
                <a:ea typeface="Arial"/>
                <a:cs typeface="Arial"/>
              </a:defRPr>
            </a:pPr>
            <a:r>
              <a:rPr sz="1425" b="1">
                <a:solidFill>
                  <a:srgbClr val="0D1B2A"/>
                </a:solidFill>
                <a:latin typeface="Arial"/>
                <a:ea typeface="Arial"/>
                <a:cs typeface="Arial"/>
              </a:rPr>
              <a:t>un rendez-vous</a:t>
            </a:r>
          </a:p>
        </p:txBody>
      </p:sp>
      <p:sp>
        <p:nvSpPr>
          <p:cNvPr id="19" name="journey-label-4">
            <a:extLst xmlns:a="http://schemas.openxmlformats.org/drawingml/2006/main">
              <a:ext uri="{FF2B5EF4-FFF2-40B4-BE49-F238E27FC236}">
                <a16:creationId xmlns:a16="http://schemas.microsoft.com/office/drawing/2014/main" id="{2FADE7AB-B8E1-4304-9665-9B12EE0C2E3B}"/>
              </a:ext>
            </a:extLst>
          </p:cNvPr>
          <p:cNvSpPr>
            <a:spLocks xmlns:a="http://schemas.openxmlformats.org/drawingml/2006/main" noGrp="1"/>
          </p:cNvSpPr>
          <p:nvPr/>
        </p:nvSpPr>
        <p:spPr>
          <a:xfrm xmlns:a="http://schemas.openxmlformats.org/drawingml/2006/main">
            <a:off x="9544050" y="2781300"/>
            <a:ext cx="11239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0D1B2A"/>
                </a:solidFill>
                <a:latin typeface="Arial"/>
                <a:ea typeface="Arial"/>
                <a:cs typeface="Arial"/>
              </a:defRPr>
            </a:pPr>
            <a:r>
              <a:rPr sz="1425" b="1">
                <a:solidFill>
                  <a:srgbClr val="0D1B2A"/>
                </a:solidFill>
                <a:latin typeface="Arial"/>
                <a:ea typeface="Arial"/>
                <a:cs typeface="Arial"/>
              </a:rPr>
              <a:t>Suivre</a:t>
            </a:r>
          </a:p>
          <a:p xmlns:a="http://schemas.openxmlformats.org/drawingml/2006/main">
            <a:pPr algn="ctr">
              <a:defRPr sz="1425" b="1">
                <a:solidFill>
                  <a:srgbClr val="0D1B2A"/>
                </a:solidFill>
                <a:latin typeface="Arial"/>
                <a:ea typeface="Arial"/>
                <a:cs typeface="Arial"/>
              </a:defRPr>
            </a:pPr>
            <a:r>
              <a:rPr sz="1425" b="1">
                <a:solidFill>
                  <a:srgbClr val="0D1B2A"/>
                </a:solidFill>
                <a:latin typeface="Arial"/>
                <a:ea typeface="Arial"/>
                <a:cs typeface="Arial"/>
              </a:rPr>
              <a:t>les tâches</a:t>
            </a:r>
          </a:p>
        </p:txBody>
      </p:sp>
      <p:sp>
        <p:nvSpPr>
          <p:cNvPr id="20" name="s5-out">
            <a:extLst xmlns:a="http://schemas.openxmlformats.org/drawingml/2006/main">
              <a:ext uri="{FF2B5EF4-FFF2-40B4-BE49-F238E27FC236}">
                <a16:creationId xmlns:a16="http://schemas.microsoft.com/office/drawing/2014/main" id="{ABC380EE-7C2A-47E5-81F9-1B65188C35D1}"/>
              </a:ext>
            </a:extLst>
          </p:cNvPr>
          <p:cNvSpPr>
            <a:spLocks xmlns:a="http://schemas.openxmlformats.org/drawingml/2006/main" noGrp="1"/>
          </p:cNvSpPr>
          <p:nvPr/>
        </p:nvSpPr>
        <p:spPr>
          <a:xfrm xmlns:a="http://schemas.openxmlformats.org/drawingml/2006/main">
            <a:off x="533400" y="4857750"/>
            <a:ext cx="11125200" cy="10287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1" name="s5-out-label">
            <a:extLst xmlns:a="http://schemas.openxmlformats.org/drawingml/2006/main">
              <a:ext uri="{FF2B5EF4-FFF2-40B4-BE49-F238E27FC236}">
                <a16:creationId xmlns:a16="http://schemas.microsoft.com/office/drawing/2014/main" id="{4890B0EA-B9EB-4C39-AA7F-9D022F0EC08F}"/>
              </a:ext>
            </a:extLst>
          </p:cNvPr>
          <p:cNvSpPr>
            <a:spLocks xmlns:a="http://schemas.openxmlformats.org/drawingml/2006/main" noGrp="1"/>
          </p:cNvSpPr>
          <p:nvPr/>
        </p:nvSpPr>
        <p:spPr>
          <a:xfrm xmlns:a="http://schemas.openxmlformats.org/drawingml/2006/main">
            <a:off x="723900" y="502920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a:solidFill>
                  <a:srgbClr val="1456A0"/>
                </a:solidFill>
                <a:latin typeface="Arial"/>
                <a:ea typeface="Arial"/>
                <a:cs typeface="Arial"/>
              </a:defRPr>
            </a:pPr>
            <a:r>
              <a:rPr sz="1125" b="1">
                <a:solidFill>
                  <a:srgbClr val="1456A0"/>
                </a:solidFill>
                <a:latin typeface="Arial"/>
                <a:ea typeface="Arial"/>
                <a:cs typeface="Arial"/>
              </a:rPr>
              <a:t>HORS PÉRIMÈTRE DE LA V1</a:t>
            </a:r>
          </a:p>
        </p:txBody>
      </p:sp>
      <p:sp>
        <p:nvSpPr>
          <p:cNvPr id="22" name="s5-out-text">
            <a:extLst xmlns:a="http://schemas.openxmlformats.org/drawingml/2006/main">
              <a:ext uri="{FF2B5EF4-FFF2-40B4-BE49-F238E27FC236}">
                <a16:creationId xmlns:a16="http://schemas.microsoft.com/office/drawing/2014/main" id="{F3D63F8F-293C-4F79-8898-6150C3E8E919}"/>
              </a:ext>
            </a:extLst>
          </p:cNvPr>
          <p:cNvSpPr>
            <a:spLocks xmlns:a="http://schemas.openxmlformats.org/drawingml/2006/main" noGrp="1"/>
          </p:cNvSpPr>
          <p:nvPr/>
        </p:nvSpPr>
        <p:spPr>
          <a:xfrm xmlns:a="http://schemas.openxmlformats.org/drawingml/2006/main">
            <a:off x="3390900" y="5019675"/>
            <a:ext cx="7867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a:solidFill>
                  <a:srgbClr val="0D1B2A"/>
                </a:solidFill>
                <a:latin typeface="Arial"/>
                <a:ea typeface="Arial"/>
                <a:cs typeface="Arial"/>
              </a:defRPr>
            </a:pPr>
            <a:r>
              <a:rPr sz="1650" b="0">
                <a:solidFill>
                  <a:srgbClr val="0D1B2A"/>
                </a:solidFill>
                <a:latin typeface="Arial"/>
                <a:ea typeface="Arial"/>
                <a:cs typeface="Arial"/>
              </a:rPr>
              <a:t>Recherche · pièces jointes · visioconférence · rappels · récurrence · historique des affectations</a:t>
            </a:r>
          </a:p>
        </p:txBody>
      </p:sp>
      <p:sp>
        <p:nvSpPr>
          <p:cNvPr id="23" name="source-6icua7">
            <a:extLst xmlns:a="http://schemas.openxmlformats.org/drawingml/2006/main">
              <a:ext uri="{FF2B5EF4-FFF2-40B4-BE49-F238E27FC236}">
                <a16:creationId xmlns:a16="http://schemas.microsoft.com/office/drawing/2014/main" id="{8E1147D4-42CB-4500-964B-498B6C12A6BE}"/>
              </a:ext>
            </a:extLst>
          </p:cNvPr>
          <p:cNvSpPr>
            <a:spLocks xmlns:a="http://schemas.openxmlformats.org/drawingml/2006/main" noGrp="1"/>
          </p:cNvSpPr>
          <p:nvPr/>
        </p:nvSpPr>
        <p:spPr>
          <a:xfrm xmlns:a="http://schemas.openxmlformats.org/drawingml/2006/main">
            <a:off x="533400" y="6429375"/>
            <a:ext cx="914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825" b="0">
                <a:solidFill>
                  <a:srgbClr val="52606D"/>
                </a:solidFill>
                <a:latin typeface="Arial"/>
                <a:ea typeface="Arial"/>
                <a:cs typeface="Arial"/>
              </a:defRPr>
            </a:pPr>
            <a:r>
              <a:rPr sz="825" b="0">
                <a:solidFill>
                  <a:srgbClr val="52606D"/>
                </a:solidFill>
                <a:latin typeface="Arial"/>
                <a:ea typeface="Arial"/>
                <a:cs typeface="Arial"/>
              </a:rPr>
              <a:t>Source : spécifications fonctionnelles et décisions de périmètre validées</a:t>
            </a:r>
          </a:p>
        </p:txBody>
      </p:sp>
    </p:spTree>
    <p:extLst>
      <p:ext uri="{BB962C8B-B14F-4D97-AF65-F5344CB8AC3E}">
        <p14:creationId xmlns:p14="http://schemas.microsoft.com/office/powerpoint/2010/main" val="191107923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kicker-6">
            <a:extLst xmlns:a="http://schemas.openxmlformats.org/drawingml/2006/main">
              <a:ext uri="{FF2B5EF4-FFF2-40B4-BE49-F238E27FC236}">
                <a16:creationId xmlns:a16="http://schemas.microsoft.com/office/drawing/2014/main" id="{D7270803-2C98-4882-BFAE-7A0194C2FC07}"/>
              </a:ext>
            </a:extLst>
          </p:cNvPr>
          <p:cNvSpPr>
            <a:spLocks xmlns:a="http://schemas.openxmlformats.org/drawingml/2006/main" noGrp="1"/>
          </p:cNvSpPr>
          <p:nvPr/>
        </p:nvSpPr>
        <p:spPr>
          <a:xfrm xmlns:a="http://schemas.openxmlformats.org/drawingml/2006/main">
            <a:off x="533400" y="304800"/>
            <a:ext cx="590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1456A0"/>
                </a:solidFill>
                <a:latin typeface="Arial"/>
                <a:ea typeface="Arial"/>
                <a:cs typeface="Arial"/>
              </a:defRPr>
            </a:pPr>
            <a:r>
              <a:rPr sz="1050" b="1">
                <a:solidFill>
                  <a:srgbClr val="1456A0"/>
                </a:solidFill>
                <a:latin typeface="Arial"/>
                <a:ea typeface="Arial"/>
                <a:cs typeface="Arial"/>
              </a:rPr>
              <a:t>HOMESKOLAR · VALIDATION DU CADRAGE</a:t>
            </a:r>
          </a:p>
        </p:txBody>
      </p:sp>
      <p:sp>
        <p:nvSpPr>
          <p:cNvPr id="2" name="title-6">
            <a:extLst xmlns:a="http://schemas.openxmlformats.org/drawingml/2006/main">
              <a:ext uri="{FF2B5EF4-FFF2-40B4-BE49-F238E27FC236}">
                <a16:creationId xmlns:a16="http://schemas.microsoft.com/office/drawing/2014/main" id="{76323F2F-1F82-4197-AC33-474491667718}"/>
              </a:ext>
            </a:extLst>
          </p:cNvPr>
          <p:cNvSpPr>
            <a:spLocks xmlns:a="http://schemas.openxmlformats.org/drawingml/2006/main" noGrp="1"/>
          </p:cNvSpPr>
          <p:nvPr/>
        </p:nvSpPr>
        <p:spPr>
          <a:xfrm xmlns:a="http://schemas.openxmlformats.org/drawingml/2006/main">
            <a:off x="533400" y="628650"/>
            <a:ext cx="11125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3600" b="1">
                <a:solidFill>
                  <a:srgbClr val="0D1B2A"/>
                </a:solidFill>
                <a:latin typeface="Arial"/>
                <a:ea typeface="Arial"/>
                <a:cs typeface="Arial"/>
              </a:defRPr>
            </a:pPr>
            <a:r>
              <a:rPr sz="3600" b="1">
                <a:solidFill>
                  <a:srgbClr val="0D1B2A"/>
                </a:solidFill>
                <a:latin typeface="Arial"/>
                <a:ea typeface="Arial"/>
                <a:cs typeface="Arial"/>
              </a:rPr>
              <a:t>Une architecture monolithique répond au besoin</a:t>
            </a:r>
          </a:p>
        </p:txBody>
      </p:sp>
      <p:sp>
        <p:nvSpPr>
          <p:cNvPr id="3" name="rule-56-142">
            <a:extLst xmlns:a="http://schemas.openxmlformats.org/drawingml/2006/main">
              <a:ext uri="{FF2B5EF4-FFF2-40B4-BE49-F238E27FC236}">
                <a16:creationId xmlns:a16="http://schemas.microsoft.com/office/drawing/2014/main" id="{5509007D-07BA-441C-BB2F-DE84A0B6EC9A}"/>
              </a:ext>
            </a:extLst>
          </p:cNvPr>
          <p:cNvSpPr>
            <a:spLocks xmlns:a="http://schemas.openxmlformats.org/drawingml/2006/main" noGrp="1"/>
          </p:cNvSpPr>
          <p:nvPr/>
        </p:nvSpPr>
        <p:spPr>
          <a:xfrm xmlns:a="http://schemas.openxmlformats.org/drawingml/2006/main">
            <a:off x="533400" y="1352550"/>
            <a:ext cx="111252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4" name="number-6">
            <a:extLst xmlns:a="http://schemas.openxmlformats.org/drawingml/2006/main">
              <a:ext uri="{FF2B5EF4-FFF2-40B4-BE49-F238E27FC236}">
                <a16:creationId xmlns:a16="http://schemas.microsoft.com/office/drawing/2014/main" id="{6E37F122-F767-4BA0-B590-C6D71B1EA3B9}"/>
              </a:ext>
            </a:extLst>
          </p:cNvPr>
          <p:cNvSpPr>
            <a:spLocks xmlns:a="http://schemas.openxmlformats.org/drawingml/2006/main" noGrp="1"/>
          </p:cNvSpPr>
          <p:nvPr/>
        </p:nvSpPr>
        <p:spPr>
          <a:xfrm xmlns:a="http://schemas.openxmlformats.org/drawingml/2006/main">
            <a:off x="11220450" y="64389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a:solidFill>
                  <a:srgbClr val="52606D"/>
                </a:solidFill>
                <a:latin typeface="Arial"/>
                <a:ea typeface="Arial"/>
                <a:cs typeface="Arial"/>
              </a:defRPr>
            </a:pPr>
            <a:r>
              <a:rPr sz="900" b="0">
                <a:solidFill>
                  <a:srgbClr val="52606D"/>
                </a:solidFill>
                <a:latin typeface="Arial"/>
                <a:ea typeface="Arial"/>
                <a:cs typeface="Arial"/>
              </a:rPr>
              <a:t>06</a:t>
            </a:r>
          </a:p>
        </p:txBody>
      </p:sp>
      <p:sp>
        <p:nvSpPr>
          <p:cNvPr id="5" name="s6-lead">
            <a:extLst xmlns:a="http://schemas.openxmlformats.org/drawingml/2006/main">
              <a:ext uri="{FF2B5EF4-FFF2-40B4-BE49-F238E27FC236}">
                <a16:creationId xmlns:a16="http://schemas.microsoft.com/office/drawing/2014/main" id="{CA10C0C9-EDE9-426C-A656-4AA9F87680E5}"/>
              </a:ext>
            </a:extLst>
          </p:cNvPr>
          <p:cNvSpPr>
            <a:spLocks xmlns:a="http://schemas.openxmlformats.org/drawingml/2006/main" noGrp="1"/>
          </p:cNvSpPr>
          <p:nvPr/>
        </p:nvSpPr>
        <p:spPr>
          <a:xfrm xmlns:a="http://schemas.openxmlformats.org/drawingml/2006/main">
            <a:off x="533400" y="1676400"/>
            <a:ext cx="1076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22"/>
          </a:bodyPr>
          <a:lstStyle xmlns:a="http://schemas.openxmlformats.org/drawingml/2006/main"/>
          <a:p xmlns:a="http://schemas.openxmlformats.org/drawingml/2006/main">
            <a:pPr algn="l">
              <a:defRPr sz="1800" b="0">
                <a:solidFill>
                  <a:srgbClr val="52606D"/>
                </a:solidFill>
                <a:latin typeface="Arial"/>
                <a:ea typeface="Arial"/>
                <a:cs typeface="Arial"/>
              </a:defRPr>
            </a:pPr>
            <a:r>
              <a:rPr sz="1800" b="0">
                <a:solidFill>
                  <a:srgbClr val="52606D"/>
                </a:solidFill>
                <a:latin typeface="Arial"/>
                <a:ea typeface="Arial"/>
                <a:cs typeface="Arial"/>
              </a:rPr>
              <a:t>Le navigateur dialogue directement avec Django ; aucune API publique ni application front-end séparée n’est nécessaire.</a:t>
            </a:r>
          </a:p>
        </p:txBody>
      </p:sp>
      <p:sp>
        <p:nvSpPr>
          <p:cNvPr id="6" name="browser-node">
            <a:extLst xmlns:a="http://schemas.openxmlformats.org/drawingml/2006/main">
              <a:ext uri="{FF2B5EF4-FFF2-40B4-BE49-F238E27FC236}">
                <a16:creationId xmlns:a16="http://schemas.microsoft.com/office/drawing/2014/main" id="{84313E42-588F-4563-BE9A-4C3DDD89812D}"/>
              </a:ext>
            </a:extLst>
          </p:cNvPr>
          <p:cNvSpPr>
            <a:spLocks xmlns:a="http://schemas.openxmlformats.org/drawingml/2006/main" noGrp="1"/>
          </p:cNvSpPr>
          <p:nvPr/>
        </p:nvSpPr>
        <p:spPr>
          <a:xfrm xmlns:a="http://schemas.openxmlformats.org/drawingml/2006/main">
            <a:off x="666750" y="2819400"/>
            <a:ext cx="2286000" cy="1219200"/>
          </a:xfrm>
          <a:prstGeom xmlns:a="http://schemas.openxmlformats.org/drawingml/2006/main" prst="roundRect">
            <a:avLst>
              <a:gd name="adj" fmla="val 9375"/>
            </a:avLst>
          </a:prstGeom>
          <a:solidFill xmlns:a="http://schemas.openxmlformats.org/drawingml/2006/main">
            <a:srgbClr val="EAF2F8"/>
          </a:solidFill>
          <a:ln xmlns:a="http://schemas.openxmlformats.org/drawingml/2006/main" w="9525">
            <a:solidFill>
              <a:srgbClr val="1456A0"/>
            </a:solidFill>
            <a:prstDash val="solid"/>
          </a:ln>
        </p:spPr>
      </p:sp>
      <p:sp>
        <p:nvSpPr>
          <p:cNvPr id="7" name="django-node">
            <a:extLst xmlns:a="http://schemas.openxmlformats.org/drawingml/2006/main">
              <a:ext uri="{FF2B5EF4-FFF2-40B4-BE49-F238E27FC236}">
                <a16:creationId xmlns:a16="http://schemas.microsoft.com/office/drawing/2014/main" id="{58CF5EF7-3849-4A00-A506-494BE0811597}"/>
              </a:ext>
            </a:extLst>
          </p:cNvPr>
          <p:cNvSpPr>
            <a:spLocks xmlns:a="http://schemas.openxmlformats.org/drawingml/2006/main" noGrp="1"/>
          </p:cNvSpPr>
          <p:nvPr/>
        </p:nvSpPr>
        <p:spPr>
          <a:xfrm xmlns:a="http://schemas.openxmlformats.org/drawingml/2006/main">
            <a:off x="4762500" y="2419350"/>
            <a:ext cx="2857500" cy="2019300"/>
          </a:xfrm>
          <a:prstGeom xmlns:a="http://schemas.openxmlformats.org/drawingml/2006/main" prst="roundRect">
            <a:avLst>
              <a:gd name="adj" fmla="val 5660"/>
            </a:avLst>
          </a:prstGeom>
          <a:solidFill xmlns:a="http://schemas.openxmlformats.org/drawingml/2006/main">
            <a:srgbClr val="3D8DFF"/>
          </a:solidFill>
          <a:ln xmlns:a="http://schemas.openxmlformats.org/drawingml/2006/main" w="0">
            <a:noFill/>
            <a:prstDash val="solid"/>
          </a:ln>
        </p:spPr>
      </p:sp>
      <p:sp>
        <p:nvSpPr>
          <p:cNvPr id="8" name="db-node">
            <a:extLst xmlns:a="http://schemas.openxmlformats.org/drawingml/2006/main">
              <a:ext uri="{FF2B5EF4-FFF2-40B4-BE49-F238E27FC236}">
                <a16:creationId xmlns:a16="http://schemas.microsoft.com/office/drawing/2014/main" id="{A9E6228F-84F9-4250-BEE3-83A086CA80EE}"/>
              </a:ext>
            </a:extLst>
          </p:cNvPr>
          <p:cNvSpPr>
            <a:spLocks xmlns:a="http://schemas.openxmlformats.org/drawingml/2006/main" noGrp="1"/>
          </p:cNvSpPr>
          <p:nvPr/>
        </p:nvSpPr>
        <p:spPr>
          <a:xfrm xmlns:a="http://schemas.openxmlformats.org/drawingml/2006/main">
            <a:off x="9239250" y="2819400"/>
            <a:ext cx="2286000" cy="1219200"/>
          </a:xfrm>
          <a:prstGeom xmlns:a="http://schemas.openxmlformats.org/drawingml/2006/main" prst="roundRect">
            <a:avLst>
              <a:gd name="adj" fmla="val 9375"/>
            </a:avLst>
          </a:prstGeom>
          <a:solidFill xmlns:a="http://schemas.openxmlformats.org/drawingml/2006/main">
            <a:srgbClr val="EAF2F8"/>
          </a:solidFill>
          <a:ln xmlns:a="http://schemas.openxmlformats.org/drawingml/2006/main" w="9525">
            <a:solidFill>
              <a:srgbClr val="1456A0"/>
            </a:solidFill>
            <a:prstDash val="solid"/>
          </a:ln>
        </p:spPr>
      </p:sp>
      <p:cxnSp>
        <p:nvCxnSpPr>
          <p:cNvPr id="28" name=""/>
          <p:cNvCxnSpPr>
            <a:stCxn xmlns:a="http://schemas.openxmlformats.org/drawingml/2006/main" id="6" idx="3"/>
            <a:endCxn xmlns:a="http://schemas.openxmlformats.org/drawingml/2006/main" id="7" idx="1"/>
          </p:cNvCxnSpPr>
          <p:nvPr/>
        </p:nvCxnSpPr>
        <p:spPr>
          <a:xfrm xmlns:a="http://schemas.openxmlformats.org/drawingml/2006/main">
            <a:off x="2952750" y="3429000"/>
            <a:ext cx="1809750" cy="0"/>
          </a:xfrm>
          <a:prstGeom xmlns:a="http://schemas.openxmlformats.org/drawingml/2006/main" prst="straightConnector1">
            <a:avLst/>
          </a:prstGeom>
          <a:ln xmlns:a="http://schemas.openxmlformats.org/drawingml/2006/main" w="28575">
            <a:solidFill>
              <a:srgbClr val="1456A0"/>
            </a:solidFill>
            <a:prstDash val="solid"/>
            <a:headEnd type="arrow" w="med" len="med"/>
            <a:tailEnd type="arrow" w="med" len="med"/>
          </a:ln>
        </p:spPr>
      </p:cxnSp>
      <p:cxnSp>
        <p:nvCxnSpPr>
          <p:cNvPr id="29" name=""/>
          <p:cNvCxnSpPr>
            <a:stCxn xmlns:a="http://schemas.openxmlformats.org/drawingml/2006/main" id="7" idx="3"/>
            <a:endCxn xmlns:a="http://schemas.openxmlformats.org/drawingml/2006/main" id="8" idx="1"/>
          </p:cNvCxnSpPr>
          <p:nvPr/>
        </p:nvCxnSpPr>
        <p:spPr>
          <a:xfrm xmlns:a="http://schemas.openxmlformats.org/drawingml/2006/main">
            <a:off x="7620000" y="3429000"/>
            <a:ext cx="1619250" cy="0"/>
          </a:xfrm>
          <a:prstGeom xmlns:a="http://schemas.openxmlformats.org/drawingml/2006/main" prst="straightConnector1">
            <a:avLst/>
          </a:prstGeom>
          <a:ln xmlns:a="http://schemas.openxmlformats.org/drawingml/2006/main" w="28575">
            <a:solidFill>
              <a:srgbClr val="1456A0"/>
            </a:solidFill>
            <a:prstDash val="solid"/>
            <a:headEnd type="arrow" w="med" len="med"/>
            <a:tailEnd type="arrow" w="med" len="med"/>
          </a:ln>
        </p:spPr>
      </p:cxnSp>
      <p:sp>
        <p:nvSpPr>
          <p:cNvPr id="11" name="browser-title">
            <a:extLst xmlns:a="http://schemas.openxmlformats.org/drawingml/2006/main">
              <a:ext uri="{FF2B5EF4-FFF2-40B4-BE49-F238E27FC236}">
                <a16:creationId xmlns:a16="http://schemas.microsoft.com/office/drawing/2014/main" id="{CCD5C941-7069-462B-8F34-36DA73FD4947}"/>
              </a:ext>
            </a:extLst>
          </p:cNvPr>
          <p:cNvSpPr>
            <a:spLocks xmlns:a="http://schemas.openxmlformats.org/drawingml/2006/main" noGrp="1"/>
          </p:cNvSpPr>
          <p:nvPr/>
        </p:nvSpPr>
        <p:spPr>
          <a:xfrm xmlns:a="http://schemas.openxmlformats.org/drawingml/2006/main">
            <a:off x="666750" y="3009900"/>
            <a:ext cx="2286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025" b="1">
                <a:solidFill>
                  <a:srgbClr val="0D1B2A"/>
                </a:solidFill>
                <a:latin typeface="Arial"/>
                <a:ea typeface="Arial"/>
                <a:cs typeface="Arial"/>
              </a:defRPr>
            </a:pPr>
            <a:r>
              <a:rPr sz="2025" b="1">
                <a:solidFill>
                  <a:srgbClr val="0D1B2A"/>
                </a:solidFill>
                <a:latin typeface="Arial"/>
                <a:ea typeface="Arial"/>
                <a:cs typeface="Arial"/>
              </a:rPr>
              <a:t>Navigateur</a:t>
            </a:r>
          </a:p>
        </p:txBody>
      </p:sp>
      <p:sp>
        <p:nvSpPr>
          <p:cNvPr id="12" name="browser-body">
            <a:extLst xmlns:a="http://schemas.openxmlformats.org/drawingml/2006/main">
              <a:ext uri="{FF2B5EF4-FFF2-40B4-BE49-F238E27FC236}">
                <a16:creationId xmlns:a16="http://schemas.microsoft.com/office/drawing/2014/main" id="{03C92DCB-1596-47DB-B489-9F9F92F4CA3F}"/>
              </a:ext>
            </a:extLst>
          </p:cNvPr>
          <p:cNvSpPr>
            <a:spLocks xmlns:a="http://schemas.openxmlformats.org/drawingml/2006/main" noGrp="1"/>
          </p:cNvSpPr>
          <p:nvPr/>
        </p:nvSpPr>
        <p:spPr>
          <a:xfrm xmlns:a="http://schemas.openxmlformats.org/drawingml/2006/main">
            <a:off x="876300" y="3524250"/>
            <a:ext cx="1866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039"/>
          </a:bodyPr>
          <a:lstStyle xmlns:a="http://schemas.openxmlformats.org/drawingml/2006/main"/>
          <a:p xmlns:a="http://schemas.openxmlformats.org/drawingml/2006/main">
            <a:pPr algn="ctr">
              <a:defRPr sz="1425" b="0">
                <a:solidFill>
                  <a:srgbClr val="52606D"/>
                </a:solidFill>
                <a:latin typeface="Arial"/>
                <a:ea typeface="Arial"/>
                <a:cs typeface="Arial"/>
              </a:defRPr>
            </a:pPr>
            <a:r>
              <a:rPr sz="1425" b="0">
                <a:solidFill>
                  <a:srgbClr val="52606D"/>
                </a:solidFill>
                <a:latin typeface="Arial"/>
                <a:ea typeface="Arial"/>
                <a:cs typeface="Arial"/>
              </a:rPr>
              <a:t>HTML rendu côté serveur</a:t>
            </a:r>
          </a:p>
          <a:p xmlns:a="http://schemas.openxmlformats.org/drawingml/2006/main">
            <a:pPr algn="ctr">
              <a:defRPr sz="1425" b="0">
                <a:solidFill>
                  <a:srgbClr val="52606D"/>
                </a:solidFill>
                <a:latin typeface="Arial"/>
                <a:ea typeface="Arial"/>
                <a:cs typeface="Arial"/>
              </a:defRPr>
            </a:pPr>
            <a:r>
              <a:rPr sz="1425" b="0">
                <a:solidFill>
                  <a:srgbClr val="52606D"/>
                </a:solidFill>
                <a:latin typeface="Arial"/>
                <a:ea typeface="Arial"/>
                <a:cs typeface="Arial"/>
              </a:rPr>
              <a:t>Bootstrap 5.3.x</a:t>
            </a:r>
          </a:p>
        </p:txBody>
      </p:sp>
      <p:sp>
        <p:nvSpPr>
          <p:cNvPr id="13" name="django-title">
            <a:extLst xmlns:a="http://schemas.openxmlformats.org/drawingml/2006/main">
              <a:ext uri="{FF2B5EF4-FFF2-40B4-BE49-F238E27FC236}">
                <a16:creationId xmlns:a16="http://schemas.microsoft.com/office/drawing/2014/main" id="{974D050C-F97B-4053-8C4B-9EF1F4462A9F}"/>
              </a:ext>
            </a:extLst>
          </p:cNvPr>
          <p:cNvSpPr>
            <a:spLocks xmlns:a="http://schemas.openxmlformats.org/drawingml/2006/main" noGrp="1"/>
          </p:cNvSpPr>
          <p:nvPr/>
        </p:nvSpPr>
        <p:spPr>
          <a:xfrm xmlns:a="http://schemas.openxmlformats.org/drawingml/2006/main">
            <a:off x="4762500" y="2647950"/>
            <a:ext cx="2857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250" b="1">
                <a:solidFill>
                  <a:srgbClr val="FFFFFF"/>
                </a:solidFill>
                <a:latin typeface="Arial"/>
                <a:ea typeface="Arial"/>
                <a:cs typeface="Arial"/>
              </a:defRPr>
            </a:pPr>
            <a:r>
              <a:rPr sz="2250" b="1">
                <a:solidFill>
                  <a:srgbClr val="FFFFFF"/>
                </a:solidFill>
                <a:latin typeface="Arial"/>
                <a:ea typeface="Arial"/>
                <a:cs typeface="Arial"/>
              </a:rPr>
              <a:t>Python 3.14 · Django 5.2 LTS</a:t>
            </a:r>
          </a:p>
        </p:txBody>
      </p:sp>
      <p:sp>
        <p:nvSpPr>
          <p:cNvPr id="14" name="django-body">
            <a:extLst xmlns:a="http://schemas.openxmlformats.org/drawingml/2006/main">
              <a:ext uri="{FF2B5EF4-FFF2-40B4-BE49-F238E27FC236}">
                <a16:creationId xmlns:a16="http://schemas.microsoft.com/office/drawing/2014/main" id="{EF407586-881C-4B5A-821E-7785E837F19D}"/>
              </a:ext>
            </a:extLst>
          </p:cNvPr>
          <p:cNvSpPr>
            <a:spLocks xmlns:a="http://schemas.openxmlformats.org/drawingml/2006/main" noGrp="1"/>
          </p:cNvSpPr>
          <p:nvPr/>
        </p:nvSpPr>
        <p:spPr>
          <a:xfrm xmlns:a="http://schemas.openxmlformats.org/drawingml/2006/main">
            <a:off x="5095875" y="3314700"/>
            <a:ext cx="2190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833"/>
          </a:bodyPr>
          <a:lstStyle xmlns:a="http://schemas.openxmlformats.org/drawingml/2006/main"/>
          <a:p xmlns:a="http://schemas.openxmlformats.org/drawingml/2006/main">
            <a:pPr algn="ctr">
              <a:defRPr sz="1500" b="0">
                <a:solidFill>
                  <a:srgbClr val="FFFFFF"/>
                </a:solidFill>
                <a:latin typeface="Arial"/>
                <a:ea typeface="Arial"/>
                <a:cs typeface="Arial"/>
              </a:defRPr>
            </a:pPr>
            <a:r>
              <a:rPr sz="1500" b="0">
                <a:solidFill>
                  <a:srgbClr val="FFFFFF"/>
                </a:solidFill>
                <a:latin typeface="Arial"/>
                <a:ea typeface="Arial"/>
                <a:cs typeface="Arial"/>
              </a:rPr>
              <a:t>Règles métier · authentification</a:t>
            </a:r>
          </a:p>
          <a:p xmlns:a="http://schemas.openxmlformats.org/drawingml/2006/main">
            <a:pPr algn="ctr">
              <a:defRPr sz="1500" b="0">
                <a:solidFill>
                  <a:srgbClr val="FFFFFF"/>
                </a:solidFill>
                <a:latin typeface="Arial"/>
                <a:ea typeface="Arial"/>
                <a:cs typeface="Arial"/>
              </a:defRPr>
            </a:pPr>
            <a:r>
              <a:rPr sz="1500" b="0">
                <a:solidFill>
                  <a:srgbClr val="FFFFFF"/>
                </a:solidFill>
                <a:latin typeface="Arial"/>
                <a:ea typeface="Arial"/>
                <a:cs typeface="Arial"/>
              </a:rPr>
              <a:t>formulaires · autorisations</a:t>
            </a:r>
          </a:p>
          <a:p xmlns:a="http://schemas.openxmlformats.org/drawingml/2006/main">
            <a:pPr algn="ctr">
              <a:defRPr sz="1500" b="0">
                <a:solidFill>
                  <a:srgbClr val="FFFFFF"/>
                </a:solidFill>
                <a:latin typeface="Arial"/>
                <a:ea typeface="Arial"/>
                <a:cs typeface="Arial"/>
              </a:defRPr>
            </a:pPr>
            <a:r>
              <a:rPr sz="1500" b="0">
                <a:solidFill>
                  <a:srgbClr val="FFFFFF"/>
                </a:solidFill>
                <a:latin typeface="Arial"/>
                <a:ea typeface="Arial"/>
                <a:cs typeface="Arial"/>
              </a:rPr>
              <a:t>accès aux données</a:t>
            </a:r>
          </a:p>
        </p:txBody>
      </p:sp>
      <p:sp>
        <p:nvSpPr>
          <p:cNvPr id="15" name="db-title">
            <a:extLst xmlns:a="http://schemas.openxmlformats.org/drawingml/2006/main">
              <a:ext uri="{FF2B5EF4-FFF2-40B4-BE49-F238E27FC236}">
                <a16:creationId xmlns:a16="http://schemas.microsoft.com/office/drawing/2014/main" id="{99F56399-03F7-47DF-92DC-748F9A87784A}"/>
              </a:ext>
            </a:extLst>
          </p:cNvPr>
          <p:cNvSpPr>
            <a:spLocks xmlns:a="http://schemas.openxmlformats.org/drawingml/2006/main" noGrp="1"/>
          </p:cNvSpPr>
          <p:nvPr/>
        </p:nvSpPr>
        <p:spPr>
          <a:xfrm xmlns:a="http://schemas.openxmlformats.org/drawingml/2006/main">
            <a:off x="9239250" y="3009900"/>
            <a:ext cx="2286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025" b="1">
                <a:solidFill>
                  <a:srgbClr val="0D1B2A"/>
                </a:solidFill>
                <a:latin typeface="Arial"/>
                <a:ea typeface="Arial"/>
                <a:cs typeface="Arial"/>
              </a:defRPr>
            </a:pPr>
            <a:r>
              <a:rPr sz="2025" b="1">
                <a:solidFill>
                  <a:srgbClr val="0D1B2A"/>
                </a:solidFill>
                <a:latin typeface="Arial"/>
                <a:ea typeface="Arial"/>
                <a:cs typeface="Arial"/>
              </a:rPr>
              <a:t>PostgreSQL 17</a:t>
            </a:r>
          </a:p>
        </p:txBody>
      </p:sp>
      <p:sp>
        <p:nvSpPr>
          <p:cNvPr id="16" name="db-body">
            <a:extLst xmlns:a="http://schemas.openxmlformats.org/drawingml/2006/main">
              <a:ext uri="{FF2B5EF4-FFF2-40B4-BE49-F238E27FC236}">
                <a16:creationId xmlns:a16="http://schemas.microsoft.com/office/drawing/2014/main" id="{16564848-F28B-4F9B-9C15-E80259FE2B38}"/>
              </a:ext>
            </a:extLst>
          </p:cNvPr>
          <p:cNvSpPr>
            <a:spLocks xmlns:a="http://schemas.openxmlformats.org/drawingml/2006/main" noGrp="1"/>
          </p:cNvSpPr>
          <p:nvPr/>
        </p:nvSpPr>
        <p:spPr>
          <a:xfrm xmlns:a="http://schemas.openxmlformats.org/drawingml/2006/main">
            <a:off x="9448800" y="3524250"/>
            <a:ext cx="1866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734"/>
          </a:bodyPr>
          <a:lstStyle xmlns:a="http://schemas.openxmlformats.org/drawingml/2006/main"/>
          <a:p xmlns:a="http://schemas.openxmlformats.org/drawingml/2006/main">
            <a:pPr algn="ctr">
              <a:defRPr sz="1425" b="0">
                <a:solidFill>
                  <a:srgbClr val="52606D"/>
                </a:solidFill>
                <a:latin typeface="Arial"/>
                <a:ea typeface="Arial"/>
                <a:cs typeface="Arial"/>
              </a:defRPr>
            </a:pPr>
            <a:r>
              <a:rPr sz="1425" b="0">
                <a:solidFill>
                  <a:srgbClr val="52606D"/>
                </a:solidFill>
                <a:latin typeface="Arial"/>
                <a:ea typeface="Arial"/>
                <a:cs typeface="Arial"/>
              </a:rPr>
              <a:t>Persistance relationnelle</a:t>
            </a:r>
          </a:p>
          <a:p xmlns:a="http://schemas.openxmlformats.org/drawingml/2006/main">
            <a:pPr algn="ctr">
              <a:defRPr sz="1425" b="0">
                <a:solidFill>
                  <a:srgbClr val="52606D"/>
                </a:solidFill>
                <a:latin typeface="Arial"/>
                <a:ea typeface="Arial"/>
                <a:cs typeface="Arial"/>
              </a:defRPr>
            </a:pPr>
            <a:r>
              <a:rPr sz="1425" b="0">
                <a:solidFill>
                  <a:srgbClr val="52606D"/>
                </a:solidFill>
                <a:latin typeface="Arial"/>
                <a:ea typeface="Arial"/>
                <a:cs typeface="Arial"/>
              </a:rPr>
              <a:t>et intégrité des données</a:t>
            </a:r>
          </a:p>
        </p:txBody>
      </p:sp>
      <p:sp>
        <p:nvSpPr>
          <p:cNvPr id="17" name="s6-js">
            <a:extLst xmlns:a="http://schemas.openxmlformats.org/drawingml/2006/main">
              <a:ext uri="{FF2B5EF4-FFF2-40B4-BE49-F238E27FC236}">
                <a16:creationId xmlns:a16="http://schemas.microsoft.com/office/drawing/2014/main" id="{C9B1566E-135D-4075-8732-B1C93CE4ABC2}"/>
              </a:ext>
            </a:extLst>
          </p:cNvPr>
          <p:cNvSpPr>
            <a:spLocks xmlns:a="http://schemas.openxmlformats.org/drawingml/2006/main" noGrp="1"/>
          </p:cNvSpPr>
          <p:nvPr/>
        </p:nvSpPr>
        <p:spPr>
          <a:xfrm xmlns:a="http://schemas.openxmlformats.org/drawingml/2006/main">
            <a:off x="4095750" y="5048250"/>
            <a:ext cx="4000500" cy="6286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18" name="s6-js-text">
            <a:extLst xmlns:a="http://schemas.openxmlformats.org/drawingml/2006/main">
              <a:ext uri="{FF2B5EF4-FFF2-40B4-BE49-F238E27FC236}">
                <a16:creationId xmlns:a16="http://schemas.microsoft.com/office/drawing/2014/main" id="{EB2CB1B1-2803-47B5-ACA5-84FABAE7C618}"/>
              </a:ext>
            </a:extLst>
          </p:cNvPr>
          <p:cNvSpPr>
            <a:spLocks xmlns:a="http://schemas.openxmlformats.org/drawingml/2006/main" noGrp="1"/>
          </p:cNvSpPr>
          <p:nvPr/>
        </p:nvSpPr>
        <p:spPr>
          <a:xfrm xmlns:a="http://schemas.openxmlformats.org/drawingml/2006/main">
            <a:off x="4286250" y="5191125"/>
            <a:ext cx="3619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333"/>
          </a:bodyPr>
          <a:lstStyle xmlns:a="http://schemas.openxmlformats.org/drawingml/2006/main"/>
          <a:p xmlns:a="http://schemas.openxmlformats.org/drawingml/2006/main">
            <a:pPr algn="ctr">
              <a:defRPr sz="1350" b="1">
                <a:solidFill>
                  <a:srgbClr val="0D1B2A"/>
                </a:solidFill>
                <a:latin typeface="Arial"/>
                <a:ea typeface="Arial"/>
                <a:cs typeface="Arial"/>
              </a:defRPr>
            </a:pPr>
            <a:r>
              <a:rPr sz="1350" b="1">
                <a:solidFill>
                  <a:srgbClr val="0D1B2A"/>
                </a:solidFill>
                <a:latin typeface="Arial"/>
                <a:ea typeface="Arial"/>
                <a:cs typeface="Arial"/>
              </a:rPr>
              <a:t>JavaScript limité aux interactions asynchrones, notamment la messagerie</a:t>
            </a:r>
          </a:p>
        </p:txBody>
      </p:sp>
      <p:sp>
        <p:nvSpPr>
          <p:cNvPr id="19" name="source-r30rut">
            <a:extLst xmlns:a="http://schemas.openxmlformats.org/drawingml/2006/main">
              <a:ext uri="{FF2B5EF4-FFF2-40B4-BE49-F238E27FC236}">
                <a16:creationId xmlns:a16="http://schemas.microsoft.com/office/drawing/2014/main" id="{2AF5851B-AAAB-44E7-B941-62C3E6E81FF8}"/>
              </a:ext>
            </a:extLst>
          </p:cNvPr>
          <p:cNvSpPr>
            <a:spLocks xmlns:a="http://schemas.openxmlformats.org/drawingml/2006/main" noGrp="1"/>
          </p:cNvSpPr>
          <p:nvPr/>
        </p:nvSpPr>
        <p:spPr>
          <a:xfrm xmlns:a="http://schemas.openxmlformats.org/drawingml/2006/main">
            <a:off x="533400" y="6429375"/>
            <a:ext cx="914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825" b="0">
                <a:solidFill>
                  <a:srgbClr val="52606D"/>
                </a:solidFill>
                <a:latin typeface="Arial"/>
                <a:ea typeface="Arial"/>
                <a:cs typeface="Arial"/>
              </a:defRPr>
            </a:pPr>
            <a:r>
              <a:rPr sz="825" b="0">
                <a:solidFill>
                  <a:srgbClr val="52606D"/>
                </a:solidFill>
                <a:latin typeface="Arial"/>
                <a:ea typeface="Arial"/>
                <a:cs typeface="Arial"/>
              </a:rPr>
              <a:t>Source : spécifications techniques HomeSkolar v3.1</a:t>
            </a:r>
          </a:p>
        </p:txBody>
      </p:sp>
    </p:spTree>
    <p:extLst>
      <p:ext uri="{BB962C8B-B14F-4D97-AF65-F5344CB8AC3E}">
        <p14:creationId xmlns:p14="http://schemas.microsoft.com/office/powerpoint/2010/main" val="29926443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kicker-7">
            <a:extLst xmlns:a="http://schemas.openxmlformats.org/drawingml/2006/main">
              <a:ext uri="{FF2B5EF4-FFF2-40B4-BE49-F238E27FC236}">
                <a16:creationId xmlns:a16="http://schemas.microsoft.com/office/drawing/2014/main" id="{B8256A39-BAE3-430C-BC54-EE86BA845244}"/>
              </a:ext>
            </a:extLst>
          </p:cNvPr>
          <p:cNvSpPr>
            <a:spLocks xmlns:a="http://schemas.openxmlformats.org/drawingml/2006/main" noGrp="1"/>
          </p:cNvSpPr>
          <p:nvPr/>
        </p:nvSpPr>
        <p:spPr>
          <a:xfrm xmlns:a="http://schemas.openxmlformats.org/drawingml/2006/main">
            <a:off x="533400" y="304800"/>
            <a:ext cx="590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1456A0"/>
                </a:solidFill>
                <a:latin typeface="Arial"/>
                <a:ea typeface="Arial"/>
                <a:cs typeface="Arial"/>
              </a:defRPr>
            </a:pPr>
            <a:r>
              <a:rPr sz="1050" b="1">
                <a:solidFill>
                  <a:srgbClr val="1456A0"/>
                </a:solidFill>
                <a:latin typeface="Arial"/>
                <a:ea typeface="Arial"/>
                <a:cs typeface="Arial"/>
              </a:rPr>
              <a:t>HOMESKOLAR · VALIDATION DU CADRAGE</a:t>
            </a:r>
          </a:p>
        </p:txBody>
      </p:sp>
      <p:sp>
        <p:nvSpPr>
          <p:cNvPr id="2" name="title-7">
            <a:extLst xmlns:a="http://schemas.openxmlformats.org/drawingml/2006/main">
              <a:ext uri="{FF2B5EF4-FFF2-40B4-BE49-F238E27FC236}">
                <a16:creationId xmlns:a16="http://schemas.microsoft.com/office/drawing/2014/main" id="{84808CE6-5BC3-409D-BD11-426225758351}"/>
              </a:ext>
            </a:extLst>
          </p:cNvPr>
          <p:cNvSpPr>
            <a:spLocks xmlns:a="http://schemas.openxmlformats.org/drawingml/2006/main" noGrp="1"/>
          </p:cNvSpPr>
          <p:nvPr/>
        </p:nvSpPr>
        <p:spPr>
          <a:xfrm xmlns:a="http://schemas.openxmlformats.org/drawingml/2006/main">
            <a:off x="533400" y="628650"/>
            <a:ext cx="11125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3600" b="1">
                <a:solidFill>
                  <a:srgbClr val="0D1B2A"/>
                </a:solidFill>
                <a:latin typeface="Arial"/>
                <a:ea typeface="Arial"/>
                <a:cs typeface="Arial"/>
              </a:defRPr>
            </a:pPr>
            <a:r>
              <a:rPr sz="3600" b="1">
                <a:solidFill>
                  <a:srgbClr val="0D1B2A"/>
                </a:solidFill>
                <a:latin typeface="Arial"/>
                <a:ea typeface="Arial"/>
                <a:cs typeface="Arial"/>
              </a:rPr>
              <a:t>La pile réduit le risque sans limiter la V1</a:t>
            </a:r>
          </a:p>
        </p:txBody>
      </p:sp>
      <p:sp>
        <p:nvSpPr>
          <p:cNvPr id="3" name="rule-56-142">
            <a:extLst xmlns:a="http://schemas.openxmlformats.org/drawingml/2006/main">
              <a:ext uri="{FF2B5EF4-FFF2-40B4-BE49-F238E27FC236}">
                <a16:creationId xmlns:a16="http://schemas.microsoft.com/office/drawing/2014/main" id="{B6433211-75B2-4C54-9661-06D5B07867FE}"/>
              </a:ext>
            </a:extLst>
          </p:cNvPr>
          <p:cNvSpPr>
            <a:spLocks xmlns:a="http://schemas.openxmlformats.org/drawingml/2006/main" noGrp="1"/>
          </p:cNvSpPr>
          <p:nvPr/>
        </p:nvSpPr>
        <p:spPr>
          <a:xfrm xmlns:a="http://schemas.openxmlformats.org/drawingml/2006/main">
            <a:off x="533400" y="1352550"/>
            <a:ext cx="111252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4" name="number-7">
            <a:extLst xmlns:a="http://schemas.openxmlformats.org/drawingml/2006/main">
              <a:ext uri="{FF2B5EF4-FFF2-40B4-BE49-F238E27FC236}">
                <a16:creationId xmlns:a16="http://schemas.microsoft.com/office/drawing/2014/main" id="{FD51988B-00FB-4F93-B408-08C4AE0D7A42}"/>
              </a:ext>
            </a:extLst>
          </p:cNvPr>
          <p:cNvSpPr>
            <a:spLocks xmlns:a="http://schemas.openxmlformats.org/drawingml/2006/main" noGrp="1"/>
          </p:cNvSpPr>
          <p:nvPr/>
        </p:nvSpPr>
        <p:spPr>
          <a:xfrm xmlns:a="http://schemas.openxmlformats.org/drawingml/2006/main">
            <a:off x="11220450" y="64389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a:solidFill>
                  <a:srgbClr val="52606D"/>
                </a:solidFill>
                <a:latin typeface="Arial"/>
                <a:ea typeface="Arial"/>
                <a:cs typeface="Arial"/>
              </a:defRPr>
            </a:pPr>
            <a:r>
              <a:rPr sz="900" b="0">
                <a:solidFill>
                  <a:srgbClr val="52606D"/>
                </a:solidFill>
                <a:latin typeface="Arial"/>
                <a:ea typeface="Arial"/>
                <a:cs typeface="Arial"/>
              </a:rPr>
              <a:t>07</a:t>
            </a:r>
          </a:p>
        </p:txBody>
      </p:sp>
      <p:sp>
        <p:nvSpPr>
          <p:cNvPr id="5" name="s7-title-0">
            <a:extLst xmlns:a="http://schemas.openxmlformats.org/drawingml/2006/main">
              <a:ext uri="{FF2B5EF4-FFF2-40B4-BE49-F238E27FC236}">
                <a16:creationId xmlns:a16="http://schemas.microsoft.com/office/drawing/2014/main" id="{CA588584-C51F-4437-A2EA-7742B50B1278}"/>
              </a:ext>
            </a:extLst>
          </p:cNvPr>
          <p:cNvSpPr>
            <a:spLocks xmlns:a="http://schemas.openxmlformats.org/drawingml/2006/main" noGrp="1"/>
          </p:cNvSpPr>
          <p:nvPr/>
        </p:nvSpPr>
        <p:spPr>
          <a:xfrm xmlns:a="http://schemas.openxmlformats.org/drawingml/2006/main">
            <a:off x="533400" y="194310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550" b="1">
                <a:solidFill>
                  <a:srgbClr val="0D1B2A"/>
                </a:solidFill>
                <a:latin typeface="Arial"/>
                <a:ea typeface="Arial"/>
                <a:cs typeface="Arial"/>
              </a:defRPr>
            </a:pPr>
            <a:r>
              <a:rPr sz="2550" b="1">
                <a:solidFill>
                  <a:srgbClr val="0D1B2A"/>
                </a:solidFill>
                <a:latin typeface="Arial"/>
                <a:ea typeface="Arial"/>
                <a:cs typeface="Arial"/>
              </a:rPr>
              <a:t>Simple</a:t>
            </a:r>
          </a:p>
        </p:txBody>
      </p:sp>
      <p:sp>
        <p:nvSpPr>
          <p:cNvPr id="6" name="rule-56-278">
            <a:extLst xmlns:a="http://schemas.openxmlformats.org/drawingml/2006/main">
              <a:ext uri="{FF2B5EF4-FFF2-40B4-BE49-F238E27FC236}">
                <a16:creationId xmlns:a16="http://schemas.microsoft.com/office/drawing/2014/main" id="{C5E2EA57-4631-4230-A3EC-886717F6EC38}"/>
              </a:ext>
            </a:extLst>
          </p:cNvPr>
          <p:cNvSpPr>
            <a:spLocks xmlns:a="http://schemas.openxmlformats.org/drawingml/2006/main" noGrp="1"/>
          </p:cNvSpPr>
          <p:nvPr/>
        </p:nvSpPr>
        <p:spPr>
          <a:xfrm xmlns:a="http://schemas.openxmlformats.org/drawingml/2006/main">
            <a:off x="533400" y="2647950"/>
            <a:ext cx="314325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7" name="s7-body-0">
            <a:extLst xmlns:a="http://schemas.openxmlformats.org/drawingml/2006/main">
              <a:ext uri="{FF2B5EF4-FFF2-40B4-BE49-F238E27FC236}">
                <a16:creationId xmlns:a16="http://schemas.microsoft.com/office/drawing/2014/main" id="{C9648C8E-285A-4200-8AE2-CA87E7D6AC6D}"/>
              </a:ext>
            </a:extLst>
          </p:cNvPr>
          <p:cNvSpPr>
            <a:spLocks xmlns:a="http://schemas.openxmlformats.org/drawingml/2006/main" noGrp="1"/>
          </p:cNvSpPr>
          <p:nvPr/>
        </p:nvSpPr>
        <p:spPr>
          <a:xfrm xmlns:a="http://schemas.openxmlformats.org/drawingml/2006/main">
            <a:off x="533400" y="2971800"/>
            <a:ext cx="3143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725" b="0">
                <a:solidFill>
                  <a:srgbClr val="52606D"/>
                </a:solidFill>
                <a:latin typeface="Arial"/>
                <a:ea typeface="Arial"/>
                <a:cs typeface="Arial"/>
              </a:defRPr>
            </a:pPr>
            <a:r>
              <a:rPr sz="1725" b="0">
                <a:solidFill>
                  <a:srgbClr val="52606D"/>
                </a:solidFill>
                <a:latin typeface="Arial"/>
                <a:ea typeface="Arial"/>
                <a:cs typeface="Arial"/>
              </a:rPr>
              <a:t>Un seul projet, une seule pile et peu de JavaScript à coordonner.</a:t>
            </a:r>
          </a:p>
        </p:txBody>
      </p:sp>
      <p:sp>
        <p:nvSpPr>
          <p:cNvPr id="8" name="s7-detail-0">
            <a:extLst xmlns:a="http://schemas.openxmlformats.org/drawingml/2006/main">
              <a:ext uri="{FF2B5EF4-FFF2-40B4-BE49-F238E27FC236}">
                <a16:creationId xmlns:a16="http://schemas.microsoft.com/office/drawing/2014/main" id="{379777A0-AAA2-42C4-8118-ACF64AB80ED3}"/>
              </a:ext>
            </a:extLst>
          </p:cNvPr>
          <p:cNvSpPr>
            <a:spLocks xmlns:a="http://schemas.openxmlformats.org/drawingml/2006/main" noGrp="1"/>
          </p:cNvSpPr>
          <p:nvPr/>
        </p:nvSpPr>
        <p:spPr>
          <a:xfrm xmlns:a="http://schemas.openxmlformats.org/drawingml/2006/main">
            <a:off x="533400" y="4305300"/>
            <a:ext cx="3143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0D1B2A"/>
                </a:solidFill>
                <a:latin typeface="Arial"/>
                <a:ea typeface="Arial"/>
                <a:cs typeface="Arial"/>
              </a:defRPr>
            </a:pPr>
            <a:r>
              <a:rPr sz="1500" b="1">
                <a:solidFill>
                  <a:srgbClr val="0D1B2A"/>
                </a:solidFill>
                <a:latin typeface="Arial"/>
                <a:ea typeface="Arial"/>
                <a:cs typeface="Arial"/>
              </a:rPr>
              <a:t>Python 3.14 · Django 5.2 LTS</a:t>
            </a:r>
          </a:p>
          <a:p xmlns:a="http://schemas.openxmlformats.org/drawingml/2006/main">
            <a:pPr algn="l">
              <a:defRPr sz="1500" b="1">
                <a:solidFill>
                  <a:srgbClr val="0D1B2A"/>
                </a:solidFill>
                <a:latin typeface="Arial"/>
                <a:ea typeface="Arial"/>
                <a:cs typeface="Arial"/>
              </a:defRPr>
            </a:pPr>
            <a:r>
              <a:rPr sz="1500" b="1">
                <a:solidFill>
                  <a:srgbClr val="0D1B2A"/>
                </a:solidFill>
                <a:latin typeface="Arial"/>
                <a:ea typeface="Arial"/>
                <a:cs typeface="Arial"/>
              </a:rPr>
              <a:t>Bootstrap 5.3.x</a:t>
            </a:r>
          </a:p>
          <a:p xmlns:a="http://schemas.openxmlformats.org/drawingml/2006/main">
            <a:pPr algn="l">
              <a:defRPr sz="1500" b="1">
                <a:solidFill>
                  <a:srgbClr val="0D1B2A"/>
                </a:solidFill>
                <a:latin typeface="Arial"/>
                <a:ea typeface="Arial"/>
                <a:cs typeface="Arial"/>
              </a:defRPr>
            </a:pPr>
            <a:r>
              <a:rPr sz="1500" b="1">
                <a:solidFill>
                  <a:srgbClr val="0D1B2A"/>
                </a:solidFill>
                <a:latin typeface="Arial"/>
                <a:ea typeface="Arial"/>
                <a:cs typeface="Arial"/>
              </a:rPr>
              <a:t>PostgreSQL 17</a:t>
            </a:r>
          </a:p>
        </p:txBody>
      </p:sp>
      <p:sp>
        <p:nvSpPr>
          <p:cNvPr id="9" name="s7-title-1">
            <a:extLst xmlns:a="http://schemas.openxmlformats.org/drawingml/2006/main">
              <a:ext uri="{FF2B5EF4-FFF2-40B4-BE49-F238E27FC236}">
                <a16:creationId xmlns:a16="http://schemas.microsoft.com/office/drawing/2014/main" id="{56D6F4F7-9DBA-43B1-BE34-366B67A49B70}"/>
              </a:ext>
            </a:extLst>
          </p:cNvPr>
          <p:cNvSpPr>
            <a:spLocks xmlns:a="http://schemas.openxmlformats.org/drawingml/2006/main" noGrp="1"/>
          </p:cNvSpPr>
          <p:nvPr/>
        </p:nvSpPr>
        <p:spPr>
          <a:xfrm xmlns:a="http://schemas.openxmlformats.org/drawingml/2006/main">
            <a:off x="4343400" y="194310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550" b="1">
                <a:solidFill>
                  <a:srgbClr val="1456A0"/>
                </a:solidFill>
                <a:latin typeface="Arial"/>
                <a:ea typeface="Arial"/>
                <a:cs typeface="Arial"/>
              </a:defRPr>
            </a:pPr>
            <a:r>
              <a:rPr sz="2550" b="1">
                <a:solidFill>
                  <a:srgbClr val="1456A0"/>
                </a:solidFill>
                <a:latin typeface="Arial"/>
                <a:ea typeface="Arial"/>
                <a:cs typeface="Arial"/>
              </a:rPr>
              <a:t>Sûre</a:t>
            </a:r>
          </a:p>
        </p:txBody>
      </p:sp>
      <p:sp>
        <p:nvSpPr>
          <p:cNvPr id="10" name="rule-456-278">
            <a:extLst xmlns:a="http://schemas.openxmlformats.org/drawingml/2006/main">
              <a:ext uri="{FF2B5EF4-FFF2-40B4-BE49-F238E27FC236}">
                <a16:creationId xmlns:a16="http://schemas.microsoft.com/office/drawing/2014/main" id="{39A20DAE-C43F-4243-8DD9-5E8143063183}"/>
              </a:ext>
            </a:extLst>
          </p:cNvPr>
          <p:cNvSpPr>
            <a:spLocks xmlns:a="http://schemas.openxmlformats.org/drawingml/2006/main" noGrp="1"/>
          </p:cNvSpPr>
          <p:nvPr/>
        </p:nvSpPr>
        <p:spPr>
          <a:xfrm xmlns:a="http://schemas.openxmlformats.org/drawingml/2006/main">
            <a:off x="4343400" y="2647950"/>
            <a:ext cx="3143250" cy="0"/>
          </a:xfrm>
          <a:prstGeom xmlns:a="http://schemas.openxmlformats.org/drawingml/2006/main" prst="line">
            <a:avLst/>
          </a:prstGeom>
          <a:noFill xmlns:a="http://schemas.openxmlformats.org/drawingml/2006/main"/>
          <a:ln xmlns:a="http://schemas.openxmlformats.org/drawingml/2006/main" w="38100">
            <a:solidFill>
              <a:srgbClr val="3D8DFF"/>
            </a:solidFill>
            <a:prstDash val="solid"/>
          </a:ln>
        </p:spPr>
      </p:sp>
      <p:sp>
        <p:nvSpPr>
          <p:cNvPr id="11" name="s7-body-1">
            <a:extLst xmlns:a="http://schemas.openxmlformats.org/drawingml/2006/main">
              <a:ext uri="{FF2B5EF4-FFF2-40B4-BE49-F238E27FC236}">
                <a16:creationId xmlns:a16="http://schemas.microsoft.com/office/drawing/2014/main" id="{EEB28901-23E2-4222-A5C2-D094E84A21EC}"/>
              </a:ext>
            </a:extLst>
          </p:cNvPr>
          <p:cNvSpPr>
            <a:spLocks xmlns:a="http://schemas.openxmlformats.org/drawingml/2006/main" noGrp="1"/>
          </p:cNvSpPr>
          <p:nvPr/>
        </p:nvSpPr>
        <p:spPr>
          <a:xfrm xmlns:a="http://schemas.openxmlformats.org/drawingml/2006/main">
            <a:off x="4343400" y="2971800"/>
            <a:ext cx="3143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725" b="0">
                <a:solidFill>
                  <a:srgbClr val="52606D"/>
                </a:solidFill>
                <a:latin typeface="Arial"/>
                <a:ea typeface="Arial"/>
                <a:cs typeface="Arial"/>
              </a:defRPr>
            </a:pPr>
            <a:r>
              <a:rPr sz="1725" b="0">
                <a:solidFill>
                  <a:srgbClr val="52606D"/>
                </a:solidFill>
                <a:latin typeface="Arial"/>
                <a:ea typeface="Arial"/>
                <a:cs typeface="Arial"/>
              </a:rPr>
              <a:t>Authentification, hachage, CSRF et contrôles d’accès fournis côté serveur.</a:t>
            </a:r>
          </a:p>
        </p:txBody>
      </p:sp>
      <p:sp>
        <p:nvSpPr>
          <p:cNvPr id="12" name="s7-detail-1">
            <a:extLst xmlns:a="http://schemas.openxmlformats.org/drawingml/2006/main">
              <a:ext uri="{FF2B5EF4-FFF2-40B4-BE49-F238E27FC236}">
                <a16:creationId xmlns:a16="http://schemas.microsoft.com/office/drawing/2014/main" id="{F0A99E3F-0FF9-4A3C-B404-C452485D70E6}"/>
              </a:ext>
            </a:extLst>
          </p:cNvPr>
          <p:cNvSpPr>
            <a:spLocks xmlns:a="http://schemas.openxmlformats.org/drawingml/2006/main" noGrp="1"/>
          </p:cNvSpPr>
          <p:nvPr/>
        </p:nvSpPr>
        <p:spPr>
          <a:xfrm xmlns:a="http://schemas.openxmlformats.org/drawingml/2006/main">
            <a:off x="4343400" y="4305300"/>
            <a:ext cx="3143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0D1B2A"/>
                </a:solidFill>
                <a:latin typeface="Arial"/>
                <a:ea typeface="Arial"/>
                <a:cs typeface="Arial"/>
              </a:defRPr>
            </a:pPr>
            <a:r>
              <a:rPr sz="1500" b="1">
                <a:solidFill>
                  <a:srgbClr val="0D1B2A"/>
                </a:solidFill>
                <a:latin typeface="Arial"/>
                <a:ea typeface="Arial"/>
                <a:cs typeface="Arial"/>
              </a:rPr>
              <a:t>Autorisations par ressource</a:t>
            </a:r>
          </a:p>
          <a:p xmlns:a="http://schemas.openxmlformats.org/drawingml/2006/main">
            <a:pPr algn="l">
              <a:defRPr sz="1500" b="1">
                <a:solidFill>
                  <a:srgbClr val="0D1B2A"/>
                </a:solidFill>
                <a:latin typeface="Arial"/>
                <a:ea typeface="Arial"/>
                <a:cs typeface="Arial"/>
              </a:defRPr>
            </a:pPr>
            <a:r>
              <a:rPr sz="1500" b="1">
                <a:solidFill>
                  <a:srgbClr val="0D1B2A"/>
                </a:solidFill>
                <a:latin typeface="Arial"/>
                <a:ea typeface="Arial"/>
                <a:cs typeface="Arial"/>
              </a:rPr>
              <a:t>Validation des entrées</a:t>
            </a:r>
          </a:p>
          <a:p xmlns:a="http://schemas.openxmlformats.org/drawingml/2006/main">
            <a:pPr algn="l">
              <a:defRPr sz="1500" b="1">
                <a:solidFill>
                  <a:srgbClr val="0D1B2A"/>
                </a:solidFill>
                <a:latin typeface="Arial"/>
                <a:ea typeface="Arial"/>
                <a:cs typeface="Arial"/>
              </a:defRPr>
            </a:pPr>
            <a:r>
              <a:rPr sz="1500" b="1">
                <a:solidFill>
                  <a:srgbClr val="0D1B2A"/>
                </a:solidFill>
                <a:latin typeface="Arial"/>
                <a:ea typeface="Arial"/>
                <a:cs typeface="Arial"/>
              </a:rPr>
              <a:t>Secrets externalisés</a:t>
            </a:r>
          </a:p>
        </p:txBody>
      </p:sp>
      <p:sp>
        <p:nvSpPr>
          <p:cNvPr id="13" name="s7-title-2">
            <a:extLst xmlns:a="http://schemas.openxmlformats.org/drawingml/2006/main">
              <a:ext uri="{FF2B5EF4-FFF2-40B4-BE49-F238E27FC236}">
                <a16:creationId xmlns:a16="http://schemas.microsoft.com/office/drawing/2014/main" id="{B7E8A5D0-DDCE-4093-9236-1CEB5BB854C7}"/>
              </a:ext>
            </a:extLst>
          </p:cNvPr>
          <p:cNvSpPr>
            <a:spLocks xmlns:a="http://schemas.openxmlformats.org/drawingml/2006/main" noGrp="1"/>
          </p:cNvSpPr>
          <p:nvPr/>
        </p:nvSpPr>
        <p:spPr>
          <a:xfrm xmlns:a="http://schemas.openxmlformats.org/drawingml/2006/main">
            <a:off x="8153400" y="194310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550" b="1">
                <a:solidFill>
                  <a:srgbClr val="0D1B2A"/>
                </a:solidFill>
                <a:latin typeface="Arial"/>
                <a:ea typeface="Arial"/>
                <a:cs typeface="Arial"/>
              </a:defRPr>
            </a:pPr>
            <a:r>
              <a:rPr sz="2550" b="1">
                <a:solidFill>
                  <a:srgbClr val="0D1B2A"/>
                </a:solidFill>
                <a:latin typeface="Arial"/>
                <a:ea typeface="Arial"/>
                <a:cs typeface="Arial"/>
              </a:rPr>
              <a:t>Maintenable</a:t>
            </a:r>
          </a:p>
        </p:txBody>
      </p:sp>
      <p:sp>
        <p:nvSpPr>
          <p:cNvPr id="14" name="rule-856-278">
            <a:extLst xmlns:a="http://schemas.openxmlformats.org/drawingml/2006/main">
              <a:ext uri="{FF2B5EF4-FFF2-40B4-BE49-F238E27FC236}">
                <a16:creationId xmlns:a16="http://schemas.microsoft.com/office/drawing/2014/main" id="{37EC6A3D-A4FE-48DC-9F43-2E6D5E12C638}"/>
              </a:ext>
            </a:extLst>
          </p:cNvPr>
          <p:cNvSpPr>
            <a:spLocks xmlns:a="http://schemas.openxmlformats.org/drawingml/2006/main" noGrp="1"/>
          </p:cNvSpPr>
          <p:nvPr/>
        </p:nvSpPr>
        <p:spPr>
          <a:xfrm xmlns:a="http://schemas.openxmlformats.org/drawingml/2006/main">
            <a:off x="8153400" y="2647950"/>
            <a:ext cx="314325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5" name="s7-body-2">
            <a:extLst xmlns:a="http://schemas.openxmlformats.org/drawingml/2006/main">
              <a:ext uri="{FF2B5EF4-FFF2-40B4-BE49-F238E27FC236}">
                <a16:creationId xmlns:a16="http://schemas.microsoft.com/office/drawing/2014/main" id="{5FA9EF9C-0810-4E7D-820F-ADE833A85950}"/>
              </a:ext>
            </a:extLst>
          </p:cNvPr>
          <p:cNvSpPr>
            <a:spLocks xmlns:a="http://schemas.openxmlformats.org/drawingml/2006/main" noGrp="1"/>
          </p:cNvSpPr>
          <p:nvPr/>
        </p:nvSpPr>
        <p:spPr>
          <a:xfrm xmlns:a="http://schemas.openxmlformats.org/drawingml/2006/main">
            <a:off x="8153400" y="2971800"/>
            <a:ext cx="3143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725" b="0">
                <a:solidFill>
                  <a:srgbClr val="52606D"/>
                </a:solidFill>
                <a:latin typeface="Arial"/>
                <a:ea typeface="Arial"/>
                <a:cs typeface="Arial"/>
              </a:defRPr>
            </a:pPr>
            <a:r>
              <a:rPr sz="1725" b="0">
                <a:solidFill>
                  <a:srgbClr val="52606D"/>
                </a:solidFill>
                <a:latin typeface="Arial"/>
                <a:ea typeface="Arial"/>
                <a:cs typeface="Arial"/>
              </a:rPr>
              <a:t>Versions LTS, modules métier séparés, migrations et tests versionnés.</a:t>
            </a:r>
          </a:p>
        </p:txBody>
      </p:sp>
      <p:sp>
        <p:nvSpPr>
          <p:cNvPr id="16" name="s7-detail-2">
            <a:extLst xmlns:a="http://schemas.openxmlformats.org/drawingml/2006/main">
              <a:ext uri="{FF2B5EF4-FFF2-40B4-BE49-F238E27FC236}">
                <a16:creationId xmlns:a16="http://schemas.microsoft.com/office/drawing/2014/main" id="{166B6E1F-54CC-409F-BC8A-492E5DA8DF7E}"/>
              </a:ext>
            </a:extLst>
          </p:cNvPr>
          <p:cNvSpPr>
            <a:spLocks xmlns:a="http://schemas.openxmlformats.org/drawingml/2006/main" noGrp="1"/>
          </p:cNvSpPr>
          <p:nvPr/>
        </p:nvSpPr>
        <p:spPr>
          <a:xfrm xmlns:a="http://schemas.openxmlformats.org/drawingml/2006/main">
            <a:off x="8153400" y="4305300"/>
            <a:ext cx="3143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0D1B2A"/>
                </a:solidFill>
                <a:latin typeface="Arial"/>
                <a:ea typeface="Arial"/>
                <a:cs typeface="Arial"/>
              </a:defRPr>
            </a:pPr>
            <a:r>
              <a:rPr sz="1500" b="1">
                <a:solidFill>
                  <a:srgbClr val="0D1B2A"/>
                </a:solidFill>
                <a:latin typeface="Arial"/>
                <a:ea typeface="Arial"/>
                <a:cs typeface="Arial"/>
              </a:rPr>
              <a:t>Tests unitaires et intégration</a:t>
            </a:r>
          </a:p>
          <a:p xmlns:a="http://schemas.openxmlformats.org/drawingml/2006/main">
            <a:pPr algn="l">
              <a:defRPr sz="1500" b="1">
                <a:solidFill>
                  <a:srgbClr val="0D1B2A"/>
                </a:solidFill>
                <a:latin typeface="Arial"/>
                <a:ea typeface="Arial"/>
                <a:cs typeface="Arial"/>
              </a:defRPr>
            </a:pPr>
            <a:r>
              <a:rPr sz="1500" b="1">
                <a:solidFill>
                  <a:srgbClr val="0D1B2A"/>
                </a:solidFill>
                <a:latin typeface="Arial"/>
                <a:ea typeface="Arial"/>
                <a:cs typeface="Arial"/>
              </a:rPr>
              <a:t>Revue de code</a:t>
            </a:r>
          </a:p>
          <a:p xmlns:a="http://schemas.openxmlformats.org/drawingml/2006/main">
            <a:pPr algn="l">
              <a:defRPr sz="1500" b="1">
                <a:solidFill>
                  <a:srgbClr val="0D1B2A"/>
                </a:solidFill>
                <a:latin typeface="Arial"/>
                <a:ea typeface="Arial"/>
                <a:cs typeface="Arial"/>
              </a:defRPr>
            </a:pPr>
            <a:r>
              <a:rPr sz="1500" b="1">
                <a:solidFill>
                  <a:srgbClr val="0D1B2A"/>
                </a:solidFill>
                <a:latin typeface="Arial"/>
                <a:ea typeface="Arial"/>
                <a:cs typeface="Arial"/>
              </a:rPr>
              <a:t>Documentation à jour</a:t>
            </a:r>
          </a:p>
        </p:txBody>
      </p:sp>
      <p:sp>
        <p:nvSpPr>
          <p:cNvPr id="17" name="s7-bottom">
            <a:extLst xmlns:a="http://schemas.openxmlformats.org/drawingml/2006/main">
              <a:ext uri="{FF2B5EF4-FFF2-40B4-BE49-F238E27FC236}">
                <a16:creationId xmlns:a16="http://schemas.microsoft.com/office/drawing/2014/main" id="{3921261E-C118-4692-9933-48C35AA97D7D}"/>
              </a:ext>
            </a:extLst>
          </p:cNvPr>
          <p:cNvSpPr>
            <a:spLocks xmlns:a="http://schemas.openxmlformats.org/drawingml/2006/main" noGrp="1"/>
          </p:cNvSpPr>
          <p:nvPr/>
        </p:nvSpPr>
        <p:spPr>
          <a:xfrm xmlns:a="http://schemas.openxmlformats.org/drawingml/2006/main">
            <a:off x="533400" y="5638800"/>
            <a:ext cx="11125200" cy="41910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18" name="s7-bottom-text">
            <a:extLst xmlns:a="http://schemas.openxmlformats.org/drawingml/2006/main">
              <a:ext uri="{FF2B5EF4-FFF2-40B4-BE49-F238E27FC236}">
                <a16:creationId xmlns:a16="http://schemas.microsoft.com/office/drawing/2014/main" id="{20E45A04-95F6-4D5B-9799-660F3A02B9CC}"/>
              </a:ext>
            </a:extLst>
          </p:cNvPr>
          <p:cNvSpPr>
            <a:spLocks xmlns:a="http://schemas.openxmlformats.org/drawingml/2006/main" noGrp="1"/>
          </p:cNvSpPr>
          <p:nvPr/>
        </p:nvSpPr>
        <p:spPr>
          <a:xfrm xmlns:a="http://schemas.openxmlformats.org/drawingml/2006/main">
            <a:off x="723900" y="5734050"/>
            <a:ext cx="10744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1456A0"/>
                </a:solidFill>
                <a:latin typeface="Arial"/>
                <a:ea typeface="Arial"/>
                <a:cs typeface="Arial"/>
              </a:defRPr>
            </a:pPr>
            <a:r>
              <a:rPr sz="1500" b="1">
                <a:solidFill>
                  <a:srgbClr val="1456A0"/>
                </a:solidFill>
                <a:latin typeface="Arial"/>
                <a:ea typeface="Arial"/>
                <a:cs typeface="Arial"/>
              </a:rPr>
              <a:t>Le choix technique répond au besoin validé sans anticiper une complexité future non demandée.</a:t>
            </a:r>
          </a:p>
        </p:txBody>
      </p:sp>
      <p:sp>
        <p:nvSpPr>
          <p:cNvPr id="19" name="source-de232u">
            <a:extLst xmlns:a="http://schemas.openxmlformats.org/drawingml/2006/main">
              <a:ext uri="{FF2B5EF4-FFF2-40B4-BE49-F238E27FC236}">
                <a16:creationId xmlns:a16="http://schemas.microsoft.com/office/drawing/2014/main" id="{854BD089-C67E-430F-A9B7-897B62BA4F3B}"/>
              </a:ext>
            </a:extLst>
          </p:cNvPr>
          <p:cNvSpPr>
            <a:spLocks xmlns:a="http://schemas.openxmlformats.org/drawingml/2006/main" noGrp="1"/>
          </p:cNvSpPr>
          <p:nvPr/>
        </p:nvSpPr>
        <p:spPr>
          <a:xfrm xmlns:a="http://schemas.openxmlformats.org/drawingml/2006/main">
            <a:off x="533400" y="6429375"/>
            <a:ext cx="914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825" b="0">
                <a:solidFill>
                  <a:srgbClr val="52606D"/>
                </a:solidFill>
                <a:latin typeface="Arial"/>
                <a:ea typeface="Arial"/>
                <a:cs typeface="Arial"/>
              </a:defRPr>
            </a:pPr>
            <a:r>
              <a:rPr sz="825" b="0">
                <a:solidFill>
                  <a:srgbClr val="52606D"/>
                </a:solidFill>
                <a:latin typeface="Arial"/>
                <a:ea typeface="Arial"/>
                <a:cs typeface="Arial"/>
              </a:rPr>
              <a:t>Source : veille technologique et spécifications techniques HomeSkolar v3.1</a:t>
            </a:r>
          </a:p>
        </p:txBody>
      </p:sp>
    </p:spTree>
    <p:extLst>
      <p:ext uri="{BB962C8B-B14F-4D97-AF65-F5344CB8AC3E}">
        <p14:creationId xmlns:p14="http://schemas.microsoft.com/office/powerpoint/2010/main" val="176333876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kicker-8">
            <a:extLst xmlns:a="http://schemas.openxmlformats.org/drawingml/2006/main">
              <a:ext uri="{FF2B5EF4-FFF2-40B4-BE49-F238E27FC236}">
                <a16:creationId xmlns:a16="http://schemas.microsoft.com/office/drawing/2014/main" id="{2024254E-9FB3-4DFE-8515-A5CBE85E053D}"/>
              </a:ext>
            </a:extLst>
          </p:cNvPr>
          <p:cNvSpPr>
            <a:spLocks xmlns:a="http://schemas.openxmlformats.org/drawingml/2006/main" noGrp="1"/>
          </p:cNvSpPr>
          <p:nvPr/>
        </p:nvSpPr>
        <p:spPr>
          <a:xfrm xmlns:a="http://schemas.openxmlformats.org/drawingml/2006/main">
            <a:off x="533400" y="304800"/>
            <a:ext cx="590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1456A0"/>
                </a:solidFill>
                <a:latin typeface="Arial"/>
                <a:ea typeface="Arial"/>
                <a:cs typeface="Arial"/>
              </a:defRPr>
            </a:pPr>
            <a:r>
              <a:rPr sz="1050" b="1">
                <a:solidFill>
                  <a:srgbClr val="1456A0"/>
                </a:solidFill>
                <a:latin typeface="Arial"/>
                <a:ea typeface="Arial"/>
                <a:cs typeface="Arial"/>
              </a:rPr>
              <a:t>HOMESKOLAR · VALIDATION DU CADRAGE</a:t>
            </a:r>
          </a:p>
        </p:txBody>
      </p:sp>
      <p:sp>
        <p:nvSpPr>
          <p:cNvPr id="2" name="title-8">
            <a:extLst xmlns:a="http://schemas.openxmlformats.org/drawingml/2006/main">
              <a:ext uri="{FF2B5EF4-FFF2-40B4-BE49-F238E27FC236}">
                <a16:creationId xmlns:a16="http://schemas.microsoft.com/office/drawing/2014/main" id="{09B5F118-C159-4AC6-AE05-ECA7F4FCF166}"/>
              </a:ext>
            </a:extLst>
          </p:cNvPr>
          <p:cNvSpPr>
            <a:spLocks xmlns:a="http://schemas.openxmlformats.org/drawingml/2006/main" noGrp="1"/>
          </p:cNvSpPr>
          <p:nvPr/>
        </p:nvSpPr>
        <p:spPr>
          <a:xfrm xmlns:a="http://schemas.openxmlformats.org/drawingml/2006/main">
            <a:off x="533400" y="628650"/>
            <a:ext cx="11125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3600" b="1">
                <a:solidFill>
                  <a:srgbClr val="0D1B2A"/>
                </a:solidFill>
                <a:latin typeface="Arial"/>
                <a:ea typeface="Arial"/>
                <a:cs typeface="Arial"/>
              </a:defRPr>
            </a:pPr>
            <a:r>
              <a:rPr sz="3600" b="1">
                <a:solidFill>
                  <a:srgbClr val="0D1B2A"/>
                </a:solidFill>
                <a:latin typeface="Arial"/>
                <a:ea typeface="Arial"/>
                <a:cs typeface="Arial"/>
              </a:rPr>
              <a:t>Un Backlog prêt à démarrer</a:t>
            </a:r>
          </a:p>
        </p:txBody>
      </p:sp>
      <p:sp>
        <p:nvSpPr>
          <p:cNvPr id="3" name="rule-56-142">
            <a:extLst xmlns:a="http://schemas.openxmlformats.org/drawingml/2006/main">
              <a:ext uri="{FF2B5EF4-FFF2-40B4-BE49-F238E27FC236}">
                <a16:creationId xmlns:a16="http://schemas.microsoft.com/office/drawing/2014/main" id="{917B6018-5049-4A7D-B107-F0D2C0F15D03}"/>
              </a:ext>
            </a:extLst>
          </p:cNvPr>
          <p:cNvSpPr>
            <a:spLocks xmlns:a="http://schemas.openxmlformats.org/drawingml/2006/main" noGrp="1"/>
          </p:cNvSpPr>
          <p:nvPr/>
        </p:nvSpPr>
        <p:spPr>
          <a:xfrm xmlns:a="http://schemas.openxmlformats.org/drawingml/2006/main">
            <a:off x="533400" y="1352550"/>
            <a:ext cx="111252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4" name="number-8">
            <a:extLst xmlns:a="http://schemas.openxmlformats.org/drawingml/2006/main">
              <a:ext uri="{FF2B5EF4-FFF2-40B4-BE49-F238E27FC236}">
                <a16:creationId xmlns:a16="http://schemas.microsoft.com/office/drawing/2014/main" id="{0356C215-9AAE-4D4A-9EF3-22B6EC2D7CA5}"/>
              </a:ext>
            </a:extLst>
          </p:cNvPr>
          <p:cNvSpPr>
            <a:spLocks xmlns:a="http://schemas.openxmlformats.org/drawingml/2006/main" noGrp="1"/>
          </p:cNvSpPr>
          <p:nvPr/>
        </p:nvSpPr>
        <p:spPr>
          <a:xfrm xmlns:a="http://schemas.openxmlformats.org/drawingml/2006/main">
            <a:off x="11220450" y="64389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a:solidFill>
                  <a:srgbClr val="52606D"/>
                </a:solidFill>
                <a:latin typeface="Arial"/>
                <a:ea typeface="Arial"/>
                <a:cs typeface="Arial"/>
              </a:defRPr>
            </a:pPr>
            <a:r>
              <a:rPr sz="900" b="0">
                <a:solidFill>
                  <a:srgbClr val="52606D"/>
                </a:solidFill>
                <a:latin typeface="Arial"/>
                <a:ea typeface="Arial"/>
                <a:cs typeface="Arial"/>
              </a:rPr>
              <a:t>08</a:t>
            </a:r>
          </a:p>
        </p:txBody>
      </p:sp>
      <p:sp>
        <p:nvSpPr>
          <p:cNvPr id="5" name="s8-stat-0">
            <a:extLst xmlns:a="http://schemas.openxmlformats.org/drawingml/2006/main">
              <a:ext uri="{FF2B5EF4-FFF2-40B4-BE49-F238E27FC236}">
                <a16:creationId xmlns:a16="http://schemas.microsoft.com/office/drawing/2014/main" id="{A91B5D89-E93B-4DFC-A944-07BC92A5D037}"/>
              </a:ext>
            </a:extLst>
          </p:cNvPr>
          <p:cNvSpPr>
            <a:spLocks xmlns:a="http://schemas.openxmlformats.org/drawingml/2006/main" noGrp="1"/>
          </p:cNvSpPr>
          <p:nvPr/>
        </p:nvSpPr>
        <p:spPr>
          <a:xfrm xmlns:a="http://schemas.openxmlformats.org/drawingml/2006/main">
            <a:off x="533400" y="171450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3300" b="1">
                <a:solidFill>
                  <a:srgbClr val="3D8DFF"/>
                </a:solidFill>
                <a:latin typeface="Arial"/>
                <a:ea typeface="Arial"/>
                <a:cs typeface="Arial"/>
              </a:defRPr>
            </a:pPr>
            <a:r>
              <a:rPr sz="3300" b="1">
                <a:solidFill>
                  <a:srgbClr val="3D8DFF"/>
                </a:solidFill>
                <a:latin typeface="Arial"/>
                <a:ea typeface="Arial"/>
                <a:cs typeface="Arial"/>
              </a:rPr>
              <a:t>17</a:t>
            </a:r>
          </a:p>
        </p:txBody>
      </p:sp>
      <p:sp>
        <p:nvSpPr>
          <p:cNvPr id="6" name="s8-stat-title-0">
            <a:extLst xmlns:a="http://schemas.openxmlformats.org/drawingml/2006/main">
              <a:ext uri="{FF2B5EF4-FFF2-40B4-BE49-F238E27FC236}">
                <a16:creationId xmlns:a16="http://schemas.microsoft.com/office/drawing/2014/main" id="{D277465B-0ED7-4313-B369-FCEA3E1FAFE5}"/>
              </a:ext>
            </a:extLst>
          </p:cNvPr>
          <p:cNvSpPr>
            <a:spLocks xmlns:a="http://schemas.openxmlformats.org/drawingml/2006/main" noGrp="1"/>
          </p:cNvSpPr>
          <p:nvPr/>
        </p:nvSpPr>
        <p:spPr>
          <a:xfrm xmlns:a="http://schemas.openxmlformats.org/drawingml/2006/main">
            <a:off x="533400" y="2362200"/>
            <a:ext cx="3143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a:solidFill>
                  <a:srgbClr val="0D1B2A"/>
                </a:solidFill>
                <a:latin typeface="Arial"/>
                <a:ea typeface="Arial"/>
                <a:cs typeface="Arial"/>
              </a:defRPr>
            </a:pPr>
            <a:r>
              <a:rPr sz="1800" b="1">
                <a:solidFill>
                  <a:srgbClr val="0D1B2A"/>
                </a:solidFill>
                <a:latin typeface="Arial"/>
                <a:ea typeface="Arial"/>
                <a:cs typeface="Arial"/>
              </a:rPr>
              <a:t>User Stories</a:t>
            </a:r>
          </a:p>
        </p:txBody>
      </p:sp>
      <p:sp>
        <p:nvSpPr>
          <p:cNvPr id="7" name="s8-stat-body-0">
            <a:extLst xmlns:a="http://schemas.openxmlformats.org/drawingml/2006/main">
              <a:ext uri="{FF2B5EF4-FFF2-40B4-BE49-F238E27FC236}">
                <a16:creationId xmlns:a16="http://schemas.microsoft.com/office/drawing/2014/main" id="{13262F73-80D8-40EC-9166-AFB16AF9945C}"/>
              </a:ext>
            </a:extLst>
          </p:cNvPr>
          <p:cNvSpPr>
            <a:spLocks xmlns:a="http://schemas.openxmlformats.org/drawingml/2006/main" noGrp="1"/>
          </p:cNvSpPr>
          <p:nvPr/>
        </p:nvSpPr>
        <p:spPr>
          <a:xfrm xmlns:a="http://schemas.openxmlformats.org/drawingml/2006/main">
            <a:off x="533400" y="27813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a:solidFill>
                  <a:srgbClr val="52606D"/>
                </a:solidFill>
                <a:latin typeface="Arial"/>
                <a:ea typeface="Arial"/>
                <a:cs typeface="Arial"/>
              </a:defRPr>
            </a:pPr>
            <a:r>
              <a:rPr sz="1350" b="0">
                <a:solidFill>
                  <a:srgbClr val="52606D"/>
                </a:solidFill>
                <a:latin typeface="Arial"/>
                <a:ea typeface="Arial"/>
                <a:cs typeface="Arial"/>
              </a:rPr>
              <a:t>Toutes dotées de critères d’acceptation</a:t>
            </a:r>
          </a:p>
        </p:txBody>
      </p:sp>
      <p:sp>
        <p:nvSpPr>
          <p:cNvPr id="8" name="s8-stat-1">
            <a:extLst xmlns:a="http://schemas.openxmlformats.org/drawingml/2006/main">
              <a:ext uri="{FF2B5EF4-FFF2-40B4-BE49-F238E27FC236}">
                <a16:creationId xmlns:a16="http://schemas.microsoft.com/office/drawing/2014/main" id="{8B53481F-A6E1-479C-9035-7BC642B8A27D}"/>
              </a:ext>
            </a:extLst>
          </p:cNvPr>
          <p:cNvSpPr>
            <a:spLocks xmlns:a="http://schemas.openxmlformats.org/drawingml/2006/main" noGrp="1"/>
          </p:cNvSpPr>
          <p:nvPr/>
        </p:nvSpPr>
        <p:spPr>
          <a:xfrm xmlns:a="http://schemas.openxmlformats.org/drawingml/2006/main">
            <a:off x="4343400" y="171450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3300" b="1">
                <a:solidFill>
                  <a:srgbClr val="3D8DFF"/>
                </a:solidFill>
                <a:latin typeface="Arial"/>
                <a:ea typeface="Arial"/>
                <a:cs typeface="Arial"/>
              </a:defRPr>
            </a:pPr>
            <a:r>
              <a:rPr sz="3300" b="1">
                <a:solidFill>
                  <a:srgbClr val="3D8DFF"/>
                </a:solidFill>
                <a:latin typeface="Arial"/>
                <a:ea typeface="Arial"/>
                <a:cs typeface="Arial"/>
              </a:rPr>
              <a:t>23,5 j</a:t>
            </a:r>
          </a:p>
        </p:txBody>
      </p:sp>
      <p:sp>
        <p:nvSpPr>
          <p:cNvPr id="9" name="s8-stat-title-1">
            <a:extLst xmlns:a="http://schemas.openxmlformats.org/drawingml/2006/main">
              <a:ext uri="{FF2B5EF4-FFF2-40B4-BE49-F238E27FC236}">
                <a16:creationId xmlns:a16="http://schemas.microsoft.com/office/drawing/2014/main" id="{BED43BDE-E3B5-4A51-BEA8-136297B5D01C}"/>
              </a:ext>
            </a:extLst>
          </p:cNvPr>
          <p:cNvSpPr>
            <a:spLocks xmlns:a="http://schemas.openxmlformats.org/drawingml/2006/main" noGrp="1"/>
          </p:cNvSpPr>
          <p:nvPr/>
        </p:nvSpPr>
        <p:spPr>
          <a:xfrm xmlns:a="http://schemas.openxmlformats.org/drawingml/2006/main">
            <a:off x="4343400" y="2362200"/>
            <a:ext cx="3143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a:solidFill>
                  <a:srgbClr val="0D1B2A"/>
                </a:solidFill>
                <a:latin typeface="Arial"/>
                <a:ea typeface="Arial"/>
                <a:cs typeface="Arial"/>
              </a:defRPr>
            </a:pPr>
            <a:r>
              <a:rPr sz="1800" b="1">
                <a:solidFill>
                  <a:srgbClr val="0D1B2A"/>
                </a:solidFill>
                <a:latin typeface="Arial"/>
                <a:ea typeface="Arial"/>
                <a:cs typeface="Arial"/>
              </a:rPr>
              <a:t>Charge de base</a:t>
            </a:r>
          </a:p>
        </p:txBody>
      </p:sp>
      <p:sp>
        <p:nvSpPr>
          <p:cNvPr id="10" name="s8-stat-body-1">
            <a:extLst xmlns:a="http://schemas.openxmlformats.org/drawingml/2006/main">
              <a:ext uri="{FF2B5EF4-FFF2-40B4-BE49-F238E27FC236}">
                <a16:creationId xmlns:a16="http://schemas.microsoft.com/office/drawing/2014/main" id="{2DEA8ECB-2EF4-435B-B062-D91A16ECDA1A}"/>
              </a:ext>
            </a:extLst>
          </p:cNvPr>
          <p:cNvSpPr>
            <a:spLocks xmlns:a="http://schemas.openxmlformats.org/drawingml/2006/main" noGrp="1"/>
          </p:cNvSpPr>
          <p:nvPr/>
        </p:nvSpPr>
        <p:spPr>
          <a:xfrm xmlns:a="http://schemas.openxmlformats.org/drawingml/2006/main">
            <a:off x="4343400" y="27813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a:solidFill>
                  <a:srgbClr val="52606D"/>
                </a:solidFill>
                <a:latin typeface="Arial"/>
                <a:ea typeface="Arial"/>
                <a:cs typeface="Arial"/>
              </a:defRPr>
            </a:pPr>
            <a:r>
              <a:rPr sz="1350" b="0">
                <a:solidFill>
                  <a:srgbClr val="52606D"/>
                </a:solidFill>
                <a:latin typeface="Arial"/>
                <a:ea typeface="Arial"/>
                <a:cs typeface="Arial"/>
              </a:rPr>
              <a:t>Estimation en jours idéaux</a:t>
            </a:r>
          </a:p>
        </p:txBody>
      </p:sp>
      <p:sp>
        <p:nvSpPr>
          <p:cNvPr id="11" name="s8-stat-2">
            <a:extLst xmlns:a="http://schemas.openxmlformats.org/drawingml/2006/main">
              <a:ext uri="{FF2B5EF4-FFF2-40B4-BE49-F238E27FC236}">
                <a16:creationId xmlns:a16="http://schemas.microsoft.com/office/drawing/2014/main" id="{6A8D8F2D-1200-4E99-9F2C-94D92FBC17AD}"/>
              </a:ext>
            </a:extLst>
          </p:cNvPr>
          <p:cNvSpPr>
            <a:spLocks xmlns:a="http://schemas.openxmlformats.org/drawingml/2006/main" noGrp="1"/>
          </p:cNvSpPr>
          <p:nvPr/>
        </p:nvSpPr>
        <p:spPr>
          <a:xfrm xmlns:a="http://schemas.openxmlformats.org/drawingml/2006/main">
            <a:off x="8153400" y="171450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3300" b="1">
                <a:solidFill>
                  <a:srgbClr val="3D8DFF"/>
                </a:solidFill>
                <a:latin typeface="Arial"/>
                <a:ea typeface="Arial"/>
                <a:cs typeface="Arial"/>
              </a:defRPr>
            </a:pPr>
            <a:r>
              <a:rPr sz="3300" b="1">
                <a:solidFill>
                  <a:srgbClr val="3D8DFF"/>
                </a:solidFill>
                <a:latin typeface="Arial"/>
                <a:ea typeface="Arial"/>
                <a:cs typeface="Arial"/>
              </a:rPr>
              <a:t>28 j</a:t>
            </a:r>
          </a:p>
        </p:txBody>
      </p:sp>
      <p:sp>
        <p:nvSpPr>
          <p:cNvPr id="12" name="s8-stat-title-2">
            <a:extLst xmlns:a="http://schemas.openxmlformats.org/drawingml/2006/main">
              <a:ext uri="{FF2B5EF4-FFF2-40B4-BE49-F238E27FC236}">
                <a16:creationId xmlns:a16="http://schemas.microsoft.com/office/drawing/2014/main" id="{A7C84670-04E1-40F8-9C54-C77C0DC1A54A}"/>
              </a:ext>
            </a:extLst>
          </p:cNvPr>
          <p:cNvSpPr>
            <a:spLocks xmlns:a="http://schemas.openxmlformats.org/drawingml/2006/main" noGrp="1"/>
          </p:cNvSpPr>
          <p:nvPr/>
        </p:nvSpPr>
        <p:spPr>
          <a:xfrm xmlns:a="http://schemas.openxmlformats.org/drawingml/2006/main">
            <a:off x="8153400" y="2362200"/>
            <a:ext cx="3143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a:solidFill>
                  <a:srgbClr val="0D1B2A"/>
                </a:solidFill>
                <a:latin typeface="Arial"/>
                <a:ea typeface="Arial"/>
                <a:cs typeface="Arial"/>
              </a:defRPr>
            </a:pPr>
            <a:r>
              <a:rPr sz="1800" b="1">
                <a:solidFill>
                  <a:srgbClr val="0D1B2A"/>
                </a:solidFill>
                <a:latin typeface="Arial"/>
                <a:ea typeface="Arial"/>
                <a:cs typeface="Arial"/>
              </a:rPr>
              <a:t>Avec marge</a:t>
            </a:r>
          </a:p>
        </p:txBody>
      </p:sp>
      <p:sp>
        <p:nvSpPr>
          <p:cNvPr id="13" name="s8-stat-body-2">
            <a:extLst xmlns:a="http://schemas.openxmlformats.org/drawingml/2006/main">
              <a:ext uri="{FF2B5EF4-FFF2-40B4-BE49-F238E27FC236}">
                <a16:creationId xmlns:a16="http://schemas.microsoft.com/office/drawing/2014/main" id="{942F7550-FDF5-4116-8117-E8E3BE7A5E6D}"/>
              </a:ext>
            </a:extLst>
          </p:cNvPr>
          <p:cNvSpPr>
            <a:spLocks xmlns:a="http://schemas.openxmlformats.org/drawingml/2006/main" noGrp="1"/>
          </p:cNvSpPr>
          <p:nvPr/>
        </p:nvSpPr>
        <p:spPr>
          <a:xfrm xmlns:a="http://schemas.openxmlformats.org/drawingml/2006/main">
            <a:off x="8153400" y="27813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a:solidFill>
                  <a:srgbClr val="52606D"/>
                </a:solidFill>
                <a:latin typeface="Arial"/>
                <a:ea typeface="Arial"/>
                <a:cs typeface="Arial"/>
              </a:defRPr>
            </a:pPr>
            <a:r>
              <a:rPr sz="1350" b="0">
                <a:solidFill>
                  <a:srgbClr val="52606D"/>
                </a:solidFill>
                <a:latin typeface="Arial"/>
                <a:ea typeface="Arial"/>
                <a:cs typeface="Arial"/>
              </a:rPr>
              <a:t>Enveloppe incluant 20 % d’aléas</a:t>
            </a:r>
          </a:p>
        </p:txBody>
      </p:sp>
      <p:sp>
        <p:nvSpPr>
          <p:cNvPr id="14" name="rule-56-368">
            <a:extLst xmlns:a="http://schemas.openxmlformats.org/drawingml/2006/main">
              <a:ext uri="{FF2B5EF4-FFF2-40B4-BE49-F238E27FC236}">
                <a16:creationId xmlns:a16="http://schemas.microsoft.com/office/drawing/2014/main" id="{77CBC4A2-787B-4CC0-9DBA-3537333AEC54}"/>
              </a:ext>
            </a:extLst>
          </p:cNvPr>
          <p:cNvSpPr>
            <a:spLocks xmlns:a="http://schemas.openxmlformats.org/drawingml/2006/main" noGrp="1"/>
          </p:cNvSpPr>
          <p:nvPr/>
        </p:nvSpPr>
        <p:spPr>
          <a:xfrm xmlns:a="http://schemas.openxmlformats.org/drawingml/2006/main">
            <a:off x="533400" y="3505200"/>
            <a:ext cx="111252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5" name="plan-0">
            <a:extLst xmlns:a="http://schemas.openxmlformats.org/drawingml/2006/main">
              <a:ext uri="{FF2B5EF4-FFF2-40B4-BE49-F238E27FC236}">
                <a16:creationId xmlns:a16="http://schemas.microsoft.com/office/drawing/2014/main" id="{D9EF4A39-6926-4D3A-8CD6-A8F148FFFC43}"/>
              </a:ext>
            </a:extLst>
          </p:cNvPr>
          <p:cNvSpPr>
            <a:spLocks xmlns:a="http://schemas.openxmlformats.org/drawingml/2006/main" noGrp="1"/>
          </p:cNvSpPr>
          <p:nvPr/>
        </p:nvSpPr>
        <p:spPr>
          <a:xfrm xmlns:a="http://schemas.openxmlformats.org/drawingml/2006/main">
            <a:off x="533400" y="4267200"/>
            <a:ext cx="1809750" cy="704850"/>
          </a:xfrm>
          <a:prstGeom xmlns:a="http://schemas.openxmlformats.org/drawingml/2006/main" prst="roundRect">
            <a:avLst>
              <a:gd name="adj" fmla="val 16216"/>
            </a:avLst>
          </a:prstGeom>
          <a:solidFill xmlns:a="http://schemas.openxmlformats.org/drawingml/2006/main">
            <a:srgbClr val="3D8DFF"/>
          </a:solidFill>
          <a:ln xmlns:a="http://schemas.openxmlformats.org/drawingml/2006/main" w="0">
            <a:noFill/>
            <a:prstDash val="solid"/>
          </a:ln>
        </p:spPr>
      </p:sp>
      <p:sp>
        <p:nvSpPr>
          <p:cNvPr id="16" name="plan-1">
            <a:extLst xmlns:a="http://schemas.openxmlformats.org/drawingml/2006/main">
              <a:ext uri="{FF2B5EF4-FFF2-40B4-BE49-F238E27FC236}">
                <a16:creationId xmlns:a16="http://schemas.microsoft.com/office/drawing/2014/main" id="{5A9C6B61-3C2B-4587-AB36-9D6E91D267EC}"/>
              </a:ext>
            </a:extLst>
          </p:cNvPr>
          <p:cNvSpPr>
            <a:spLocks xmlns:a="http://schemas.openxmlformats.org/drawingml/2006/main" noGrp="1"/>
          </p:cNvSpPr>
          <p:nvPr/>
        </p:nvSpPr>
        <p:spPr>
          <a:xfrm xmlns:a="http://schemas.openxmlformats.org/drawingml/2006/main">
            <a:off x="2781300" y="4267200"/>
            <a:ext cx="1809750" cy="704850"/>
          </a:xfrm>
          <a:prstGeom xmlns:a="http://schemas.openxmlformats.org/drawingml/2006/main" prst="roundRect">
            <a:avLst>
              <a:gd name="adj" fmla="val 16216"/>
            </a:avLst>
          </a:prstGeom>
          <a:solidFill xmlns:a="http://schemas.openxmlformats.org/drawingml/2006/main">
            <a:srgbClr val="3D8DFF"/>
          </a:solidFill>
          <a:ln xmlns:a="http://schemas.openxmlformats.org/drawingml/2006/main" w="0">
            <a:noFill/>
            <a:prstDash val="solid"/>
          </a:ln>
        </p:spPr>
      </p:sp>
      <p:sp>
        <p:nvSpPr>
          <p:cNvPr id="17" name="plan-2">
            <a:extLst xmlns:a="http://schemas.openxmlformats.org/drawingml/2006/main">
              <a:ext uri="{FF2B5EF4-FFF2-40B4-BE49-F238E27FC236}">
                <a16:creationId xmlns:a16="http://schemas.microsoft.com/office/drawing/2014/main" id="{280C4AF5-8384-4F38-AEC7-CC176F7F166D}"/>
              </a:ext>
            </a:extLst>
          </p:cNvPr>
          <p:cNvSpPr>
            <a:spLocks xmlns:a="http://schemas.openxmlformats.org/drawingml/2006/main" noGrp="1"/>
          </p:cNvSpPr>
          <p:nvPr/>
        </p:nvSpPr>
        <p:spPr>
          <a:xfrm xmlns:a="http://schemas.openxmlformats.org/drawingml/2006/main">
            <a:off x="5029200" y="4267200"/>
            <a:ext cx="1809750" cy="704850"/>
          </a:xfrm>
          <a:prstGeom xmlns:a="http://schemas.openxmlformats.org/drawingml/2006/main" prst="roundRect">
            <a:avLst>
              <a:gd name="adj" fmla="val 16216"/>
            </a:avLst>
          </a:prstGeom>
          <a:solidFill xmlns:a="http://schemas.openxmlformats.org/drawingml/2006/main">
            <a:srgbClr val="EAF2F8"/>
          </a:solidFill>
          <a:ln xmlns:a="http://schemas.openxmlformats.org/drawingml/2006/main" w="9525">
            <a:solidFill>
              <a:srgbClr val="1456A0"/>
            </a:solidFill>
            <a:prstDash val="solid"/>
          </a:ln>
        </p:spPr>
      </p:sp>
      <p:sp>
        <p:nvSpPr>
          <p:cNvPr id="18" name="plan-3">
            <a:extLst xmlns:a="http://schemas.openxmlformats.org/drawingml/2006/main">
              <a:ext uri="{FF2B5EF4-FFF2-40B4-BE49-F238E27FC236}">
                <a16:creationId xmlns:a16="http://schemas.microsoft.com/office/drawing/2014/main" id="{C8EEE827-EE19-4247-BF8D-F11FA3F0D7ED}"/>
              </a:ext>
            </a:extLst>
          </p:cNvPr>
          <p:cNvSpPr>
            <a:spLocks xmlns:a="http://schemas.openxmlformats.org/drawingml/2006/main" noGrp="1"/>
          </p:cNvSpPr>
          <p:nvPr/>
        </p:nvSpPr>
        <p:spPr>
          <a:xfrm xmlns:a="http://schemas.openxmlformats.org/drawingml/2006/main">
            <a:off x="7277100" y="4267200"/>
            <a:ext cx="1809750" cy="704850"/>
          </a:xfrm>
          <a:prstGeom xmlns:a="http://schemas.openxmlformats.org/drawingml/2006/main" prst="roundRect">
            <a:avLst>
              <a:gd name="adj" fmla="val 16216"/>
            </a:avLst>
          </a:prstGeom>
          <a:solidFill xmlns:a="http://schemas.openxmlformats.org/drawingml/2006/main">
            <a:srgbClr val="EAF2F8"/>
          </a:solidFill>
          <a:ln xmlns:a="http://schemas.openxmlformats.org/drawingml/2006/main" w="9525">
            <a:solidFill>
              <a:srgbClr val="1456A0"/>
            </a:solidFill>
            <a:prstDash val="solid"/>
          </a:ln>
        </p:spPr>
      </p:sp>
      <p:sp>
        <p:nvSpPr>
          <p:cNvPr id="19" name="plan-4">
            <a:extLst xmlns:a="http://schemas.openxmlformats.org/drawingml/2006/main">
              <a:ext uri="{FF2B5EF4-FFF2-40B4-BE49-F238E27FC236}">
                <a16:creationId xmlns:a16="http://schemas.microsoft.com/office/drawing/2014/main" id="{0F8B483F-3E43-4E5E-B64D-192B05A77484}"/>
              </a:ext>
            </a:extLst>
          </p:cNvPr>
          <p:cNvSpPr>
            <a:spLocks xmlns:a="http://schemas.openxmlformats.org/drawingml/2006/main" noGrp="1"/>
          </p:cNvSpPr>
          <p:nvPr/>
        </p:nvSpPr>
        <p:spPr>
          <a:xfrm xmlns:a="http://schemas.openxmlformats.org/drawingml/2006/main">
            <a:off x="9525000" y="4267200"/>
            <a:ext cx="1809750" cy="704850"/>
          </a:xfrm>
          <a:prstGeom xmlns:a="http://schemas.openxmlformats.org/drawingml/2006/main" prst="roundRect">
            <a:avLst>
              <a:gd name="adj" fmla="val 16216"/>
            </a:avLst>
          </a:prstGeom>
          <a:solidFill xmlns:a="http://schemas.openxmlformats.org/drawingml/2006/main">
            <a:srgbClr val="EAF2F8"/>
          </a:solidFill>
          <a:ln xmlns:a="http://schemas.openxmlformats.org/drawingml/2006/main" w="9525">
            <a:solidFill>
              <a:srgbClr val="1456A0"/>
            </a:solidFill>
            <a:prstDash val="solid"/>
          </a:ln>
        </p:spPr>
      </p:sp>
      <p:cxnSp>
        <p:nvCxnSpPr>
          <p:cNvPr id="51" name=""/>
          <p:cNvCxnSpPr>
            <a:stCxn xmlns:a="http://schemas.openxmlformats.org/drawingml/2006/main" id="16" idx="1"/>
            <a:endCxn xmlns:a="http://schemas.openxmlformats.org/drawingml/2006/main" id="15" idx="3"/>
          </p:cNvCxnSpPr>
          <p:nvPr/>
        </p:nvCxnSpPr>
        <p:spPr>
          <a:xfrm xmlns:a="http://schemas.openxmlformats.org/drawingml/2006/main" flipH="1">
            <a:off x="2343150" y="4619625"/>
            <a:ext cx="438150" cy="0"/>
          </a:xfrm>
          <a:prstGeom xmlns:a="http://schemas.openxmlformats.org/drawingml/2006/main" prst="straightConnector1">
            <a:avLst/>
          </a:prstGeom>
          <a:ln xmlns:a="http://schemas.openxmlformats.org/drawingml/2006/main" w="19050">
            <a:solidFill>
              <a:srgbClr val="1456A0"/>
            </a:solidFill>
            <a:prstDash val="solid"/>
            <a:headEnd type="arrow" w="sm" len="sm"/>
          </a:ln>
        </p:spPr>
      </p:cxnSp>
      <p:cxnSp>
        <p:nvCxnSpPr>
          <p:cNvPr id="52" name=""/>
          <p:cNvCxnSpPr>
            <a:stCxn xmlns:a="http://schemas.openxmlformats.org/drawingml/2006/main" id="17" idx="1"/>
            <a:endCxn xmlns:a="http://schemas.openxmlformats.org/drawingml/2006/main" id="16" idx="3"/>
          </p:cNvCxnSpPr>
          <p:nvPr/>
        </p:nvCxnSpPr>
        <p:spPr>
          <a:xfrm xmlns:a="http://schemas.openxmlformats.org/drawingml/2006/main" flipH="1">
            <a:off x="4591050" y="4619625"/>
            <a:ext cx="438150" cy="0"/>
          </a:xfrm>
          <a:prstGeom xmlns:a="http://schemas.openxmlformats.org/drawingml/2006/main" prst="straightConnector1">
            <a:avLst/>
          </a:prstGeom>
          <a:ln xmlns:a="http://schemas.openxmlformats.org/drawingml/2006/main" w="19050">
            <a:solidFill>
              <a:srgbClr val="1456A0"/>
            </a:solidFill>
            <a:prstDash val="solid"/>
            <a:headEnd type="arrow" w="sm" len="sm"/>
          </a:ln>
        </p:spPr>
      </p:cxnSp>
      <p:cxnSp>
        <p:nvCxnSpPr>
          <p:cNvPr id="53" name=""/>
          <p:cNvCxnSpPr>
            <a:stCxn xmlns:a="http://schemas.openxmlformats.org/drawingml/2006/main" id="18" idx="1"/>
            <a:endCxn xmlns:a="http://schemas.openxmlformats.org/drawingml/2006/main" id="17" idx="3"/>
          </p:cNvCxnSpPr>
          <p:nvPr/>
        </p:nvCxnSpPr>
        <p:spPr>
          <a:xfrm xmlns:a="http://schemas.openxmlformats.org/drawingml/2006/main" flipH="1">
            <a:off x="6838950" y="4619625"/>
            <a:ext cx="438150" cy="0"/>
          </a:xfrm>
          <a:prstGeom xmlns:a="http://schemas.openxmlformats.org/drawingml/2006/main" prst="straightConnector1">
            <a:avLst/>
          </a:prstGeom>
          <a:ln xmlns:a="http://schemas.openxmlformats.org/drawingml/2006/main" w="19050">
            <a:solidFill>
              <a:srgbClr val="1456A0"/>
            </a:solidFill>
            <a:prstDash val="solid"/>
            <a:headEnd type="arrow" w="sm" len="sm"/>
          </a:ln>
        </p:spPr>
      </p:cxnSp>
      <p:cxnSp>
        <p:nvCxnSpPr>
          <p:cNvPr id="54" name=""/>
          <p:cNvCxnSpPr>
            <a:stCxn xmlns:a="http://schemas.openxmlformats.org/drawingml/2006/main" id="19" idx="1"/>
            <a:endCxn xmlns:a="http://schemas.openxmlformats.org/drawingml/2006/main" id="18" idx="3"/>
          </p:cNvCxnSpPr>
          <p:nvPr/>
        </p:nvCxnSpPr>
        <p:spPr>
          <a:xfrm xmlns:a="http://schemas.openxmlformats.org/drawingml/2006/main" flipH="1">
            <a:off x="9086850" y="4619625"/>
            <a:ext cx="438150" cy="0"/>
          </a:xfrm>
          <a:prstGeom xmlns:a="http://schemas.openxmlformats.org/drawingml/2006/main" prst="straightConnector1">
            <a:avLst/>
          </a:prstGeom>
          <a:ln xmlns:a="http://schemas.openxmlformats.org/drawingml/2006/main" w="19050">
            <a:solidFill>
              <a:srgbClr val="1456A0"/>
            </a:solidFill>
            <a:prstDash val="solid"/>
            <a:headEnd type="arrow" w="sm" len="sm"/>
          </a:ln>
        </p:spPr>
      </p:cxnSp>
      <p:sp>
        <p:nvSpPr>
          <p:cNvPr id="24" name="plan-label-0">
            <a:extLst xmlns:a="http://schemas.openxmlformats.org/drawingml/2006/main">
              <a:ext uri="{FF2B5EF4-FFF2-40B4-BE49-F238E27FC236}">
                <a16:creationId xmlns:a16="http://schemas.microsoft.com/office/drawing/2014/main" id="{3FDCDEE8-3D05-4882-84F0-F92DC8FD89B5}"/>
              </a:ext>
            </a:extLst>
          </p:cNvPr>
          <p:cNvSpPr>
            <a:spLocks xmlns:a="http://schemas.openxmlformats.org/drawingml/2006/main" noGrp="1"/>
          </p:cNvSpPr>
          <p:nvPr/>
        </p:nvSpPr>
        <p:spPr>
          <a:xfrm xmlns:a="http://schemas.openxmlformats.org/drawingml/2006/main">
            <a:off x="533400" y="4267200"/>
            <a:ext cx="1809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FFFFFF"/>
                </a:solidFill>
                <a:latin typeface="Arial"/>
                <a:ea typeface="Arial"/>
                <a:cs typeface="Arial"/>
              </a:defRPr>
            </a:pPr>
            <a:r>
              <a:rPr sz="1350" b="1">
                <a:solidFill>
                  <a:srgbClr val="FFFFFF"/>
                </a:solidFill>
                <a:latin typeface="Arial"/>
                <a:ea typeface="Arial"/>
                <a:cs typeface="Arial"/>
              </a:rPr>
              <a:t>Comptes</a:t>
            </a:r>
          </a:p>
        </p:txBody>
      </p:sp>
      <p:sp>
        <p:nvSpPr>
          <p:cNvPr id="25" name="plan-label-1">
            <a:extLst xmlns:a="http://schemas.openxmlformats.org/drawingml/2006/main">
              <a:ext uri="{FF2B5EF4-FFF2-40B4-BE49-F238E27FC236}">
                <a16:creationId xmlns:a16="http://schemas.microsoft.com/office/drawing/2014/main" id="{66CB7D94-7FA5-4BFD-89D5-8FA12721C1E8}"/>
              </a:ext>
            </a:extLst>
          </p:cNvPr>
          <p:cNvSpPr>
            <a:spLocks xmlns:a="http://schemas.openxmlformats.org/drawingml/2006/main" noGrp="1"/>
          </p:cNvSpPr>
          <p:nvPr/>
        </p:nvSpPr>
        <p:spPr>
          <a:xfrm xmlns:a="http://schemas.openxmlformats.org/drawingml/2006/main">
            <a:off x="2781300" y="4267200"/>
            <a:ext cx="1809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FFFFFF"/>
                </a:solidFill>
                <a:latin typeface="Arial"/>
                <a:ea typeface="Arial"/>
                <a:cs typeface="Arial"/>
              </a:defRPr>
            </a:pPr>
            <a:r>
              <a:rPr sz="1350" b="1">
                <a:solidFill>
                  <a:srgbClr val="FFFFFF"/>
                </a:solidFill>
                <a:latin typeface="Arial"/>
                <a:ea typeface="Arial"/>
                <a:cs typeface="Arial"/>
              </a:rPr>
              <a:t>Affectation</a:t>
            </a:r>
          </a:p>
        </p:txBody>
      </p:sp>
      <p:sp>
        <p:nvSpPr>
          <p:cNvPr id="26" name="plan-label-2">
            <a:extLst xmlns:a="http://schemas.openxmlformats.org/drawingml/2006/main">
              <a:ext uri="{FF2B5EF4-FFF2-40B4-BE49-F238E27FC236}">
                <a16:creationId xmlns:a16="http://schemas.microsoft.com/office/drawing/2014/main" id="{3CD19700-E1CD-49ED-9AC6-CEF45E77BCDD}"/>
              </a:ext>
            </a:extLst>
          </p:cNvPr>
          <p:cNvSpPr>
            <a:spLocks xmlns:a="http://schemas.openxmlformats.org/drawingml/2006/main" noGrp="1"/>
          </p:cNvSpPr>
          <p:nvPr/>
        </p:nvSpPr>
        <p:spPr>
          <a:xfrm xmlns:a="http://schemas.openxmlformats.org/drawingml/2006/main">
            <a:off x="5029200" y="4267200"/>
            <a:ext cx="1809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0D1B2A"/>
                </a:solidFill>
                <a:latin typeface="Arial"/>
                <a:ea typeface="Arial"/>
                <a:cs typeface="Arial"/>
              </a:defRPr>
            </a:pPr>
            <a:r>
              <a:rPr sz="1350" b="1">
                <a:solidFill>
                  <a:srgbClr val="0D1B2A"/>
                </a:solidFill>
                <a:latin typeface="Arial"/>
                <a:ea typeface="Arial"/>
                <a:cs typeface="Arial"/>
              </a:rPr>
              <a:t>Socle d’accès</a:t>
            </a:r>
          </a:p>
        </p:txBody>
      </p:sp>
      <p:sp>
        <p:nvSpPr>
          <p:cNvPr id="27" name="plan-label-3">
            <a:extLst xmlns:a="http://schemas.openxmlformats.org/drawingml/2006/main">
              <a:ext uri="{FF2B5EF4-FFF2-40B4-BE49-F238E27FC236}">
                <a16:creationId xmlns:a16="http://schemas.microsoft.com/office/drawing/2014/main" id="{E1E0BB54-139B-4EEE-AA03-BF7A9E166C04}"/>
              </a:ext>
            </a:extLst>
          </p:cNvPr>
          <p:cNvSpPr>
            <a:spLocks xmlns:a="http://schemas.openxmlformats.org/drawingml/2006/main" noGrp="1"/>
          </p:cNvSpPr>
          <p:nvPr/>
        </p:nvSpPr>
        <p:spPr>
          <a:xfrm xmlns:a="http://schemas.openxmlformats.org/drawingml/2006/main">
            <a:off x="7277100" y="4267200"/>
            <a:ext cx="1809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0D1B2A"/>
                </a:solidFill>
                <a:latin typeface="Arial"/>
                <a:ea typeface="Arial"/>
                <a:cs typeface="Arial"/>
              </a:defRPr>
            </a:pPr>
            <a:r>
              <a:rPr sz="1350" b="1">
                <a:solidFill>
                  <a:srgbClr val="0D1B2A"/>
                </a:solidFill>
                <a:latin typeface="Arial"/>
                <a:ea typeface="Arial"/>
                <a:cs typeface="Arial"/>
              </a:rPr>
              <a:t>3 flux en parallèle</a:t>
            </a:r>
          </a:p>
        </p:txBody>
      </p:sp>
      <p:sp>
        <p:nvSpPr>
          <p:cNvPr id="28" name="plan-label-4">
            <a:extLst xmlns:a="http://schemas.openxmlformats.org/drawingml/2006/main">
              <a:ext uri="{FF2B5EF4-FFF2-40B4-BE49-F238E27FC236}">
                <a16:creationId xmlns:a16="http://schemas.microsoft.com/office/drawing/2014/main" id="{E2855EA5-9C41-4A25-9795-027B6F8AAF57}"/>
              </a:ext>
            </a:extLst>
          </p:cNvPr>
          <p:cNvSpPr>
            <a:spLocks xmlns:a="http://schemas.openxmlformats.org/drawingml/2006/main" noGrp="1"/>
          </p:cNvSpPr>
          <p:nvPr/>
        </p:nvSpPr>
        <p:spPr>
          <a:xfrm xmlns:a="http://schemas.openxmlformats.org/drawingml/2006/main">
            <a:off x="9525000" y="4267200"/>
            <a:ext cx="1809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0D1B2A"/>
                </a:solidFill>
                <a:latin typeface="Arial"/>
                <a:ea typeface="Arial"/>
                <a:cs typeface="Arial"/>
              </a:defRPr>
            </a:pPr>
            <a:r>
              <a:rPr sz="1350" b="1">
                <a:solidFill>
                  <a:srgbClr val="0D1B2A"/>
                </a:solidFill>
                <a:latin typeface="Arial"/>
                <a:ea typeface="Arial"/>
                <a:cs typeface="Arial"/>
              </a:rPr>
              <a:t>P1 + consolidation</a:t>
            </a:r>
          </a:p>
        </p:txBody>
      </p:sp>
      <p:sp>
        <p:nvSpPr>
          <p:cNvPr id="29" name="s8-parallel">
            <a:extLst xmlns:a="http://schemas.openxmlformats.org/drawingml/2006/main">
              <a:ext uri="{FF2B5EF4-FFF2-40B4-BE49-F238E27FC236}">
                <a16:creationId xmlns:a16="http://schemas.microsoft.com/office/drawing/2014/main" id="{553393AB-B6D1-44B7-81EC-FD96539D771E}"/>
              </a:ext>
            </a:extLst>
          </p:cNvPr>
          <p:cNvSpPr>
            <a:spLocks xmlns:a="http://schemas.openxmlformats.org/drawingml/2006/main" noGrp="1"/>
          </p:cNvSpPr>
          <p:nvPr/>
        </p:nvSpPr>
        <p:spPr>
          <a:xfrm xmlns:a="http://schemas.openxmlformats.org/drawingml/2006/main">
            <a:off x="6686550" y="5191125"/>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200" b="1">
                <a:solidFill>
                  <a:srgbClr val="1456A0"/>
                </a:solidFill>
                <a:latin typeface="Arial"/>
                <a:ea typeface="Arial"/>
                <a:cs typeface="Arial"/>
              </a:defRPr>
            </a:pPr>
            <a:r>
              <a:rPr sz="1200" b="1">
                <a:solidFill>
                  <a:srgbClr val="1456A0"/>
                </a:solidFill>
                <a:latin typeface="Arial"/>
                <a:ea typeface="Arial"/>
                <a:cs typeface="Arial"/>
              </a:rPr>
              <a:t>Messagerie · rendez-vous · tâches</a:t>
            </a:r>
          </a:p>
        </p:txBody>
      </p:sp>
      <p:sp>
        <p:nvSpPr>
          <p:cNvPr id="30" name="s8-team">
            <a:extLst xmlns:a="http://schemas.openxmlformats.org/drawingml/2006/main">
              <a:ext uri="{FF2B5EF4-FFF2-40B4-BE49-F238E27FC236}">
                <a16:creationId xmlns:a16="http://schemas.microsoft.com/office/drawing/2014/main" id="{88274FDA-B5A8-47EB-92D2-3554769D8CC9}"/>
              </a:ext>
            </a:extLst>
          </p:cNvPr>
          <p:cNvSpPr>
            <a:spLocks xmlns:a="http://schemas.openxmlformats.org/drawingml/2006/main" noGrp="1"/>
          </p:cNvSpPr>
          <p:nvPr/>
        </p:nvSpPr>
        <p:spPr>
          <a:xfrm xmlns:a="http://schemas.openxmlformats.org/drawingml/2006/main">
            <a:off x="533400" y="5762625"/>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a:solidFill>
                  <a:srgbClr val="0D1B2A"/>
                </a:solidFill>
                <a:latin typeface="Arial"/>
                <a:ea typeface="Arial"/>
                <a:cs typeface="Arial"/>
              </a:defRPr>
            </a:pPr>
            <a:r>
              <a:rPr sz="1500" b="1">
                <a:solidFill>
                  <a:srgbClr val="0D1B2A"/>
                </a:solidFill>
                <a:latin typeface="Arial"/>
                <a:ea typeface="Arial"/>
                <a:cs typeface="Arial"/>
              </a:rPr>
              <a:t>Équipe prévue : 2 développeurs back-end + 2 développeurs front-end</a:t>
            </a:r>
          </a:p>
        </p:txBody>
      </p:sp>
      <p:sp>
        <p:nvSpPr>
          <p:cNvPr id="31" name="source-m3vnz9">
            <a:extLst xmlns:a="http://schemas.openxmlformats.org/drawingml/2006/main">
              <a:ext uri="{FF2B5EF4-FFF2-40B4-BE49-F238E27FC236}">
                <a16:creationId xmlns:a16="http://schemas.microsoft.com/office/drawing/2014/main" id="{4349C523-7188-44DE-A485-525AF1E69D61}"/>
              </a:ext>
            </a:extLst>
          </p:cNvPr>
          <p:cNvSpPr>
            <a:spLocks xmlns:a="http://schemas.openxmlformats.org/drawingml/2006/main" noGrp="1"/>
          </p:cNvSpPr>
          <p:nvPr/>
        </p:nvSpPr>
        <p:spPr>
          <a:xfrm xmlns:a="http://schemas.openxmlformats.org/drawingml/2006/main">
            <a:off x="533400" y="6429375"/>
            <a:ext cx="914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825" b="0">
                <a:solidFill>
                  <a:srgbClr val="52606D"/>
                </a:solidFill>
                <a:latin typeface="Arial"/>
                <a:ea typeface="Arial"/>
                <a:cs typeface="Arial"/>
              </a:defRPr>
            </a:pPr>
            <a:r>
              <a:rPr sz="825" b="0">
                <a:solidFill>
                  <a:srgbClr val="52606D"/>
                </a:solidFill>
                <a:latin typeface="Arial"/>
                <a:ea typeface="Arial"/>
                <a:cs typeface="Arial"/>
              </a:rPr>
              <a:t>Source : Backlog Produit HomeSkolar · 17 User Stories · estimations et dépendances validées</a:t>
            </a:r>
          </a:p>
        </p:txBody>
      </p:sp>
    </p:spTree>
    <p:extLst>
      <p:ext uri="{BB962C8B-B14F-4D97-AF65-F5344CB8AC3E}">
        <p14:creationId xmlns:p14="http://schemas.microsoft.com/office/powerpoint/2010/main" val="423199171"/>
      </p:ext>
    </p:extLst>
  </p:cSld>
</p:sld>
</file>

<file path=ppt/slides/slide9.xml><?xml version="1.0" encoding="utf-8"?>
<p:sld xmlns:p="http://schemas.openxmlformats.org/presentationml/2006/main">
  <p:cSld>
    <p:bg>
      <p:bgPr>
        <a:solidFill xmlns:a="http://schemas.openxmlformats.org/drawingml/2006/main">
          <a:srgbClr val="0D1B2A"/>
        </a:solidFill>
      </p:bgPr>
    </p:bg>
    <p:spTree>
      <p:nvGrpSpPr>
        <p:cNvPr id="1" name=""/>
        <p:cNvGrpSpPr/>
        <p:nvPr/>
      </p:nvGrpSpPr>
      <p:grpSpPr>
        <a:xfrm xmlns:a="http://schemas.openxmlformats.org/drawingml/2006/main"/>
      </p:grpSpPr>
      <p:sp>
        <p:nvSpPr>
          <p:cNvPr id="1" name="s9-kicker">
            <a:extLst xmlns:a="http://schemas.openxmlformats.org/drawingml/2006/main">
              <a:ext uri="{FF2B5EF4-FFF2-40B4-BE49-F238E27FC236}">
                <a16:creationId xmlns:a16="http://schemas.microsoft.com/office/drawing/2014/main" id="{6D233806-A89B-458E-BA2E-C6049A9939BB}"/>
              </a:ext>
            </a:extLst>
          </p:cNvPr>
          <p:cNvSpPr>
            <a:spLocks xmlns:a="http://schemas.openxmlformats.org/drawingml/2006/main" noGrp="1"/>
          </p:cNvSpPr>
          <p:nvPr/>
        </p:nvSpPr>
        <p:spPr>
          <a:xfrm xmlns:a="http://schemas.openxmlformats.org/drawingml/2006/main">
            <a:off x="533400" y="45720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a:solidFill>
                  <a:srgbClr val="D0EDFA"/>
                </a:solidFill>
                <a:latin typeface="Arial"/>
                <a:ea typeface="Arial"/>
                <a:cs typeface="Arial"/>
              </a:defRPr>
            </a:pPr>
            <a:r>
              <a:rPr sz="1200" b="1">
                <a:solidFill>
                  <a:srgbClr val="D0EDFA"/>
                </a:solidFill>
                <a:latin typeface="Arial"/>
                <a:ea typeface="Arial"/>
                <a:cs typeface="Arial"/>
              </a:rPr>
              <a:t>DÉCISION PROPOSÉE</a:t>
            </a:r>
          </a:p>
        </p:txBody>
      </p:sp>
      <p:sp>
        <p:nvSpPr>
          <p:cNvPr id="2" name="s9-title">
            <a:extLst xmlns:a="http://schemas.openxmlformats.org/drawingml/2006/main">
              <a:ext uri="{FF2B5EF4-FFF2-40B4-BE49-F238E27FC236}">
                <a16:creationId xmlns:a16="http://schemas.microsoft.com/office/drawing/2014/main" id="{C3A16BBF-8C99-418E-90A0-4BA343CA1DA0}"/>
              </a:ext>
            </a:extLst>
          </p:cNvPr>
          <p:cNvSpPr>
            <a:spLocks xmlns:a="http://schemas.openxmlformats.org/drawingml/2006/main" noGrp="1"/>
          </p:cNvSpPr>
          <p:nvPr/>
        </p:nvSpPr>
        <p:spPr>
          <a:xfrm xmlns:a="http://schemas.openxmlformats.org/drawingml/2006/main">
            <a:off x="533400" y="1295400"/>
            <a:ext cx="99060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462"/>
          </a:bodyPr>
          <a:lstStyle xmlns:a="http://schemas.openxmlformats.org/drawingml/2006/main"/>
          <a:p xmlns:a="http://schemas.openxmlformats.org/drawingml/2006/main">
            <a:pPr algn="l">
              <a:defRPr sz="4650" b="1">
                <a:solidFill>
                  <a:srgbClr val="FFFFFF"/>
                </a:solidFill>
                <a:latin typeface="Arial"/>
                <a:ea typeface="Arial"/>
                <a:cs typeface="Arial"/>
              </a:defRPr>
            </a:pPr>
            <a:r>
              <a:rPr sz="4650" b="1">
                <a:solidFill>
                  <a:srgbClr val="FFFFFF"/>
                </a:solidFill>
                <a:latin typeface="Arial"/>
                <a:ea typeface="Arial"/>
                <a:cs typeface="Arial"/>
              </a:rPr>
              <a:t>Valider le cadrage et lancer le développement</a:t>
            </a:r>
          </a:p>
        </p:txBody>
      </p:sp>
      <p:sp>
        <p:nvSpPr>
          <p:cNvPr id="3" name="rule-56-334">
            <a:extLst xmlns:a="http://schemas.openxmlformats.org/drawingml/2006/main">
              <a:ext uri="{FF2B5EF4-FFF2-40B4-BE49-F238E27FC236}">
                <a16:creationId xmlns:a16="http://schemas.microsoft.com/office/drawing/2014/main" id="{A162DE37-DEFF-4B63-8DB6-36E03B90D3CE}"/>
              </a:ext>
            </a:extLst>
          </p:cNvPr>
          <p:cNvSpPr>
            <a:spLocks xmlns:a="http://schemas.openxmlformats.org/drawingml/2006/main" noGrp="1"/>
          </p:cNvSpPr>
          <p:nvPr/>
        </p:nvSpPr>
        <p:spPr>
          <a:xfrm xmlns:a="http://schemas.openxmlformats.org/drawingml/2006/main">
            <a:off x="533400" y="3181350"/>
            <a:ext cx="10668000" cy="0"/>
          </a:xfrm>
          <a:prstGeom xmlns:a="http://schemas.openxmlformats.org/drawingml/2006/main" prst="line">
            <a:avLst/>
          </a:prstGeom>
          <a:noFill xmlns:a="http://schemas.openxmlformats.org/drawingml/2006/main"/>
          <a:ln xmlns:a="http://schemas.openxmlformats.org/drawingml/2006/main" w="38100">
            <a:solidFill>
              <a:srgbClr val="3D8DFF"/>
            </a:solidFill>
            <a:prstDash val="solid"/>
          </a:ln>
        </p:spPr>
      </p:sp>
      <p:sp>
        <p:nvSpPr>
          <p:cNvPr id="4" name="s9-check-0">
            <a:extLst xmlns:a="http://schemas.openxmlformats.org/drawingml/2006/main">
              <a:ext uri="{FF2B5EF4-FFF2-40B4-BE49-F238E27FC236}">
                <a16:creationId xmlns:a16="http://schemas.microsoft.com/office/drawing/2014/main" id="{7E6A4AF0-DA04-4852-95E9-BF79ADAD2D3A}"/>
              </a:ext>
            </a:extLst>
          </p:cNvPr>
          <p:cNvSpPr>
            <a:spLocks xmlns:a="http://schemas.openxmlformats.org/drawingml/2006/main" noGrp="1"/>
          </p:cNvSpPr>
          <p:nvPr/>
        </p:nvSpPr>
        <p:spPr>
          <a:xfrm xmlns:a="http://schemas.openxmlformats.org/drawingml/2006/main">
            <a:off x="590550" y="3733800"/>
            <a:ext cx="304800" cy="30480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5" name="s9-checkmark-0">
            <a:extLst xmlns:a="http://schemas.openxmlformats.org/drawingml/2006/main">
              <a:ext uri="{FF2B5EF4-FFF2-40B4-BE49-F238E27FC236}">
                <a16:creationId xmlns:a16="http://schemas.microsoft.com/office/drawing/2014/main" id="{A3615BCB-959E-4032-97A7-8AA85E3148ED}"/>
              </a:ext>
            </a:extLst>
          </p:cNvPr>
          <p:cNvSpPr>
            <a:spLocks xmlns:a="http://schemas.openxmlformats.org/drawingml/2006/main" noGrp="1"/>
          </p:cNvSpPr>
          <p:nvPr/>
        </p:nvSpPr>
        <p:spPr>
          <a:xfrm xmlns:a="http://schemas.openxmlformats.org/drawingml/2006/main">
            <a:off x="590550" y="3733800"/>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a:t>
            </a:r>
          </a:p>
        </p:txBody>
      </p:sp>
      <p:sp>
        <p:nvSpPr>
          <p:cNvPr id="6" name="s9-text-0">
            <a:extLst xmlns:a="http://schemas.openxmlformats.org/drawingml/2006/main">
              <a:ext uri="{FF2B5EF4-FFF2-40B4-BE49-F238E27FC236}">
                <a16:creationId xmlns:a16="http://schemas.microsoft.com/office/drawing/2014/main" id="{04F06274-8738-499C-91D3-096E03D2EE8D}"/>
              </a:ext>
            </a:extLst>
          </p:cNvPr>
          <p:cNvSpPr>
            <a:spLocks xmlns:a="http://schemas.openxmlformats.org/drawingml/2006/main" noGrp="1"/>
          </p:cNvSpPr>
          <p:nvPr/>
        </p:nvSpPr>
        <p:spPr>
          <a:xfrm xmlns:a="http://schemas.openxmlformats.org/drawingml/2006/main">
            <a:off x="1123950" y="3714750"/>
            <a:ext cx="933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725" b="0">
                <a:solidFill>
                  <a:srgbClr val="FFFFFF"/>
                </a:solidFill>
                <a:latin typeface="Arial"/>
                <a:ea typeface="Arial"/>
                <a:cs typeface="Arial"/>
              </a:defRPr>
            </a:pPr>
            <a:r>
              <a:rPr sz="1725" b="0">
                <a:solidFill>
                  <a:srgbClr val="FFFFFF"/>
                </a:solidFill>
                <a:latin typeface="Arial"/>
                <a:ea typeface="Arial"/>
                <a:cs typeface="Arial"/>
              </a:rPr>
              <a:t>Le périmètre fonctionnel répond aux besoins exprimés par HomeSkolar.</a:t>
            </a:r>
          </a:p>
        </p:txBody>
      </p:sp>
      <p:sp>
        <p:nvSpPr>
          <p:cNvPr id="7" name="s9-check-1">
            <a:extLst xmlns:a="http://schemas.openxmlformats.org/drawingml/2006/main">
              <a:ext uri="{FF2B5EF4-FFF2-40B4-BE49-F238E27FC236}">
                <a16:creationId xmlns:a16="http://schemas.microsoft.com/office/drawing/2014/main" id="{48DD7EAD-1912-49A4-8135-D3ADA1123E1C}"/>
              </a:ext>
            </a:extLst>
          </p:cNvPr>
          <p:cNvSpPr>
            <a:spLocks xmlns:a="http://schemas.openxmlformats.org/drawingml/2006/main" noGrp="1"/>
          </p:cNvSpPr>
          <p:nvPr/>
        </p:nvSpPr>
        <p:spPr>
          <a:xfrm xmlns:a="http://schemas.openxmlformats.org/drawingml/2006/main">
            <a:off x="590550" y="4419600"/>
            <a:ext cx="304800" cy="30480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8" name="s9-checkmark-1">
            <a:extLst xmlns:a="http://schemas.openxmlformats.org/drawingml/2006/main">
              <a:ext uri="{FF2B5EF4-FFF2-40B4-BE49-F238E27FC236}">
                <a16:creationId xmlns:a16="http://schemas.microsoft.com/office/drawing/2014/main" id="{5AF72583-8AE6-4505-9715-4E68751A0BFC}"/>
              </a:ext>
            </a:extLst>
          </p:cNvPr>
          <p:cNvSpPr>
            <a:spLocks xmlns:a="http://schemas.openxmlformats.org/drawingml/2006/main" noGrp="1"/>
          </p:cNvSpPr>
          <p:nvPr/>
        </p:nvSpPr>
        <p:spPr>
          <a:xfrm xmlns:a="http://schemas.openxmlformats.org/drawingml/2006/main">
            <a:off x="590550" y="4419600"/>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a:t>
            </a:r>
          </a:p>
        </p:txBody>
      </p:sp>
      <p:sp>
        <p:nvSpPr>
          <p:cNvPr id="9" name="s9-text-1">
            <a:extLst xmlns:a="http://schemas.openxmlformats.org/drawingml/2006/main">
              <a:ext uri="{FF2B5EF4-FFF2-40B4-BE49-F238E27FC236}">
                <a16:creationId xmlns:a16="http://schemas.microsoft.com/office/drawing/2014/main" id="{654BA492-4A2D-4CC4-A419-633DE324F021}"/>
              </a:ext>
            </a:extLst>
          </p:cNvPr>
          <p:cNvSpPr>
            <a:spLocks xmlns:a="http://schemas.openxmlformats.org/drawingml/2006/main" noGrp="1"/>
          </p:cNvSpPr>
          <p:nvPr/>
        </p:nvSpPr>
        <p:spPr>
          <a:xfrm xmlns:a="http://schemas.openxmlformats.org/drawingml/2006/main">
            <a:off x="1123950" y="4400550"/>
            <a:ext cx="933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725" b="0">
                <a:solidFill>
                  <a:srgbClr val="FFFFFF"/>
                </a:solidFill>
                <a:latin typeface="Arial"/>
                <a:ea typeface="Arial"/>
                <a:cs typeface="Arial"/>
              </a:defRPr>
            </a:pPr>
            <a:r>
              <a:rPr sz="1725" b="0">
                <a:solidFill>
                  <a:srgbClr val="FFFFFF"/>
                </a:solidFill>
                <a:latin typeface="Arial"/>
                <a:ea typeface="Arial"/>
                <a:cs typeface="Arial"/>
              </a:rPr>
              <a:t>L’architecture Django est adaptée, sécurisée et proportionnée.</a:t>
            </a:r>
          </a:p>
        </p:txBody>
      </p:sp>
      <p:sp>
        <p:nvSpPr>
          <p:cNvPr id="10" name="s9-check-2">
            <a:extLst xmlns:a="http://schemas.openxmlformats.org/drawingml/2006/main">
              <a:ext uri="{FF2B5EF4-FFF2-40B4-BE49-F238E27FC236}">
                <a16:creationId xmlns:a16="http://schemas.microsoft.com/office/drawing/2014/main" id="{365A1491-E5A0-4421-9DD9-0526AE1BC080}"/>
              </a:ext>
            </a:extLst>
          </p:cNvPr>
          <p:cNvSpPr>
            <a:spLocks xmlns:a="http://schemas.openxmlformats.org/drawingml/2006/main" noGrp="1"/>
          </p:cNvSpPr>
          <p:nvPr/>
        </p:nvSpPr>
        <p:spPr>
          <a:xfrm xmlns:a="http://schemas.openxmlformats.org/drawingml/2006/main">
            <a:off x="590550" y="5105400"/>
            <a:ext cx="304800" cy="30480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11" name="s9-checkmark-2">
            <a:extLst xmlns:a="http://schemas.openxmlformats.org/drawingml/2006/main">
              <a:ext uri="{FF2B5EF4-FFF2-40B4-BE49-F238E27FC236}">
                <a16:creationId xmlns:a16="http://schemas.microsoft.com/office/drawing/2014/main" id="{943CD846-3562-4EA3-8BFD-8922E385409B}"/>
              </a:ext>
            </a:extLst>
          </p:cNvPr>
          <p:cNvSpPr>
            <a:spLocks xmlns:a="http://schemas.openxmlformats.org/drawingml/2006/main" noGrp="1"/>
          </p:cNvSpPr>
          <p:nvPr/>
        </p:nvSpPr>
        <p:spPr>
          <a:xfrm xmlns:a="http://schemas.openxmlformats.org/drawingml/2006/main">
            <a:off x="590550" y="5105400"/>
            <a:ext cx="30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a:t>
            </a:r>
          </a:p>
        </p:txBody>
      </p:sp>
      <p:sp>
        <p:nvSpPr>
          <p:cNvPr id="12" name="s9-text-2">
            <a:extLst xmlns:a="http://schemas.openxmlformats.org/drawingml/2006/main">
              <a:ext uri="{FF2B5EF4-FFF2-40B4-BE49-F238E27FC236}">
                <a16:creationId xmlns:a16="http://schemas.microsoft.com/office/drawing/2014/main" id="{2CD49DFF-D10C-4AD1-91C2-D84D1141E586}"/>
              </a:ext>
            </a:extLst>
          </p:cNvPr>
          <p:cNvSpPr>
            <a:spLocks xmlns:a="http://schemas.openxmlformats.org/drawingml/2006/main" noGrp="1"/>
          </p:cNvSpPr>
          <p:nvPr/>
        </p:nvSpPr>
        <p:spPr>
          <a:xfrm xmlns:a="http://schemas.openxmlformats.org/drawingml/2006/main">
            <a:off x="1123950" y="5086350"/>
            <a:ext cx="933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725" b="0">
                <a:solidFill>
                  <a:srgbClr val="FFFFFF"/>
                </a:solidFill>
                <a:latin typeface="Arial"/>
                <a:ea typeface="Arial"/>
                <a:cs typeface="Arial"/>
              </a:defRPr>
            </a:pPr>
            <a:r>
              <a:rPr sz="1725" b="0">
                <a:solidFill>
                  <a:srgbClr val="FFFFFF"/>
                </a:solidFill>
                <a:latin typeface="Arial"/>
                <a:ea typeface="Arial"/>
                <a:cs typeface="Arial"/>
              </a:rPr>
              <a:t>Le Backlog Produit est priorisé, estimé et ordonné pour l’équipe.</a:t>
            </a:r>
          </a:p>
        </p:txBody>
      </p:sp>
      <p:sp>
        <p:nvSpPr>
          <p:cNvPr id="13" name="s9-question">
            <a:extLst xmlns:a="http://schemas.openxmlformats.org/drawingml/2006/main">
              <a:ext uri="{FF2B5EF4-FFF2-40B4-BE49-F238E27FC236}">
                <a16:creationId xmlns:a16="http://schemas.microsoft.com/office/drawing/2014/main" id="{6A27B46F-226C-489A-8909-2ABA9F6E4BC5}"/>
              </a:ext>
            </a:extLst>
          </p:cNvPr>
          <p:cNvSpPr>
            <a:spLocks xmlns:a="http://schemas.openxmlformats.org/drawingml/2006/main" noGrp="1"/>
          </p:cNvSpPr>
          <p:nvPr/>
        </p:nvSpPr>
        <p:spPr>
          <a:xfrm xmlns:a="http://schemas.openxmlformats.org/drawingml/2006/main">
            <a:off x="533400" y="6038850"/>
            <a:ext cx="1066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a:solidFill>
                  <a:srgbClr val="D0EDFA"/>
                </a:solidFill>
                <a:latin typeface="Arial"/>
                <a:ea typeface="Arial"/>
                <a:cs typeface="Arial"/>
              </a:defRPr>
            </a:pPr>
            <a:r>
              <a:rPr sz="1650" b="1">
                <a:solidFill>
                  <a:srgbClr val="D0EDFA"/>
                </a:solidFill>
                <a:latin typeface="Arial"/>
                <a:ea typeface="Arial"/>
                <a:cs typeface="Arial"/>
              </a:rPr>
              <a:t>Thomas, confirmes-tu ce périmètre et cette orientation avant le démarrage ?</a:t>
            </a:r>
          </a:p>
        </p:txBody>
      </p:sp>
      <p:sp>
        <p:nvSpPr>
          <p:cNvPr id="14" name="s9-num">
            <a:extLst xmlns:a="http://schemas.openxmlformats.org/drawingml/2006/main">
              <a:ext uri="{FF2B5EF4-FFF2-40B4-BE49-F238E27FC236}">
                <a16:creationId xmlns:a16="http://schemas.microsoft.com/office/drawing/2014/main" id="{4AF89079-AFBA-450A-BAA7-ADCE57AEC2F6}"/>
              </a:ext>
            </a:extLst>
          </p:cNvPr>
          <p:cNvSpPr>
            <a:spLocks xmlns:a="http://schemas.openxmlformats.org/drawingml/2006/main" noGrp="1"/>
          </p:cNvSpPr>
          <p:nvPr/>
        </p:nvSpPr>
        <p:spPr>
          <a:xfrm xmlns:a="http://schemas.openxmlformats.org/drawingml/2006/main">
            <a:off x="11220450" y="64389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a:solidFill>
                  <a:srgbClr val="D0EDFA"/>
                </a:solidFill>
                <a:latin typeface="Arial"/>
                <a:ea typeface="Arial"/>
                <a:cs typeface="Arial"/>
              </a:defRPr>
            </a:pPr>
            <a:r>
              <a:rPr sz="900" b="0">
                <a:solidFill>
                  <a:srgbClr val="D0EDFA"/>
                </a:solidFill>
                <a:latin typeface="Arial"/>
                <a:ea typeface="Arial"/>
                <a:cs typeface="Arial"/>
              </a:rPr>
              <a:t>09</a:t>
            </a:r>
          </a:p>
        </p:txBody>
      </p:sp>
    </p:spTree>
    <p:extLst>
      <p:ext uri="{BB962C8B-B14F-4D97-AF65-F5344CB8AC3E}">
        <p14:creationId xmlns:p14="http://schemas.microsoft.com/office/powerpoint/2010/main" val="10512052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2026-07-19T22:08:04.7810000Z</dcterms:created>
  <dcterms:modified xsi:type="dcterms:W3CDTF">2026-07-19T22:08:04.7810000Z</dcterms:modified>
</coreProperties>
</file>